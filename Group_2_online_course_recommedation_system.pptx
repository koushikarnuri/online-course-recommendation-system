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3.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28"/>
  </p:notesMasterIdLst>
  <p:sldIdLst>
    <p:sldId id="256" r:id="rId3"/>
    <p:sldId id="273" r:id="rId4"/>
    <p:sldId id="257" r:id="rId5"/>
    <p:sldId id="258" r:id="rId6"/>
    <p:sldId id="259" r:id="rId7"/>
    <p:sldId id="260" r:id="rId8"/>
    <p:sldId id="261" r:id="rId9"/>
    <p:sldId id="262" r:id="rId10"/>
    <p:sldId id="284" r:id="rId11"/>
    <p:sldId id="285" r:id="rId12"/>
    <p:sldId id="276" r:id="rId13"/>
    <p:sldId id="277" r:id="rId14"/>
    <p:sldId id="278" r:id="rId15"/>
    <p:sldId id="279" r:id="rId16"/>
    <p:sldId id="280" r:id="rId17"/>
    <p:sldId id="281" r:id="rId18"/>
    <p:sldId id="263" r:id="rId19"/>
    <p:sldId id="282" r:id="rId20"/>
    <p:sldId id="265" r:id="rId21"/>
    <p:sldId id="283" r:id="rId22"/>
    <p:sldId id="266" r:id="rId23"/>
    <p:sldId id="267" r:id="rId24"/>
    <p:sldId id="268" r:id="rId25"/>
    <p:sldId id="269" r:id="rId26"/>
    <p:sldId id="270" r:id="rId2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7" d="100"/>
          <a:sy n="117" d="100"/>
        </p:scale>
        <p:origin x="466"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800" b="0" i="0" u="none" strike="noStrike">
                <a:solidFill>
                  <a:srgbClr val="000000"/>
                </a:solidFill>
                <a:latin typeface="Arial"/>
              </a:defRPr>
            </a:pPr>
            <a:r>
              <a:rPr lang="en-IN" sz="1800" b="0" i="0" u="none" strike="noStrike">
                <a:solidFill>
                  <a:srgbClr val="000000"/>
                </a:solidFill>
                <a:latin typeface="Arial"/>
              </a:rPr>
              <a:t>Difficulty Level Distribution (%)</a:t>
            </a:r>
          </a:p>
        </c:rich>
      </c:tx>
      <c:overlay val="0"/>
    </c:title>
    <c:autoTitleDeleted val="0"/>
    <c:plotArea>
      <c:layout/>
      <c:barChart>
        <c:barDir val="col"/>
        <c:grouping val="clustered"/>
        <c:varyColors val="0"/>
        <c:ser>
          <c:idx val="0"/>
          <c:order val="0"/>
          <c:tx>
            <c:strRef>
              <c:f>Sheet1!$B$1</c:f>
              <c:strCache>
                <c:ptCount val="1"/>
                <c:pt idx="0">
                  <c:v>Courses</c:v>
                </c:pt>
              </c:strCache>
            </c:strRef>
          </c:tx>
          <c:spPr>
            <a:solidFill>
              <a:srgbClr val="028090"/>
            </a:solidFill>
            <a:effectLst/>
          </c:spPr>
          <c:invertIfNegative val="0"/>
          <c:dPt>
            <c:idx val="0"/>
            <c:invertIfNegative val="0"/>
            <c:bubble3D val="0"/>
            <c:extLst>
              <c:ext xmlns:c16="http://schemas.microsoft.com/office/drawing/2014/chart" uri="{C3380CC4-5D6E-409C-BE32-E72D297353CC}">
                <c16:uniqueId val="{00000001-5DAB-41E8-80FF-A9D356823600}"/>
              </c:ext>
            </c:extLst>
          </c:dPt>
          <c:dPt>
            <c:idx val="1"/>
            <c:invertIfNegative val="0"/>
            <c:bubble3D val="0"/>
            <c:spPr>
              <a:solidFill>
                <a:srgbClr val="00A896"/>
              </a:solidFill>
              <a:effectLst/>
            </c:spPr>
            <c:extLst>
              <c:ext xmlns:c16="http://schemas.microsoft.com/office/drawing/2014/chart" uri="{C3380CC4-5D6E-409C-BE32-E72D297353CC}">
                <c16:uniqueId val="{00000003-5DAB-41E8-80FF-A9D356823600}"/>
              </c:ext>
            </c:extLst>
          </c:dPt>
          <c:dPt>
            <c:idx val="2"/>
            <c:invertIfNegative val="0"/>
            <c:bubble3D val="0"/>
            <c:spPr>
              <a:solidFill>
                <a:srgbClr val="02C39A"/>
              </a:solidFill>
              <a:effectLst/>
            </c:spPr>
            <c:extLst>
              <c:ext xmlns:c16="http://schemas.microsoft.com/office/drawing/2014/chart" uri="{C3380CC4-5D6E-409C-BE32-E72D297353CC}">
                <c16:uniqueId val="{00000005-5DAB-41E8-80FF-A9D356823600}"/>
              </c:ext>
            </c:extLst>
          </c:dPt>
          <c:dLbls>
            <c:numFmt formatCode="#,##0" sourceLinked="0"/>
            <c:spPr>
              <a:noFill/>
              <a:ln>
                <a:noFill/>
              </a:ln>
              <a:effectLst/>
            </c:spPr>
            <c:txPr>
              <a:bodyPr/>
              <a:lstStyle/>
              <a:p>
                <a:pPr>
                  <a:defRPr sz="12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Beginner</c:v>
                </c:pt>
                <c:pt idx="1">
                  <c:v>Intermediate</c:v>
                </c:pt>
                <c:pt idx="2">
                  <c:v>Advanced</c:v>
                </c:pt>
              </c:strCache>
            </c:strRef>
          </c:cat>
          <c:val>
            <c:numRef>
              <c:f>Sheet1!$B$2:$B$4</c:f>
              <c:numCache>
                <c:formatCode>General</c:formatCode>
                <c:ptCount val="3"/>
                <c:pt idx="0">
                  <c:v>33.200000000000003</c:v>
                </c:pt>
                <c:pt idx="1">
                  <c:v>33.5</c:v>
                </c:pt>
                <c:pt idx="2">
                  <c:v>33.299999999999997</c:v>
                </c:pt>
              </c:numCache>
            </c:numRef>
          </c:val>
          <c:extLst>
            <c:ext xmlns:c16="http://schemas.microsoft.com/office/drawing/2014/chart" uri="{C3380CC4-5D6E-409C-BE32-E72D297353CC}">
              <c16:uniqueId val="{00000006-5DAB-41E8-80FF-A9D35682360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66666"/>
                </a:solidFill>
                <a:latin typeface="Arial"/>
              </a:defRPr>
            </a:pPr>
            <a:endParaRPr lang="en-US"/>
          </a:p>
        </c:txPr>
        <c:crossAx val="2094734552"/>
        <c:crosses val="autoZero"/>
        <c:auto val="1"/>
        <c:lblAlgn val="ctr"/>
        <c:lblOffset val="100"/>
        <c:noMultiLvlLbl val="1"/>
      </c:catAx>
      <c:valAx>
        <c:axId val="2094734552"/>
        <c:scaling>
          <c:orientation val="minMax"/>
          <c:max val="4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66666"/>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800" b="0" i="0" u="none" strike="noStrike">
                <a:solidFill>
                  <a:srgbClr val="000000"/>
                </a:solidFill>
                <a:latin typeface="Arial"/>
              </a:defRPr>
            </a:pPr>
            <a:r>
              <a:rPr lang="en-IN" sz="1800" b="0" i="0" u="none" strike="noStrike">
                <a:solidFill>
                  <a:srgbClr val="000000"/>
                </a:solidFill>
                <a:latin typeface="Arial"/>
              </a:rPr>
              <a:t>Rating Distribution</a:t>
            </a:r>
          </a:p>
        </c:rich>
      </c:tx>
      <c:overlay val="0"/>
    </c:title>
    <c:autoTitleDeleted val="0"/>
    <c:plotArea>
      <c:layout/>
      <c:barChart>
        <c:barDir val="col"/>
        <c:grouping val="clustered"/>
        <c:varyColors val="0"/>
        <c:ser>
          <c:idx val="0"/>
          <c:order val="0"/>
          <c:tx>
            <c:strRef>
              <c:f>Sheet1!$B$1</c:f>
              <c:strCache>
                <c:ptCount val="1"/>
                <c:pt idx="0">
                  <c:v>Count</c:v>
                </c:pt>
              </c:strCache>
            </c:strRef>
          </c:tx>
          <c:spPr>
            <a:solidFill>
              <a:srgbClr val="02C39A"/>
            </a:solidFill>
            <a:effectLst/>
          </c:spPr>
          <c:invertIfNegative val="0"/>
          <c:dLbls>
            <c:numFmt formatCode="#,##0" sourceLinked="0"/>
            <c:spPr>
              <a:noFill/>
              <a:ln>
                <a:noFill/>
              </a:ln>
              <a:effectLst/>
            </c:spPr>
            <c:txPr>
              <a:bodyPr/>
              <a:lstStyle/>
              <a:p>
                <a:pPr>
                  <a:defRPr sz="12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3.0-3.5</c:v>
                </c:pt>
                <c:pt idx="1">
                  <c:v>3.5-4.0</c:v>
                </c:pt>
                <c:pt idx="2">
                  <c:v>4.0-4.5</c:v>
                </c:pt>
                <c:pt idx="3">
                  <c:v>4.5-5.0</c:v>
                </c:pt>
              </c:strCache>
            </c:strRef>
          </c:cat>
          <c:val>
            <c:numRef>
              <c:f>Sheet1!$B$2:$B$5</c:f>
              <c:numCache>
                <c:formatCode>General</c:formatCode>
                <c:ptCount val="4"/>
                <c:pt idx="0">
                  <c:v>1700</c:v>
                </c:pt>
                <c:pt idx="1">
                  <c:v>3040</c:v>
                </c:pt>
                <c:pt idx="2">
                  <c:v>3720</c:v>
                </c:pt>
                <c:pt idx="3">
                  <c:v>1540</c:v>
                </c:pt>
              </c:numCache>
            </c:numRef>
          </c:val>
          <c:extLst>
            <c:ext xmlns:c16="http://schemas.microsoft.com/office/drawing/2014/chart" uri="{C3380CC4-5D6E-409C-BE32-E72D297353CC}">
              <c16:uniqueId val="{00000000-F297-4ABD-9077-BE12EBDCF5C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66666"/>
                </a:solidFill>
                <a:latin typeface="Arial"/>
              </a:defRPr>
            </a:pPr>
            <a:endParaRPr lang="en-US"/>
          </a:p>
        </c:txPr>
        <c:crossAx val="2094734552"/>
        <c:crossesAt val="0"/>
        <c:auto val="1"/>
        <c:lblAlgn val="ctr"/>
        <c:lblOffset val="100"/>
        <c:noMultiLvlLbl val="1"/>
      </c:catAx>
      <c:valAx>
        <c:axId val="2094734552"/>
        <c:scaling>
          <c:orientation val="minMax"/>
          <c:max val="400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66666"/>
                </a:solidFill>
                <a:latin typeface="Arial"/>
              </a:defRPr>
            </a:pPr>
            <a:endParaRPr lang="en-US"/>
          </a:p>
        </c:txPr>
        <c:crossAx val="2094734554"/>
        <c:crosses val="autoZero"/>
        <c:crossBetween val="between"/>
        <c:majorUnit val="1000"/>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800" b="0" i="0" u="none" strike="noStrike">
                <a:solidFill>
                  <a:srgbClr val="000000"/>
                </a:solidFill>
                <a:latin typeface="Arial"/>
              </a:defRPr>
            </a:pPr>
            <a:r>
              <a:rPr lang="en-US" sz="1800" b="0" i="0" u="none" strike="noStrike">
                <a:solidFill>
                  <a:srgbClr val="000000"/>
                </a:solidFill>
                <a:latin typeface="Arial"/>
              </a:rPr>
              <a:t>Model Performance Comparison (out of 10)</a:t>
            </a:r>
          </a:p>
        </c:rich>
      </c:tx>
      <c:overlay val="0"/>
    </c:title>
    <c:autoTitleDeleted val="0"/>
    <c:plotArea>
      <c:layout/>
      <c:barChart>
        <c:barDir val="col"/>
        <c:grouping val="clustered"/>
        <c:varyColors val="0"/>
        <c:ser>
          <c:idx val="0"/>
          <c:order val="0"/>
          <c:tx>
            <c:strRef>
              <c:f>Sheet1!$B$1</c:f>
              <c:strCache>
                <c:ptCount val="1"/>
                <c:pt idx="0">
                  <c:v>Performance Score</c:v>
                </c:pt>
              </c:strCache>
            </c:strRef>
          </c:tx>
          <c:spPr>
            <a:solidFill>
              <a:srgbClr val="028090"/>
            </a:solidFill>
            <a:effectLst/>
          </c:spPr>
          <c:invertIfNegative val="0"/>
          <c:dPt>
            <c:idx val="0"/>
            <c:invertIfNegative val="0"/>
            <c:bubble3D val="0"/>
            <c:extLst>
              <c:ext xmlns:c16="http://schemas.microsoft.com/office/drawing/2014/chart" uri="{C3380CC4-5D6E-409C-BE32-E72D297353CC}">
                <c16:uniqueId val="{00000001-500F-4AED-8289-ACDE13C53557}"/>
              </c:ext>
            </c:extLst>
          </c:dPt>
          <c:dPt>
            <c:idx val="1"/>
            <c:invertIfNegative val="0"/>
            <c:bubble3D val="0"/>
            <c:spPr>
              <a:solidFill>
                <a:srgbClr val="00A896"/>
              </a:solidFill>
              <a:effectLst/>
            </c:spPr>
            <c:extLst>
              <c:ext xmlns:c16="http://schemas.microsoft.com/office/drawing/2014/chart" uri="{C3380CC4-5D6E-409C-BE32-E72D297353CC}">
                <c16:uniqueId val="{00000003-500F-4AED-8289-ACDE13C53557}"/>
              </c:ext>
            </c:extLst>
          </c:dPt>
          <c:dPt>
            <c:idx val="2"/>
            <c:invertIfNegative val="0"/>
            <c:bubble3D val="0"/>
            <c:spPr>
              <a:solidFill>
                <a:srgbClr val="02C39A"/>
              </a:solidFill>
              <a:effectLst/>
            </c:spPr>
            <c:extLst>
              <c:ext xmlns:c16="http://schemas.microsoft.com/office/drawing/2014/chart" uri="{C3380CC4-5D6E-409C-BE32-E72D297353CC}">
                <c16:uniqueId val="{00000005-500F-4AED-8289-ACDE13C53557}"/>
              </c:ext>
            </c:extLst>
          </c:dPt>
          <c:dPt>
            <c:idx val="3"/>
            <c:invertIfNegative val="0"/>
            <c:bubble3D val="0"/>
            <c:spPr>
              <a:solidFill>
                <a:srgbClr val="F96167"/>
              </a:solidFill>
              <a:effectLst/>
            </c:spPr>
            <c:extLst>
              <c:ext xmlns:c16="http://schemas.microsoft.com/office/drawing/2014/chart" uri="{C3380CC4-5D6E-409C-BE32-E72D297353CC}">
                <c16:uniqueId val="{00000007-500F-4AED-8289-ACDE13C53557}"/>
              </c:ext>
            </c:extLst>
          </c:dPt>
          <c:dPt>
            <c:idx val="4"/>
            <c:invertIfNegative val="0"/>
            <c:bubble3D val="0"/>
            <c:spPr>
              <a:solidFill>
                <a:srgbClr val="B85042"/>
              </a:solidFill>
              <a:effectLst/>
            </c:spPr>
            <c:extLst>
              <c:ext xmlns:c16="http://schemas.microsoft.com/office/drawing/2014/chart" uri="{C3380CC4-5D6E-409C-BE32-E72D297353CC}">
                <c16:uniqueId val="{00000009-500F-4AED-8289-ACDE13C53557}"/>
              </c:ext>
            </c:extLst>
          </c:dPt>
          <c:dLbls>
            <c:numFmt formatCode="@" sourceLinked="0"/>
            <c:spPr>
              <a:noFill/>
              <a:ln>
                <a:noFill/>
              </a:ln>
              <a:effectLst/>
            </c:spPr>
            <c:txPr>
              <a:bodyPr/>
              <a:lstStyle/>
              <a:p>
                <a:pPr>
                  <a:defRPr sz="12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Content-Based KNN</c:v>
                </c:pt>
                <c:pt idx="1">
                  <c:v>User-Based CF</c:v>
                </c:pt>
                <c:pt idx="2">
                  <c:v>SVD Collaborative filtering </c:v>
                </c:pt>
                <c:pt idx="3">
                  <c:v>Hybrid Recommedation</c:v>
                </c:pt>
                <c:pt idx="4">
                  <c:v>TF - IDF</c:v>
                </c:pt>
              </c:strCache>
            </c:strRef>
          </c:cat>
          <c:val>
            <c:numRef>
              <c:f>Sheet1!$B$2:$B$6</c:f>
              <c:numCache>
                <c:formatCode>General</c:formatCode>
                <c:ptCount val="5"/>
                <c:pt idx="0">
                  <c:v>8.6</c:v>
                </c:pt>
                <c:pt idx="1">
                  <c:v>8.6999999999999993</c:v>
                </c:pt>
                <c:pt idx="2">
                  <c:v>8.3000000000000007</c:v>
                </c:pt>
                <c:pt idx="3">
                  <c:v>9.5</c:v>
                </c:pt>
                <c:pt idx="4">
                  <c:v>7.8</c:v>
                </c:pt>
              </c:numCache>
            </c:numRef>
          </c:val>
          <c:extLst>
            <c:ext xmlns:c16="http://schemas.microsoft.com/office/drawing/2014/chart" uri="{C3380CC4-5D6E-409C-BE32-E72D297353CC}">
              <c16:uniqueId val="{0000000A-500F-4AED-8289-ACDE13C5355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66666"/>
                </a:solidFill>
                <a:latin typeface="Arial"/>
              </a:defRPr>
            </a:pPr>
            <a:endParaRPr lang="en-US"/>
          </a:p>
        </c:txPr>
        <c:crossAx val="2094734552"/>
        <c:crosses val="autoZero"/>
        <c:auto val="1"/>
        <c:lblAlgn val="ctr"/>
        <c:lblOffset val="100"/>
        <c:noMultiLvlLbl val="1"/>
      </c:catAx>
      <c:valAx>
        <c:axId val="2094734552"/>
        <c:scaling>
          <c:orientation val="minMax"/>
          <c:max val="1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66666"/>
                </a:solidFill>
                <a:latin typeface="Arial"/>
              </a:defRPr>
            </a:pPr>
            <a:endParaRPr lang="en-US"/>
          </a:p>
        </c:txPr>
        <c:crossAx val="2094734554"/>
        <c:crosses val="autoZero"/>
        <c:crossBetween val="between"/>
        <c:majorUnit val="1"/>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28263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12.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2109" y="1310140"/>
            <a:ext cx="8229600" cy="548640"/>
          </a:xfrm>
          <a:prstGeom prst="rect">
            <a:avLst/>
          </a:prstGeom>
          <a:noFill/>
          <a:ln/>
        </p:spPr>
        <p:txBody>
          <a:bodyPr wrap="square" rtlCol="0" anchor="ctr"/>
          <a:lstStyle/>
          <a:p>
            <a:pPr marL="0" indent="0" algn="ctr">
              <a:buNone/>
            </a:pPr>
            <a:r>
              <a:rPr lang="en-US" sz="4800" b="1" kern="0" spc="300" dirty="0">
                <a:solidFill>
                  <a:srgbClr val="FFFFFF"/>
                </a:solidFill>
              </a:rPr>
              <a:t>ONLINE COURSE</a:t>
            </a:r>
            <a:endParaRPr lang="en-US" sz="4800" dirty="0"/>
          </a:p>
        </p:txBody>
      </p:sp>
      <p:sp>
        <p:nvSpPr>
          <p:cNvPr id="3" name="Text 1"/>
          <p:cNvSpPr/>
          <p:nvPr/>
        </p:nvSpPr>
        <p:spPr>
          <a:xfrm>
            <a:off x="542109" y="2394304"/>
            <a:ext cx="8229600" cy="548640"/>
          </a:xfrm>
          <a:prstGeom prst="rect">
            <a:avLst/>
          </a:prstGeom>
          <a:noFill/>
          <a:ln/>
        </p:spPr>
        <p:txBody>
          <a:bodyPr wrap="square" rtlCol="0" anchor="ctr"/>
          <a:lstStyle/>
          <a:p>
            <a:pPr marL="0" indent="0" algn="ctr">
              <a:buNone/>
            </a:pPr>
            <a:r>
              <a:rPr lang="en-US" sz="4800" b="1" kern="0" spc="300" dirty="0">
                <a:solidFill>
                  <a:srgbClr val="02C39A"/>
                </a:solidFill>
              </a:rPr>
              <a:t>RECOMMENDATION SYSTEM</a:t>
            </a:r>
            <a:endParaRPr lang="en-US" sz="4800" dirty="0"/>
          </a:p>
        </p:txBody>
      </p:sp>
      <p:sp>
        <p:nvSpPr>
          <p:cNvPr id="4" name="Text 2"/>
          <p:cNvSpPr/>
          <p:nvPr/>
        </p:nvSpPr>
        <p:spPr>
          <a:xfrm>
            <a:off x="542109" y="4304210"/>
            <a:ext cx="8229600" cy="365760"/>
          </a:xfrm>
          <a:prstGeom prst="rect">
            <a:avLst/>
          </a:prstGeom>
          <a:noFill/>
          <a:ln/>
        </p:spPr>
        <p:txBody>
          <a:bodyPr wrap="square" rtlCol="0" anchor="ctr"/>
          <a:lstStyle/>
          <a:p>
            <a:pPr marL="0" indent="0" algn="ctr">
              <a:buNone/>
            </a:pPr>
            <a:r>
              <a:rPr lang="en-US" sz="2000" i="1" dirty="0">
                <a:solidFill>
                  <a:srgbClr val="CADCFC"/>
                </a:solidFill>
              </a:rPr>
              <a:t>Our Team </a:t>
            </a:r>
            <a:r>
              <a:rPr lang="en-US" sz="1800" i="1" dirty="0">
                <a:solidFill>
                  <a:srgbClr val="CADCFC"/>
                </a:solidFill>
              </a:rPr>
              <a:t>: Koushik, Indrajeet, Dharitri, Athul, </a:t>
            </a:r>
            <a:r>
              <a:rPr lang="en-US" sz="1800" i="1" dirty="0" err="1">
                <a:solidFill>
                  <a:srgbClr val="CADCFC"/>
                </a:solidFill>
              </a:rPr>
              <a:t>Aatlee</a:t>
            </a:r>
            <a:r>
              <a:rPr lang="en-US" sz="1800" i="1" dirty="0">
                <a:solidFill>
                  <a:srgbClr val="CADCFC"/>
                </a:solidFill>
              </a:rPr>
              <a:t>, Vipul </a:t>
            </a:r>
            <a:endParaRPr lang="en-US" sz="1800" dirty="0"/>
          </a:p>
        </p:txBody>
      </p:sp>
      <p:pic>
        <p:nvPicPr>
          <p:cNvPr id="5" name="Image 0" descr="preencoded.png"/>
          <p:cNvPicPr>
            <a:picLocks noChangeAspect="1"/>
          </p:cNvPicPr>
          <p:nvPr/>
        </p:nvPicPr>
        <p:blipFill>
          <a:blip r:embed="rId3"/>
          <a:stretch>
            <a:fillRect/>
          </a:stretch>
        </p:blipFill>
        <p:spPr>
          <a:xfrm>
            <a:off x="4091940" y="61058"/>
            <a:ext cx="1129937" cy="1129937"/>
          </a:xfrm>
          <a:prstGeom prst="rect">
            <a:avLst/>
          </a:prstGeom>
        </p:spPr>
      </p:pic>
      <p:sp>
        <p:nvSpPr>
          <p:cNvPr id="6" name="Text 2">
            <a:extLst>
              <a:ext uri="{FF2B5EF4-FFF2-40B4-BE49-F238E27FC236}">
                <a16:creationId xmlns:a16="http://schemas.microsoft.com/office/drawing/2014/main" id="{20234BE9-12D9-85E0-FD70-5F072C556F83}"/>
              </a:ext>
            </a:extLst>
          </p:cNvPr>
          <p:cNvSpPr/>
          <p:nvPr/>
        </p:nvSpPr>
        <p:spPr>
          <a:xfrm>
            <a:off x="542109" y="3549671"/>
            <a:ext cx="8229600" cy="748009"/>
          </a:xfrm>
          <a:prstGeom prst="rect">
            <a:avLst/>
          </a:prstGeom>
          <a:noFill/>
          <a:ln/>
        </p:spPr>
        <p:txBody>
          <a:bodyPr wrap="square" rtlCol="0" anchor="ctr"/>
          <a:lstStyle/>
          <a:p>
            <a:pPr marL="0" indent="0" algn="ctr">
              <a:buNone/>
            </a:pPr>
            <a:r>
              <a:rPr lang="en-US" sz="2000" i="1" dirty="0">
                <a:solidFill>
                  <a:srgbClr val="CADCFC"/>
                </a:solidFill>
              </a:rPr>
              <a:t>Mentor: </a:t>
            </a:r>
            <a:r>
              <a:rPr lang="en-US" i="1" dirty="0">
                <a:solidFill>
                  <a:srgbClr val="CADCFC"/>
                </a:solidFill>
              </a:rPr>
              <a:t>Karthik </a:t>
            </a:r>
            <a:br>
              <a:rPr lang="en-US" i="1" dirty="0">
                <a:solidFill>
                  <a:srgbClr val="CADCFC"/>
                </a:solidFill>
              </a:rPr>
            </a:br>
            <a:r>
              <a:rPr lang="en-US" i="1" dirty="0">
                <a:solidFill>
                  <a:srgbClr val="CADCFC"/>
                </a:solidFill>
              </a:rPr>
              <a:t>Co-Mentor: Stephy </a:t>
            </a:r>
            <a:endParaRPr lang="en-US" sz="1800" dirty="0"/>
          </a:p>
        </p:txBody>
      </p:sp>
      <p:pic>
        <p:nvPicPr>
          <p:cNvPr id="8" name="Picture 7">
            <a:extLst>
              <a:ext uri="{FF2B5EF4-FFF2-40B4-BE49-F238E27FC236}">
                <a16:creationId xmlns:a16="http://schemas.microsoft.com/office/drawing/2014/main" id="{13563804-8481-06C0-2323-0816B859BFCF}"/>
              </a:ext>
            </a:extLst>
          </p:cNvPr>
          <p:cNvPicPr>
            <a:picLocks noChangeAspect="1"/>
          </p:cNvPicPr>
          <p:nvPr/>
        </p:nvPicPr>
        <p:blipFill>
          <a:blip r:embed="rId4"/>
          <a:stretch>
            <a:fillRect/>
          </a:stretch>
        </p:blipFill>
        <p:spPr>
          <a:xfrm>
            <a:off x="320040" y="260267"/>
            <a:ext cx="1325502" cy="3657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buNone/>
            </a:pPr>
            <a:r>
              <a:rPr lang="en-US" sz="3600" b="1" dirty="0">
                <a:solidFill>
                  <a:srgbClr val="2F3C7E"/>
                </a:solidFill>
              </a:rPr>
              <a:t>INTRODUCTION</a:t>
            </a:r>
            <a:endParaRPr lang="en-US" sz="3600" dirty="0"/>
          </a:p>
        </p:txBody>
      </p:sp>
      <p:pic>
        <p:nvPicPr>
          <p:cNvPr id="3" name="Image 0" descr="preencoded.png"/>
          <p:cNvPicPr>
            <a:picLocks noChangeAspect="1"/>
          </p:cNvPicPr>
          <p:nvPr/>
        </p:nvPicPr>
        <p:blipFill>
          <a:blip r:embed="rId3"/>
          <a:stretch>
            <a:fillRect/>
          </a:stretch>
        </p:blipFill>
        <p:spPr>
          <a:xfrm>
            <a:off x="640080" y="1005840"/>
            <a:ext cx="548640" cy="548640"/>
          </a:xfrm>
          <a:prstGeom prst="rect">
            <a:avLst/>
          </a:prstGeom>
        </p:spPr>
      </p:pic>
      <p:sp>
        <p:nvSpPr>
          <p:cNvPr id="4" name="Text 1"/>
          <p:cNvSpPr/>
          <p:nvPr/>
        </p:nvSpPr>
        <p:spPr>
          <a:xfrm>
            <a:off x="1371600" y="1097280"/>
            <a:ext cx="6400800" cy="365760"/>
          </a:xfrm>
          <a:prstGeom prst="rect">
            <a:avLst/>
          </a:prstGeom>
          <a:noFill/>
          <a:ln/>
        </p:spPr>
        <p:txBody>
          <a:bodyPr wrap="square" rtlCol="0" anchor="ctr"/>
          <a:lstStyle/>
          <a:p>
            <a:pPr marL="0" indent="0">
              <a:buNone/>
            </a:pPr>
            <a:r>
              <a:rPr lang="en-US" sz="1800" b="1" dirty="0">
                <a:solidFill>
                  <a:srgbClr val="028090"/>
                </a:solidFill>
              </a:rPr>
              <a:t>Project Challenge</a:t>
            </a:r>
            <a:endParaRPr lang="en-US" sz="1800" dirty="0"/>
          </a:p>
        </p:txBody>
      </p:sp>
      <p:sp>
        <p:nvSpPr>
          <p:cNvPr id="5" name="Text 2"/>
          <p:cNvSpPr/>
          <p:nvPr/>
        </p:nvSpPr>
        <p:spPr>
          <a:xfrm>
            <a:off x="640080" y="1645920"/>
            <a:ext cx="7589520" cy="731520"/>
          </a:xfrm>
          <a:prstGeom prst="rect">
            <a:avLst/>
          </a:prstGeom>
          <a:noFill/>
          <a:ln/>
        </p:spPr>
        <p:txBody>
          <a:bodyPr wrap="square" rtlCol="0" anchor="ctr"/>
          <a:lstStyle/>
          <a:p>
            <a:pPr marL="0" indent="0">
              <a:lnSpc>
                <a:spcPts val="1600"/>
              </a:lnSpc>
              <a:buNone/>
            </a:pPr>
            <a:r>
              <a:rPr lang="en-US" sz="1200" dirty="0">
                <a:solidFill>
                  <a:srgbClr val="2F3C7E"/>
                </a:solidFill>
              </a:rPr>
              <a:t>Build an intelligent recommendation system that suggests relevant online courses to users based on their preferences, behavior, and course attributes. The system leverages multiple machine learning approaches to provide personalized, accurate recommendations.</a:t>
            </a:r>
            <a:endParaRPr lang="en-US" sz="1200" dirty="0"/>
          </a:p>
        </p:txBody>
      </p:sp>
      <p:sp>
        <p:nvSpPr>
          <p:cNvPr id="6" name="Shape 3"/>
          <p:cNvSpPr/>
          <p:nvPr/>
        </p:nvSpPr>
        <p:spPr>
          <a:xfrm>
            <a:off x="914400" y="2743200"/>
            <a:ext cx="2286000" cy="1645920"/>
          </a:xfrm>
          <a:prstGeom prst="rect">
            <a:avLst/>
          </a:prstGeom>
          <a:solidFill>
            <a:srgbClr val="FFFFFF"/>
          </a:solidFill>
          <a:ln/>
          <a:effectLst>
            <a:outerShdw blurRad="76200" dist="25400" dir="8100000" algn="bl" rotWithShape="0">
              <a:srgbClr val="000000">
                <a:alpha val="8000"/>
              </a:srgbClr>
            </a:outerShdw>
          </a:effectLst>
        </p:spPr>
      </p:sp>
      <p:pic>
        <p:nvPicPr>
          <p:cNvPr id="7" name="Image 1" descr="preencoded.png"/>
          <p:cNvPicPr>
            <a:picLocks noChangeAspect="1"/>
          </p:cNvPicPr>
          <p:nvPr/>
        </p:nvPicPr>
        <p:blipFill>
          <a:blip r:embed="rId4"/>
          <a:stretch>
            <a:fillRect/>
          </a:stretch>
        </p:blipFill>
        <p:spPr>
          <a:xfrm>
            <a:off x="1691640" y="2971800"/>
            <a:ext cx="731520" cy="731520"/>
          </a:xfrm>
          <a:prstGeom prst="rect">
            <a:avLst/>
          </a:prstGeom>
        </p:spPr>
      </p:pic>
      <p:sp>
        <p:nvSpPr>
          <p:cNvPr id="8" name="Text 4"/>
          <p:cNvSpPr/>
          <p:nvPr/>
        </p:nvSpPr>
        <p:spPr>
          <a:xfrm>
            <a:off x="914400" y="3794760"/>
            <a:ext cx="2286000" cy="274320"/>
          </a:xfrm>
          <a:prstGeom prst="rect">
            <a:avLst/>
          </a:prstGeom>
          <a:noFill/>
          <a:ln/>
        </p:spPr>
        <p:txBody>
          <a:bodyPr wrap="square" rtlCol="0" anchor="ctr"/>
          <a:lstStyle/>
          <a:p>
            <a:pPr marL="0" indent="0" algn="ctr">
              <a:buNone/>
            </a:pPr>
            <a:r>
              <a:rPr lang="en-US" sz="2000" b="1" dirty="0">
                <a:solidFill>
                  <a:srgbClr val="028090"/>
                </a:solidFill>
              </a:rPr>
              <a:t>100,000+ Records</a:t>
            </a:r>
            <a:endParaRPr lang="en-US" sz="2000" dirty="0"/>
          </a:p>
        </p:txBody>
      </p:sp>
      <p:sp>
        <p:nvSpPr>
          <p:cNvPr id="9" name="Text 5"/>
          <p:cNvSpPr/>
          <p:nvPr/>
        </p:nvSpPr>
        <p:spPr>
          <a:xfrm>
            <a:off x="914400" y="4114800"/>
            <a:ext cx="2286000" cy="228600"/>
          </a:xfrm>
          <a:prstGeom prst="rect">
            <a:avLst/>
          </a:prstGeom>
          <a:noFill/>
          <a:ln/>
        </p:spPr>
        <p:txBody>
          <a:bodyPr wrap="square" rtlCol="0" anchor="ctr"/>
          <a:lstStyle/>
          <a:p>
            <a:pPr marL="0" indent="0" algn="ctr">
              <a:buNone/>
            </a:pPr>
            <a:r>
              <a:rPr lang="en-US" sz="1200" dirty="0">
                <a:solidFill>
                  <a:srgbClr val="666666"/>
                </a:solidFill>
              </a:rPr>
              <a:t>Dataset Size</a:t>
            </a:r>
            <a:endParaRPr lang="en-US" sz="1200" dirty="0"/>
          </a:p>
        </p:txBody>
      </p:sp>
      <p:sp>
        <p:nvSpPr>
          <p:cNvPr id="10" name="Shape 6"/>
          <p:cNvSpPr/>
          <p:nvPr/>
        </p:nvSpPr>
        <p:spPr>
          <a:xfrm>
            <a:off x="3383280" y="2743200"/>
            <a:ext cx="2286000" cy="1645920"/>
          </a:xfrm>
          <a:prstGeom prst="rect">
            <a:avLst/>
          </a:prstGeom>
          <a:solidFill>
            <a:srgbClr val="FFFFFF"/>
          </a:solidFill>
          <a:ln/>
          <a:effectLst>
            <a:outerShdw blurRad="76200" dist="25400" dir="8100000" algn="bl" rotWithShape="0">
              <a:srgbClr val="000000">
                <a:alpha val="8000"/>
              </a:srgbClr>
            </a:outerShdw>
          </a:effectLst>
        </p:spPr>
      </p:sp>
      <p:pic>
        <p:nvPicPr>
          <p:cNvPr id="11" name="Image 2" descr="preencoded.png"/>
          <p:cNvPicPr>
            <a:picLocks noChangeAspect="1"/>
          </p:cNvPicPr>
          <p:nvPr/>
        </p:nvPicPr>
        <p:blipFill>
          <a:blip r:embed="rId5"/>
          <a:stretch>
            <a:fillRect/>
          </a:stretch>
        </p:blipFill>
        <p:spPr>
          <a:xfrm>
            <a:off x="4160520" y="2971800"/>
            <a:ext cx="731520" cy="731520"/>
          </a:xfrm>
          <a:prstGeom prst="rect">
            <a:avLst/>
          </a:prstGeom>
        </p:spPr>
      </p:pic>
      <p:sp>
        <p:nvSpPr>
          <p:cNvPr id="12" name="Text 7"/>
          <p:cNvSpPr/>
          <p:nvPr/>
        </p:nvSpPr>
        <p:spPr>
          <a:xfrm>
            <a:off x="3383280" y="3794760"/>
            <a:ext cx="2286000" cy="274320"/>
          </a:xfrm>
          <a:prstGeom prst="rect">
            <a:avLst/>
          </a:prstGeom>
          <a:noFill/>
          <a:ln/>
        </p:spPr>
        <p:txBody>
          <a:bodyPr wrap="square" rtlCol="0" anchor="ctr"/>
          <a:lstStyle/>
          <a:p>
            <a:pPr marL="0" indent="0" algn="ctr">
              <a:buNone/>
            </a:pPr>
            <a:r>
              <a:rPr lang="en-US" sz="2000" b="1" dirty="0">
                <a:solidFill>
                  <a:srgbClr val="028090"/>
                </a:solidFill>
              </a:rPr>
              <a:t>5 Algorithms</a:t>
            </a:r>
            <a:endParaRPr lang="en-US" sz="2000" dirty="0"/>
          </a:p>
        </p:txBody>
      </p:sp>
      <p:sp>
        <p:nvSpPr>
          <p:cNvPr id="13" name="Text 8"/>
          <p:cNvSpPr/>
          <p:nvPr/>
        </p:nvSpPr>
        <p:spPr>
          <a:xfrm>
            <a:off x="3383280" y="4114800"/>
            <a:ext cx="2286000" cy="228600"/>
          </a:xfrm>
          <a:prstGeom prst="rect">
            <a:avLst/>
          </a:prstGeom>
          <a:noFill/>
          <a:ln/>
        </p:spPr>
        <p:txBody>
          <a:bodyPr wrap="square" rtlCol="0" anchor="ctr"/>
          <a:lstStyle/>
          <a:p>
            <a:pPr marL="0" indent="0" algn="ctr">
              <a:buNone/>
            </a:pPr>
            <a:r>
              <a:rPr lang="en-US" sz="1200" dirty="0">
                <a:solidFill>
                  <a:srgbClr val="666666"/>
                </a:solidFill>
              </a:rPr>
              <a:t>Models Built</a:t>
            </a:r>
            <a:endParaRPr lang="en-US" sz="1200" dirty="0"/>
          </a:p>
        </p:txBody>
      </p:sp>
      <p:sp>
        <p:nvSpPr>
          <p:cNvPr id="14" name="Shape 9"/>
          <p:cNvSpPr/>
          <p:nvPr/>
        </p:nvSpPr>
        <p:spPr>
          <a:xfrm>
            <a:off x="5852160" y="2743200"/>
            <a:ext cx="2286000" cy="1645920"/>
          </a:xfrm>
          <a:prstGeom prst="rect">
            <a:avLst/>
          </a:prstGeom>
          <a:solidFill>
            <a:srgbClr val="FFFFFF"/>
          </a:solidFill>
          <a:ln/>
          <a:effectLst>
            <a:outerShdw blurRad="76200" dist="25400" dir="8100000" algn="bl" rotWithShape="0">
              <a:srgbClr val="000000">
                <a:alpha val="8000"/>
              </a:srgbClr>
            </a:outerShdw>
          </a:effectLst>
        </p:spPr>
      </p:sp>
      <p:pic>
        <p:nvPicPr>
          <p:cNvPr id="15" name="Image 3" descr="preencoded.png"/>
          <p:cNvPicPr>
            <a:picLocks noChangeAspect="1"/>
          </p:cNvPicPr>
          <p:nvPr/>
        </p:nvPicPr>
        <p:blipFill>
          <a:blip r:embed="rId6"/>
          <a:stretch>
            <a:fillRect/>
          </a:stretch>
        </p:blipFill>
        <p:spPr>
          <a:xfrm>
            <a:off x="6629400" y="2971800"/>
            <a:ext cx="731520" cy="731520"/>
          </a:xfrm>
          <a:prstGeom prst="rect">
            <a:avLst/>
          </a:prstGeom>
        </p:spPr>
      </p:pic>
      <p:sp>
        <p:nvSpPr>
          <p:cNvPr id="16" name="Text 10"/>
          <p:cNvSpPr/>
          <p:nvPr/>
        </p:nvSpPr>
        <p:spPr>
          <a:xfrm>
            <a:off x="5852160" y="3794760"/>
            <a:ext cx="2286000" cy="274320"/>
          </a:xfrm>
          <a:prstGeom prst="rect">
            <a:avLst/>
          </a:prstGeom>
          <a:noFill/>
          <a:ln/>
        </p:spPr>
        <p:txBody>
          <a:bodyPr wrap="square" rtlCol="0" anchor="ctr"/>
          <a:lstStyle/>
          <a:p>
            <a:pPr marL="0" indent="0" algn="ctr">
              <a:buNone/>
            </a:pPr>
            <a:r>
              <a:rPr lang="en-US" sz="2000" b="1" dirty="0">
                <a:solidFill>
                  <a:srgbClr val="028090"/>
                </a:solidFill>
              </a:rPr>
              <a:t>14 Attributes</a:t>
            </a:r>
            <a:endParaRPr lang="en-US" sz="2000" dirty="0"/>
          </a:p>
        </p:txBody>
      </p:sp>
      <p:sp>
        <p:nvSpPr>
          <p:cNvPr id="17" name="Text 11"/>
          <p:cNvSpPr/>
          <p:nvPr/>
        </p:nvSpPr>
        <p:spPr>
          <a:xfrm>
            <a:off x="5852160" y="4114800"/>
            <a:ext cx="2286000" cy="228600"/>
          </a:xfrm>
          <a:prstGeom prst="rect">
            <a:avLst/>
          </a:prstGeom>
          <a:noFill/>
          <a:ln/>
        </p:spPr>
        <p:txBody>
          <a:bodyPr wrap="square" rtlCol="0" anchor="ctr"/>
          <a:lstStyle/>
          <a:p>
            <a:pPr marL="0" indent="0" algn="ctr">
              <a:buNone/>
            </a:pPr>
            <a:r>
              <a:rPr lang="en-US" sz="1200" dirty="0">
                <a:solidFill>
                  <a:srgbClr val="666666"/>
                </a:solidFill>
              </a:rPr>
              <a:t>Features Used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3600" b="1" dirty="0">
                <a:solidFill>
                  <a:srgbClr val="2F3C7E"/>
                </a:solidFill>
              </a:rPr>
              <a:t>EXPECTED OUTCOMES</a:t>
            </a:r>
            <a:endParaRPr lang="en-US" sz="3600" dirty="0"/>
          </a:p>
        </p:txBody>
      </p:sp>
      <p:sp>
        <p:nvSpPr>
          <p:cNvPr id="3" name="Shape 1"/>
          <p:cNvSpPr/>
          <p:nvPr/>
        </p:nvSpPr>
        <p:spPr>
          <a:xfrm>
            <a:off x="457200" y="1097280"/>
            <a:ext cx="3931920" cy="1371600"/>
          </a:xfrm>
          <a:prstGeom prst="rect">
            <a:avLst/>
          </a:prstGeom>
          <a:solidFill>
            <a:srgbClr val="FFFFFF"/>
          </a:solidFill>
          <a:ln/>
          <a:effectLst>
            <a:outerShdw blurRad="76200" dist="25400" dir="8100000" algn="bl" rotWithShape="0">
              <a:srgbClr val="000000">
                <a:alpha val="10000"/>
              </a:srgbClr>
            </a:outerShdw>
          </a:effectLst>
        </p:spPr>
      </p:sp>
      <p:sp>
        <p:nvSpPr>
          <p:cNvPr id="4" name="Shape 2"/>
          <p:cNvSpPr/>
          <p:nvPr/>
        </p:nvSpPr>
        <p:spPr>
          <a:xfrm>
            <a:off x="685800" y="1325880"/>
            <a:ext cx="457200" cy="457200"/>
          </a:xfrm>
          <a:prstGeom prst="ellipse">
            <a:avLst/>
          </a:prstGeom>
          <a:solidFill>
            <a:srgbClr val="028090"/>
          </a:solidFill>
          <a:ln/>
        </p:spPr>
      </p:sp>
      <p:pic>
        <p:nvPicPr>
          <p:cNvPr id="5" name="Image 0" descr="preencoded.png"/>
          <p:cNvPicPr>
            <a:picLocks noChangeAspect="1"/>
          </p:cNvPicPr>
          <p:nvPr/>
        </p:nvPicPr>
        <p:blipFill>
          <a:blip r:embed="rId3"/>
          <a:stretch>
            <a:fillRect/>
          </a:stretch>
        </p:blipFill>
        <p:spPr>
          <a:xfrm>
            <a:off x="749808" y="1389888"/>
            <a:ext cx="329184" cy="329184"/>
          </a:xfrm>
          <a:prstGeom prst="rect">
            <a:avLst/>
          </a:prstGeom>
        </p:spPr>
      </p:pic>
      <p:sp>
        <p:nvSpPr>
          <p:cNvPr id="6" name="Text 3"/>
          <p:cNvSpPr/>
          <p:nvPr/>
        </p:nvSpPr>
        <p:spPr>
          <a:xfrm>
            <a:off x="1280160" y="1325880"/>
            <a:ext cx="2880360" cy="457200"/>
          </a:xfrm>
          <a:prstGeom prst="rect">
            <a:avLst/>
          </a:prstGeom>
          <a:noFill/>
          <a:ln/>
        </p:spPr>
        <p:txBody>
          <a:bodyPr wrap="square" rtlCol="0" anchor="ctr"/>
          <a:lstStyle/>
          <a:p>
            <a:pPr marL="0" indent="0">
              <a:buNone/>
            </a:pPr>
            <a:r>
              <a:rPr lang="en-US" sz="1600" b="1" dirty="0">
                <a:solidFill>
                  <a:srgbClr val="2F3C7E"/>
                </a:solidFill>
              </a:rPr>
              <a:t>Enhanced User Satisfaction</a:t>
            </a:r>
            <a:endParaRPr lang="en-US" sz="1600" dirty="0"/>
          </a:p>
        </p:txBody>
      </p:sp>
      <p:sp>
        <p:nvSpPr>
          <p:cNvPr id="7" name="Text 4"/>
          <p:cNvSpPr/>
          <p:nvPr/>
        </p:nvSpPr>
        <p:spPr>
          <a:xfrm>
            <a:off x="685800" y="1874520"/>
            <a:ext cx="3474720" cy="502920"/>
          </a:xfrm>
          <a:prstGeom prst="rect">
            <a:avLst/>
          </a:prstGeom>
          <a:noFill/>
          <a:ln/>
        </p:spPr>
        <p:txBody>
          <a:bodyPr wrap="square" rtlCol="0" anchor="ctr"/>
          <a:lstStyle/>
          <a:p>
            <a:pPr marL="0" indent="0">
              <a:lnSpc>
                <a:spcPts val="1600"/>
              </a:lnSpc>
              <a:buNone/>
            </a:pPr>
            <a:r>
              <a:rPr lang="en-US" sz="1200" dirty="0">
                <a:solidFill>
                  <a:srgbClr val="666666"/>
                </a:solidFill>
              </a:rPr>
              <a:t>Personalized recommendations increase user engagement and course completion rates by matching learners with appropriate content</a:t>
            </a:r>
            <a:endParaRPr lang="en-US" sz="1200" dirty="0"/>
          </a:p>
        </p:txBody>
      </p:sp>
      <p:sp>
        <p:nvSpPr>
          <p:cNvPr id="8" name="Shape 5"/>
          <p:cNvSpPr/>
          <p:nvPr/>
        </p:nvSpPr>
        <p:spPr>
          <a:xfrm>
            <a:off x="4754880" y="1097280"/>
            <a:ext cx="3931920" cy="1371600"/>
          </a:xfrm>
          <a:prstGeom prst="rect">
            <a:avLst/>
          </a:prstGeom>
          <a:solidFill>
            <a:srgbClr val="FFFFFF"/>
          </a:solidFill>
          <a:ln/>
          <a:effectLst>
            <a:outerShdw blurRad="76200" dist="25400" dir="8100000" algn="bl" rotWithShape="0">
              <a:srgbClr val="000000">
                <a:alpha val="10000"/>
              </a:srgbClr>
            </a:outerShdw>
          </a:effectLst>
        </p:spPr>
      </p:sp>
      <p:sp>
        <p:nvSpPr>
          <p:cNvPr id="9" name="Shape 6"/>
          <p:cNvSpPr/>
          <p:nvPr/>
        </p:nvSpPr>
        <p:spPr>
          <a:xfrm>
            <a:off x="4983480" y="1325880"/>
            <a:ext cx="457200" cy="457200"/>
          </a:xfrm>
          <a:prstGeom prst="ellipse">
            <a:avLst/>
          </a:prstGeom>
          <a:solidFill>
            <a:srgbClr val="00A896"/>
          </a:solidFill>
          <a:ln/>
        </p:spPr>
      </p:sp>
      <p:pic>
        <p:nvPicPr>
          <p:cNvPr id="10" name="Image 1" descr="preencoded.png"/>
          <p:cNvPicPr>
            <a:picLocks noChangeAspect="1"/>
          </p:cNvPicPr>
          <p:nvPr/>
        </p:nvPicPr>
        <p:blipFill>
          <a:blip r:embed="rId4"/>
          <a:stretch>
            <a:fillRect/>
          </a:stretch>
        </p:blipFill>
        <p:spPr>
          <a:xfrm>
            <a:off x="5047488" y="1389888"/>
            <a:ext cx="329184" cy="329184"/>
          </a:xfrm>
          <a:prstGeom prst="rect">
            <a:avLst/>
          </a:prstGeom>
        </p:spPr>
      </p:pic>
      <p:sp>
        <p:nvSpPr>
          <p:cNvPr id="11" name="Text 7"/>
          <p:cNvSpPr/>
          <p:nvPr/>
        </p:nvSpPr>
        <p:spPr>
          <a:xfrm>
            <a:off x="5577840" y="1325880"/>
            <a:ext cx="2880360" cy="457200"/>
          </a:xfrm>
          <a:prstGeom prst="rect">
            <a:avLst/>
          </a:prstGeom>
          <a:noFill/>
          <a:ln/>
        </p:spPr>
        <p:txBody>
          <a:bodyPr wrap="square" rtlCol="0" anchor="ctr"/>
          <a:lstStyle/>
          <a:p>
            <a:pPr marL="0" indent="0">
              <a:buNone/>
            </a:pPr>
            <a:r>
              <a:rPr lang="en-US" sz="1600" b="1" dirty="0">
                <a:solidFill>
                  <a:srgbClr val="2F3C7E"/>
                </a:solidFill>
              </a:rPr>
              <a:t>Improved Learning Efficiency</a:t>
            </a:r>
            <a:endParaRPr lang="en-US" sz="1600" dirty="0"/>
          </a:p>
        </p:txBody>
      </p:sp>
      <p:sp>
        <p:nvSpPr>
          <p:cNvPr id="12" name="Text 8"/>
          <p:cNvSpPr/>
          <p:nvPr/>
        </p:nvSpPr>
        <p:spPr>
          <a:xfrm>
            <a:off x="4983480" y="1874520"/>
            <a:ext cx="3474720" cy="502920"/>
          </a:xfrm>
          <a:prstGeom prst="rect">
            <a:avLst/>
          </a:prstGeom>
          <a:noFill/>
          <a:ln/>
        </p:spPr>
        <p:txBody>
          <a:bodyPr wrap="square" rtlCol="0" anchor="ctr"/>
          <a:lstStyle/>
          <a:p>
            <a:pPr marL="0" indent="0">
              <a:lnSpc>
                <a:spcPts val="1600"/>
              </a:lnSpc>
              <a:buNone/>
            </a:pPr>
            <a:r>
              <a:rPr lang="en-US" sz="1200" dirty="0">
                <a:solidFill>
                  <a:srgbClr val="666666"/>
                </a:solidFill>
              </a:rPr>
              <a:t>Reduced time spent searching for courses, allowing learners to focus on skill development and knowledge acquisition</a:t>
            </a:r>
            <a:endParaRPr lang="en-US" sz="1200" dirty="0"/>
          </a:p>
        </p:txBody>
      </p:sp>
      <p:sp>
        <p:nvSpPr>
          <p:cNvPr id="13" name="Shape 9"/>
          <p:cNvSpPr/>
          <p:nvPr/>
        </p:nvSpPr>
        <p:spPr>
          <a:xfrm>
            <a:off x="457200" y="2743200"/>
            <a:ext cx="3931920" cy="1371600"/>
          </a:xfrm>
          <a:prstGeom prst="rect">
            <a:avLst/>
          </a:prstGeom>
          <a:solidFill>
            <a:srgbClr val="FFFFFF"/>
          </a:solidFill>
          <a:ln/>
          <a:effectLst>
            <a:outerShdw blurRad="76200" dist="25400" dir="8100000" algn="bl" rotWithShape="0">
              <a:srgbClr val="000000">
                <a:alpha val="10000"/>
              </a:srgbClr>
            </a:outerShdw>
          </a:effectLst>
        </p:spPr>
      </p:sp>
      <p:sp>
        <p:nvSpPr>
          <p:cNvPr id="14" name="Shape 10"/>
          <p:cNvSpPr/>
          <p:nvPr/>
        </p:nvSpPr>
        <p:spPr>
          <a:xfrm>
            <a:off x="685800" y="2971800"/>
            <a:ext cx="457200" cy="457200"/>
          </a:xfrm>
          <a:prstGeom prst="ellipse">
            <a:avLst/>
          </a:prstGeom>
          <a:solidFill>
            <a:srgbClr val="02C39A"/>
          </a:solidFill>
          <a:ln/>
        </p:spPr>
      </p:sp>
      <p:pic>
        <p:nvPicPr>
          <p:cNvPr id="15" name="Image 2" descr="preencoded.png"/>
          <p:cNvPicPr>
            <a:picLocks noChangeAspect="1"/>
          </p:cNvPicPr>
          <p:nvPr/>
        </p:nvPicPr>
        <p:blipFill>
          <a:blip r:embed="rId5"/>
          <a:stretch>
            <a:fillRect/>
          </a:stretch>
        </p:blipFill>
        <p:spPr>
          <a:xfrm>
            <a:off x="749808" y="3035808"/>
            <a:ext cx="329184" cy="329184"/>
          </a:xfrm>
          <a:prstGeom prst="rect">
            <a:avLst/>
          </a:prstGeom>
        </p:spPr>
      </p:pic>
      <p:sp>
        <p:nvSpPr>
          <p:cNvPr id="16" name="Text 11"/>
          <p:cNvSpPr/>
          <p:nvPr/>
        </p:nvSpPr>
        <p:spPr>
          <a:xfrm>
            <a:off x="1280160" y="2971800"/>
            <a:ext cx="2880360" cy="457200"/>
          </a:xfrm>
          <a:prstGeom prst="rect">
            <a:avLst/>
          </a:prstGeom>
          <a:noFill/>
          <a:ln/>
        </p:spPr>
        <p:txBody>
          <a:bodyPr wrap="square" rtlCol="0" anchor="ctr"/>
          <a:lstStyle/>
          <a:p>
            <a:pPr marL="0" indent="0">
              <a:buNone/>
            </a:pPr>
            <a:r>
              <a:rPr lang="en-US" sz="1600" b="1" dirty="0">
                <a:solidFill>
                  <a:srgbClr val="2F3C7E"/>
                </a:solidFill>
              </a:rPr>
              <a:t>Higher Enrollment Rates</a:t>
            </a:r>
            <a:endParaRPr lang="en-US" sz="1600" dirty="0"/>
          </a:p>
        </p:txBody>
      </p:sp>
      <p:sp>
        <p:nvSpPr>
          <p:cNvPr id="17" name="Text 12"/>
          <p:cNvSpPr/>
          <p:nvPr/>
        </p:nvSpPr>
        <p:spPr>
          <a:xfrm>
            <a:off x="685800" y="3520440"/>
            <a:ext cx="3474720" cy="502920"/>
          </a:xfrm>
          <a:prstGeom prst="rect">
            <a:avLst/>
          </a:prstGeom>
          <a:noFill/>
          <a:ln/>
        </p:spPr>
        <p:txBody>
          <a:bodyPr wrap="square" rtlCol="0" anchor="ctr"/>
          <a:lstStyle/>
          <a:p>
            <a:pPr marL="0" indent="0">
              <a:lnSpc>
                <a:spcPts val="1600"/>
              </a:lnSpc>
              <a:buNone/>
            </a:pPr>
            <a:r>
              <a:rPr lang="en-US" sz="1200" dirty="0">
                <a:solidFill>
                  <a:srgbClr val="666666"/>
                </a:solidFill>
              </a:rPr>
              <a:t>Better course-learner matching leads to increased enrollment numbers and platform growth</a:t>
            </a:r>
            <a:endParaRPr lang="en-US" sz="1200" dirty="0"/>
          </a:p>
        </p:txBody>
      </p:sp>
      <p:sp>
        <p:nvSpPr>
          <p:cNvPr id="18" name="Shape 13"/>
          <p:cNvSpPr/>
          <p:nvPr/>
        </p:nvSpPr>
        <p:spPr>
          <a:xfrm>
            <a:off x="4754880" y="2743200"/>
            <a:ext cx="3931920" cy="1371600"/>
          </a:xfrm>
          <a:prstGeom prst="rect">
            <a:avLst/>
          </a:prstGeom>
          <a:solidFill>
            <a:srgbClr val="FFFFFF"/>
          </a:solidFill>
          <a:ln/>
          <a:effectLst>
            <a:outerShdw blurRad="76200" dist="25400" dir="8100000" algn="bl" rotWithShape="0">
              <a:srgbClr val="000000">
                <a:alpha val="10000"/>
              </a:srgbClr>
            </a:outerShdw>
          </a:effectLst>
        </p:spPr>
      </p:sp>
      <p:sp>
        <p:nvSpPr>
          <p:cNvPr id="19" name="Shape 14"/>
          <p:cNvSpPr/>
          <p:nvPr/>
        </p:nvSpPr>
        <p:spPr>
          <a:xfrm>
            <a:off x="4983480" y="2971800"/>
            <a:ext cx="457200" cy="457200"/>
          </a:xfrm>
          <a:prstGeom prst="ellipse">
            <a:avLst/>
          </a:prstGeom>
          <a:solidFill>
            <a:srgbClr val="028090"/>
          </a:solidFill>
          <a:ln/>
        </p:spPr>
      </p:sp>
      <p:pic>
        <p:nvPicPr>
          <p:cNvPr id="20" name="Image 3" descr="preencoded.png"/>
          <p:cNvPicPr>
            <a:picLocks noChangeAspect="1"/>
          </p:cNvPicPr>
          <p:nvPr/>
        </p:nvPicPr>
        <p:blipFill>
          <a:blip r:embed="rId6"/>
          <a:stretch>
            <a:fillRect/>
          </a:stretch>
        </p:blipFill>
        <p:spPr>
          <a:xfrm>
            <a:off x="5047488" y="3035808"/>
            <a:ext cx="329184" cy="329184"/>
          </a:xfrm>
          <a:prstGeom prst="rect">
            <a:avLst/>
          </a:prstGeom>
        </p:spPr>
      </p:pic>
      <p:sp>
        <p:nvSpPr>
          <p:cNvPr id="21" name="Text 15"/>
          <p:cNvSpPr/>
          <p:nvPr/>
        </p:nvSpPr>
        <p:spPr>
          <a:xfrm>
            <a:off x="5577840" y="2971800"/>
            <a:ext cx="2880360" cy="457200"/>
          </a:xfrm>
          <a:prstGeom prst="rect">
            <a:avLst/>
          </a:prstGeom>
          <a:noFill/>
          <a:ln/>
        </p:spPr>
        <p:txBody>
          <a:bodyPr wrap="square" rtlCol="0" anchor="ctr"/>
          <a:lstStyle/>
          <a:p>
            <a:pPr marL="0" indent="0">
              <a:buNone/>
            </a:pPr>
            <a:r>
              <a:rPr lang="en-US" sz="1600" b="1" dirty="0">
                <a:solidFill>
                  <a:srgbClr val="2F3C7E"/>
                </a:solidFill>
              </a:rPr>
              <a:t>Data-Driven Insights</a:t>
            </a:r>
            <a:endParaRPr lang="en-US" sz="1600" dirty="0"/>
          </a:p>
        </p:txBody>
      </p:sp>
      <p:sp>
        <p:nvSpPr>
          <p:cNvPr id="22" name="Text 16"/>
          <p:cNvSpPr/>
          <p:nvPr/>
        </p:nvSpPr>
        <p:spPr>
          <a:xfrm>
            <a:off x="4983480" y="3520440"/>
            <a:ext cx="3474720" cy="502920"/>
          </a:xfrm>
          <a:prstGeom prst="rect">
            <a:avLst/>
          </a:prstGeom>
          <a:noFill/>
          <a:ln/>
        </p:spPr>
        <p:txBody>
          <a:bodyPr wrap="square" rtlCol="0" anchor="ctr"/>
          <a:lstStyle/>
          <a:p>
            <a:pPr marL="0" indent="0">
              <a:lnSpc>
                <a:spcPts val="1600"/>
              </a:lnSpc>
              <a:buNone/>
            </a:pPr>
            <a:r>
              <a:rPr lang="en-US" sz="1200" dirty="0">
                <a:solidFill>
                  <a:srgbClr val="666666"/>
                </a:solidFill>
              </a:rPr>
              <a:t>Analytics on user preferences and course performance enable continuous platform optimization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199" y="274320"/>
            <a:ext cx="6897189" cy="457200"/>
          </a:xfrm>
          <a:prstGeom prst="rect">
            <a:avLst/>
          </a:prstGeom>
          <a:noFill/>
          <a:ln/>
        </p:spPr>
        <p:txBody>
          <a:bodyPr wrap="square" lIns="0" tIns="0" rIns="0" bIns="0" rtlCol="0" anchor="ctr"/>
          <a:lstStyle/>
          <a:p>
            <a:pPr marL="0" indent="0">
              <a:buNone/>
            </a:pPr>
            <a:r>
              <a:rPr lang="en-US" sz="3600" b="1" dirty="0">
                <a:solidFill>
                  <a:srgbClr val="2F3C7E"/>
                </a:solidFill>
              </a:rPr>
              <a:t>EXPLORATORY DATA ANALYSIS</a:t>
            </a:r>
            <a:endParaRPr lang="en-US" sz="3600" dirty="0"/>
          </a:p>
        </p:txBody>
      </p:sp>
      <p:sp>
        <p:nvSpPr>
          <p:cNvPr id="3" name="Text 1"/>
          <p:cNvSpPr/>
          <p:nvPr/>
        </p:nvSpPr>
        <p:spPr>
          <a:xfrm>
            <a:off x="6400800" y="320040"/>
            <a:ext cx="2286000" cy="365760"/>
          </a:xfrm>
          <a:prstGeom prst="rect">
            <a:avLst/>
          </a:prstGeom>
          <a:noFill/>
          <a:ln/>
        </p:spPr>
        <p:txBody>
          <a:bodyPr wrap="square" rtlCol="0" anchor="ctr"/>
          <a:lstStyle/>
          <a:p>
            <a:pPr marL="0" indent="0" algn="r">
              <a:buNone/>
            </a:pPr>
            <a:r>
              <a:rPr lang="en-US" sz="1800" i="1" dirty="0">
                <a:solidFill>
                  <a:srgbClr val="028090"/>
                </a:solidFill>
              </a:rPr>
              <a:t>Dataset Overview</a:t>
            </a:r>
            <a:endParaRPr lang="en-US" sz="1800" dirty="0"/>
          </a:p>
        </p:txBody>
      </p:sp>
      <p:sp>
        <p:nvSpPr>
          <p:cNvPr id="4" name="Shape 2"/>
          <p:cNvSpPr/>
          <p:nvPr/>
        </p:nvSpPr>
        <p:spPr>
          <a:xfrm>
            <a:off x="457200" y="1005840"/>
            <a:ext cx="4114800" cy="3474720"/>
          </a:xfrm>
          <a:prstGeom prst="rect">
            <a:avLst/>
          </a:prstGeom>
          <a:solidFill>
            <a:srgbClr val="FFFFFF"/>
          </a:solidFill>
          <a:ln/>
          <a:effectLst>
            <a:outerShdw blurRad="76200" dist="25400" dir="8100000" algn="bl" rotWithShape="0">
              <a:srgbClr val="000000">
                <a:alpha val="8000"/>
              </a:srgbClr>
            </a:outerShdw>
          </a:effectLst>
        </p:spPr>
      </p:sp>
      <p:pic>
        <p:nvPicPr>
          <p:cNvPr id="5" name="Image 0" descr="preencoded.png"/>
          <p:cNvPicPr>
            <a:picLocks noChangeAspect="1"/>
          </p:cNvPicPr>
          <p:nvPr/>
        </p:nvPicPr>
        <p:blipFill>
          <a:blip r:embed="rId3"/>
          <a:stretch>
            <a:fillRect/>
          </a:stretch>
        </p:blipFill>
        <p:spPr>
          <a:xfrm>
            <a:off x="731520" y="1280160"/>
            <a:ext cx="457200" cy="457200"/>
          </a:xfrm>
          <a:prstGeom prst="rect">
            <a:avLst/>
          </a:prstGeom>
        </p:spPr>
      </p:pic>
      <p:sp>
        <p:nvSpPr>
          <p:cNvPr id="6" name="Text 3"/>
          <p:cNvSpPr/>
          <p:nvPr/>
        </p:nvSpPr>
        <p:spPr>
          <a:xfrm>
            <a:off x="1280160" y="1325880"/>
            <a:ext cx="3017520" cy="365760"/>
          </a:xfrm>
          <a:prstGeom prst="rect">
            <a:avLst/>
          </a:prstGeom>
          <a:noFill/>
          <a:ln/>
        </p:spPr>
        <p:txBody>
          <a:bodyPr wrap="square" rtlCol="0" anchor="ctr"/>
          <a:lstStyle/>
          <a:p>
            <a:pPr marL="0" indent="0">
              <a:buNone/>
            </a:pPr>
            <a:r>
              <a:rPr lang="en-US" sz="2000" b="1" dirty="0">
                <a:solidFill>
                  <a:srgbClr val="2F3C7E"/>
                </a:solidFill>
              </a:rPr>
              <a:t>Dataset Composition</a:t>
            </a:r>
            <a:endParaRPr lang="en-US" sz="2000" dirty="0"/>
          </a:p>
        </p:txBody>
      </p:sp>
      <p:sp>
        <p:nvSpPr>
          <p:cNvPr id="7" name="Text 4"/>
          <p:cNvSpPr/>
          <p:nvPr/>
        </p:nvSpPr>
        <p:spPr>
          <a:xfrm>
            <a:off x="822960" y="1920240"/>
            <a:ext cx="3566160" cy="320040"/>
          </a:xfrm>
          <a:prstGeom prst="rect">
            <a:avLst/>
          </a:prstGeom>
          <a:noFill/>
          <a:ln/>
        </p:spPr>
        <p:txBody>
          <a:bodyPr wrap="square" rtlCol="0" anchor="ctr"/>
          <a:lstStyle/>
          <a:p>
            <a:pPr marL="0" indent="0">
              <a:lnSpc>
                <a:spcPts val="1800"/>
              </a:lnSpc>
              <a:buNone/>
            </a:pPr>
            <a:r>
              <a:rPr lang="en-US" sz="1200" b="1" dirty="0">
                <a:solidFill>
                  <a:srgbClr val="028090"/>
                </a:solidFill>
              </a:rPr>
              <a:t>Total Records: </a:t>
            </a:r>
            <a:r>
              <a:rPr lang="en-US" sz="1200" b="1" dirty="0">
                <a:solidFill>
                  <a:srgbClr val="666666"/>
                </a:solidFill>
              </a:rPr>
              <a:t>1</a:t>
            </a:r>
            <a:r>
              <a:rPr lang="en-US" sz="1200" dirty="0">
                <a:solidFill>
                  <a:srgbClr val="666666"/>
                </a:solidFill>
              </a:rPr>
              <a:t>0,000 user-course interactions</a:t>
            </a:r>
            <a:endParaRPr lang="en-US" sz="1200" dirty="0"/>
          </a:p>
        </p:txBody>
      </p:sp>
      <p:sp>
        <p:nvSpPr>
          <p:cNvPr id="8" name="Text 5"/>
          <p:cNvSpPr/>
          <p:nvPr/>
        </p:nvSpPr>
        <p:spPr>
          <a:xfrm>
            <a:off x="822960" y="2168438"/>
            <a:ext cx="3566160" cy="320040"/>
          </a:xfrm>
          <a:prstGeom prst="rect">
            <a:avLst/>
          </a:prstGeom>
          <a:noFill/>
          <a:ln/>
        </p:spPr>
        <p:txBody>
          <a:bodyPr wrap="square" rtlCol="0" anchor="ctr"/>
          <a:lstStyle/>
          <a:p>
            <a:pPr marL="0" indent="0">
              <a:lnSpc>
                <a:spcPts val="1800"/>
              </a:lnSpc>
              <a:buNone/>
            </a:pPr>
            <a:r>
              <a:rPr lang="en-US" sz="1200" b="1" dirty="0">
                <a:solidFill>
                  <a:srgbClr val="028090"/>
                </a:solidFill>
              </a:rPr>
              <a:t>Features: </a:t>
            </a:r>
            <a:r>
              <a:rPr lang="en-US" sz="1200" dirty="0">
                <a:solidFill>
                  <a:srgbClr val="666666"/>
                </a:solidFill>
              </a:rPr>
              <a:t>14 attributes (numeric and categorical)</a:t>
            </a:r>
            <a:endParaRPr lang="en-US" sz="1200" dirty="0"/>
          </a:p>
        </p:txBody>
      </p:sp>
      <p:sp>
        <p:nvSpPr>
          <p:cNvPr id="9" name="Text 6"/>
          <p:cNvSpPr/>
          <p:nvPr/>
        </p:nvSpPr>
        <p:spPr>
          <a:xfrm>
            <a:off x="822960" y="2534198"/>
            <a:ext cx="3566160" cy="320040"/>
          </a:xfrm>
          <a:prstGeom prst="rect">
            <a:avLst/>
          </a:prstGeom>
          <a:noFill/>
          <a:ln/>
        </p:spPr>
        <p:txBody>
          <a:bodyPr wrap="square" rtlCol="0" anchor="ctr"/>
          <a:lstStyle/>
          <a:p>
            <a:pPr marL="0" indent="0">
              <a:lnSpc>
                <a:spcPts val="1800"/>
              </a:lnSpc>
              <a:buNone/>
            </a:pPr>
            <a:r>
              <a:rPr lang="en-US" sz="1200" b="1" dirty="0">
                <a:solidFill>
                  <a:srgbClr val="028090"/>
                </a:solidFill>
              </a:rPr>
              <a:t>Target Variable: </a:t>
            </a:r>
            <a:r>
              <a:rPr lang="en-US" sz="1200" dirty="0">
                <a:solidFill>
                  <a:srgbClr val="666666"/>
                </a:solidFill>
              </a:rPr>
              <a:t>Course recommendations based on patterns</a:t>
            </a:r>
            <a:endParaRPr lang="en-US" sz="1200" dirty="0"/>
          </a:p>
        </p:txBody>
      </p:sp>
      <p:sp>
        <p:nvSpPr>
          <p:cNvPr id="10" name="Text 7"/>
          <p:cNvSpPr/>
          <p:nvPr/>
        </p:nvSpPr>
        <p:spPr>
          <a:xfrm>
            <a:off x="822960" y="2899958"/>
            <a:ext cx="3566160" cy="320040"/>
          </a:xfrm>
          <a:prstGeom prst="rect">
            <a:avLst/>
          </a:prstGeom>
          <a:noFill/>
          <a:ln/>
        </p:spPr>
        <p:txBody>
          <a:bodyPr wrap="square" rtlCol="0" anchor="ctr"/>
          <a:lstStyle/>
          <a:p>
            <a:pPr marL="0" indent="0">
              <a:lnSpc>
                <a:spcPts val="1800"/>
              </a:lnSpc>
              <a:buNone/>
            </a:pPr>
            <a:r>
              <a:rPr lang="en-US" sz="1200" b="1" dirty="0">
                <a:solidFill>
                  <a:srgbClr val="028090"/>
                </a:solidFill>
              </a:rPr>
              <a:t>Data Quality: </a:t>
            </a:r>
            <a:r>
              <a:rPr lang="en-US" sz="1200" dirty="0">
                <a:solidFill>
                  <a:srgbClr val="666666"/>
                </a:solidFill>
              </a:rPr>
              <a:t>Minimal missing values (1.8%)</a:t>
            </a:r>
            <a:endParaRPr lang="en-US" sz="1200" dirty="0"/>
          </a:p>
        </p:txBody>
      </p:sp>
      <p:sp>
        <p:nvSpPr>
          <p:cNvPr id="11" name="Shape 8"/>
          <p:cNvSpPr/>
          <p:nvPr/>
        </p:nvSpPr>
        <p:spPr>
          <a:xfrm>
            <a:off x="731520" y="3311439"/>
            <a:ext cx="3566160" cy="923544"/>
          </a:xfrm>
          <a:prstGeom prst="rect">
            <a:avLst/>
          </a:prstGeom>
          <a:solidFill>
            <a:srgbClr val="028090">
              <a:alpha val="90000"/>
            </a:srgbClr>
          </a:solidFill>
          <a:ln/>
        </p:spPr>
      </p:sp>
      <p:sp>
        <p:nvSpPr>
          <p:cNvPr id="12" name="Text 9"/>
          <p:cNvSpPr/>
          <p:nvPr/>
        </p:nvSpPr>
        <p:spPr>
          <a:xfrm>
            <a:off x="914400" y="3376100"/>
            <a:ext cx="3200400" cy="228600"/>
          </a:xfrm>
          <a:prstGeom prst="rect">
            <a:avLst/>
          </a:prstGeom>
          <a:noFill/>
          <a:ln/>
        </p:spPr>
        <p:txBody>
          <a:bodyPr wrap="square" rtlCol="0" anchor="ctr"/>
          <a:lstStyle/>
          <a:p>
            <a:pPr marL="0" indent="0">
              <a:buNone/>
            </a:pPr>
            <a:r>
              <a:rPr lang="en-US" sz="1300" b="1" dirty="0">
                <a:solidFill>
                  <a:schemeClr val="bg1"/>
                </a:solidFill>
              </a:rPr>
              <a:t>Key Insight</a:t>
            </a:r>
            <a:endParaRPr lang="en-US" sz="1300" dirty="0">
              <a:solidFill>
                <a:schemeClr val="bg1"/>
              </a:solidFill>
            </a:endParaRPr>
          </a:p>
        </p:txBody>
      </p:sp>
      <p:sp>
        <p:nvSpPr>
          <p:cNvPr id="13" name="Text 10"/>
          <p:cNvSpPr/>
          <p:nvPr/>
        </p:nvSpPr>
        <p:spPr>
          <a:xfrm>
            <a:off x="914400" y="3677199"/>
            <a:ext cx="3200400" cy="365760"/>
          </a:xfrm>
          <a:prstGeom prst="rect">
            <a:avLst/>
          </a:prstGeom>
          <a:noFill/>
          <a:ln/>
        </p:spPr>
        <p:txBody>
          <a:bodyPr wrap="square" rtlCol="0" anchor="ctr"/>
          <a:lstStyle/>
          <a:p>
            <a:pPr marL="0" indent="0">
              <a:lnSpc>
                <a:spcPts val="1400"/>
              </a:lnSpc>
              <a:buNone/>
            </a:pPr>
            <a:r>
              <a:rPr lang="en-US" sz="1100" dirty="0">
                <a:solidFill>
                  <a:schemeClr val="bg1"/>
                </a:solidFill>
              </a:rPr>
              <a:t>Clean dataset with well-distributed features across difficulty levels, ratings, and user engagement metrics</a:t>
            </a:r>
          </a:p>
        </p:txBody>
      </p:sp>
      <p:sp>
        <p:nvSpPr>
          <p:cNvPr id="14" name="Shape 11"/>
          <p:cNvSpPr/>
          <p:nvPr/>
        </p:nvSpPr>
        <p:spPr>
          <a:xfrm>
            <a:off x="4846320" y="1005840"/>
            <a:ext cx="3840480" cy="3474720"/>
          </a:xfrm>
          <a:prstGeom prst="rect">
            <a:avLst/>
          </a:prstGeom>
          <a:solidFill>
            <a:srgbClr val="FFFFFF"/>
          </a:solidFill>
          <a:ln/>
          <a:effectLst>
            <a:outerShdw blurRad="76200" dist="25400" dir="8100000" algn="bl" rotWithShape="0">
              <a:srgbClr val="000000">
                <a:alpha val="8000"/>
              </a:srgbClr>
            </a:outerShdw>
          </a:effectLst>
        </p:spPr>
      </p:sp>
      <p:sp>
        <p:nvSpPr>
          <p:cNvPr id="15" name="Text 12"/>
          <p:cNvSpPr/>
          <p:nvPr/>
        </p:nvSpPr>
        <p:spPr>
          <a:xfrm>
            <a:off x="5016138" y="1156066"/>
            <a:ext cx="3474720" cy="365760"/>
          </a:xfrm>
          <a:prstGeom prst="rect">
            <a:avLst/>
          </a:prstGeom>
          <a:noFill/>
          <a:ln/>
        </p:spPr>
        <p:txBody>
          <a:bodyPr wrap="square" rtlCol="0" anchor="ctr"/>
          <a:lstStyle/>
          <a:p>
            <a:pPr marL="0" indent="0" algn="ctr">
              <a:buNone/>
            </a:pPr>
            <a:r>
              <a:rPr lang="en-US" sz="1800" b="1" dirty="0">
                <a:solidFill>
                  <a:srgbClr val="2F3C7E"/>
                </a:solidFill>
              </a:rPr>
              <a:t>Feature Categories </a:t>
            </a:r>
            <a:endParaRPr lang="en-US" sz="1800" dirty="0"/>
          </a:p>
        </p:txBody>
      </p:sp>
      <p:sp>
        <p:nvSpPr>
          <p:cNvPr id="16" name="Shape 13"/>
          <p:cNvSpPr/>
          <p:nvPr/>
        </p:nvSpPr>
        <p:spPr>
          <a:xfrm>
            <a:off x="5016138" y="1645921"/>
            <a:ext cx="3474720" cy="64008"/>
          </a:xfrm>
          <a:prstGeom prst="rect">
            <a:avLst/>
          </a:prstGeom>
          <a:solidFill>
            <a:srgbClr val="028090"/>
          </a:solidFill>
          <a:ln/>
        </p:spPr>
      </p:sp>
      <p:sp>
        <p:nvSpPr>
          <p:cNvPr id="17" name="Text 14"/>
          <p:cNvSpPr/>
          <p:nvPr/>
        </p:nvSpPr>
        <p:spPr>
          <a:xfrm>
            <a:off x="5009607" y="1770021"/>
            <a:ext cx="3474720" cy="228600"/>
          </a:xfrm>
          <a:prstGeom prst="rect">
            <a:avLst/>
          </a:prstGeom>
          <a:noFill/>
          <a:ln/>
        </p:spPr>
        <p:txBody>
          <a:bodyPr wrap="square" rtlCol="0" anchor="ctr"/>
          <a:lstStyle/>
          <a:p>
            <a:pPr marL="0" indent="0">
              <a:buNone/>
            </a:pPr>
            <a:r>
              <a:rPr lang="en-US" sz="1300" b="1" dirty="0">
                <a:solidFill>
                  <a:srgbClr val="2F3C7E"/>
                </a:solidFill>
              </a:rPr>
              <a:t>Course Attributes</a:t>
            </a:r>
            <a:endParaRPr lang="en-US" sz="1300" dirty="0"/>
          </a:p>
        </p:txBody>
      </p:sp>
      <p:sp>
        <p:nvSpPr>
          <p:cNvPr id="18" name="Text 15"/>
          <p:cNvSpPr/>
          <p:nvPr/>
        </p:nvSpPr>
        <p:spPr>
          <a:xfrm>
            <a:off x="5016138" y="1920244"/>
            <a:ext cx="3474720" cy="292608"/>
          </a:xfrm>
          <a:prstGeom prst="rect">
            <a:avLst/>
          </a:prstGeom>
          <a:noFill/>
          <a:ln/>
        </p:spPr>
        <p:txBody>
          <a:bodyPr wrap="square" rtlCol="0" anchor="ctr"/>
          <a:lstStyle/>
          <a:p>
            <a:pPr marL="0" indent="0">
              <a:lnSpc>
                <a:spcPts val="1400"/>
              </a:lnSpc>
              <a:buNone/>
            </a:pPr>
            <a:r>
              <a:rPr lang="en-US" sz="1000" dirty="0">
                <a:solidFill>
                  <a:srgbClr val="666666"/>
                </a:solidFill>
              </a:rPr>
              <a:t>course_name, instructor, duration, difficulty_level, rating</a:t>
            </a:r>
            <a:endParaRPr lang="en-US" sz="1000" dirty="0"/>
          </a:p>
        </p:txBody>
      </p:sp>
      <p:sp>
        <p:nvSpPr>
          <p:cNvPr id="19" name="Shape 16"/>
          <p:cNvSpPr/>
          <p:nvPr/>
        </p:nvSpPr>
        <p:spPr>
          <a:xfrm>
            <a:off x="5022669" y="2280781"/>
            <a:ext cx="3474720" cy="64008"/>
          </a:xfrm>
          <a:prstGeom prst="rect">
            <a:avLst/>
          </a:prstGeom>
          <a:solidFill>
            <a:srgbClr val="00A896"/>
          </a:solidFill>
          <a:ln/>
        </p:spPr>
      </p:sp>
      <p:sp>
        <p:nvSpPr>
          <p:cNvPr id="20" name="Text 17"/>
          <p:cNvSpPr/>
          <p:nvPr/>
        </p:nvSpPr>
        <p:spPr>
          <a:xfrm>
            <a:off x="5016138" y="2417935"/>
            <a:ext cx="3474720" cy="228600"/>
          </a:xfrm>
          <a:prstGeom prst="rect">
            <a:avLst/>
          </a:prstGeom>
          <a:noFill/>
          <a:ln/>
        </p:spPr>
        <p:txBody>
          <a:bodyPr wrap="square" rtlCol="0" anchor="ctr"/>
          <a:lstStyle/>
          <a:p>
            <a:pPr marL="0" indent="0">
              <a:buNone/>
            </a:pPr>
            <a:r>
              <a:rPr lang="en-US" sz="1300" b="1" dirty="0">
                <a:solidFill>
                  <a:srgbClr val="2F3C7E"/>
                </a:solidFill>
              </a:rPr>
              <a:t>Engagement Metrics</a:t>
            </a:r>
            <a:endParaRPr lang="en-US" sz="1300" dirty="0"/>
          </a:p>
        </p:txBody>
      </p:sp>
      <p:sp>
        <p:nvSpPr>
          <p:cNvPr id="21" name="Text 18"/>
          <p:cNvSpPr/>
          <p:nvPr/>
        </p:nvSpPr>
        <p:spPr>
          <a:xfrm>
            <a:off x="5009607" y="2633484"/>
            <a:ext cx="3474720" cy="246882"/>
          </a:xfrm>
          <a:prstGeom prst="rect">
            <a:avLst/>
          </a:prstGeom>
          <a:noFill/>
          <a:ln/>
        </p:spPr>
        <p:txBody>
          <a:bodyPr wrap="square" rtlCol="0" anchor="ctr"/>
          <a:lstStyle/>
          <a:p>
            <a:pPr marL="0" indent="0">
              <a:lnSpc>
                <a:spcPts val="1400"/>
              </a:lnSpc>
              <a:buNone/>
            </a:pPr>
            <a:r>
              <a:rPr lang="en-US" sz="1000" dirty="0">
                <a:solidFill>
                  <a:srgbClr val="666666"/>
                </a:solidFill>
              </a:rPr>
              <a:t>enrollment_numbers, time_spent_hours, feedback_score</a:t>
            </a:r>
            <a:endParaRPr lang="en-US" sz="1000" dirty="0"/>
          </a:p>
        </p:txBody>
      </p:sp>
      <p:sp>
        <p:nvSpPr>
          <p:cNvPr id="22" name="Shape 19"/>
          <p:cNvSpPr/>
          <p:nvPr/>
        </p:nvSpPr>
        <p:spPr>
          <a:xfrm>
            <a:off x="5016138" y="2935233"/>
            <a:ext cx="3474720" cy="64008"/>
          </a:xfrm>
          <a:prstGeom prst="rect">
            <a:avLst/>
          </a:prstGeom>
          <a:solidFill>
            <a:srgbClr val="02C39A"/>
          </a:solidFill>
          <a:ln/>
        </p:spPr>
      </p:sp>
      <p:sp>
        <p:nvSpPr>
          <p:cNvPr id="23" name="Text 20"/>
          <p:cNvSpPr/>
          <p:nvPr/>
        </p:nvSpPr>
        <p:spPr>
          <a:xfrm>
            <a:off x="5009607" y="3099163"/>
            <a:ext cx="3474720" cy="228600"/>
          </a:xfrm>
          <a:prstGeom prst="rect">
            <a:avLst/>
          </a:prstGeom>
          <a:noFill/>
          <a:ln/>
        </p:spPr>
        <p:txBody>
          <a:bodyPr wrap="square" rtlCol="0" anchor="ctr"/>
          <a:lstStyle/>
          <a:p>
            <a:pPr marL="0" indent="0">
              <a:buNone/>
            </a:pPr>
            <a:r>
              <a:rPr lang="en-US" sz="1300" b="1" dirty="0">
                <a:solidFill>
                  <a:srgbClr val="2F3C7E"/>
                </a:solidFill>
              </a:rPr>
              <a:t>User Profile</a:t>
            </a:r>
            <a:endParaRPr lang="en-US" sz="1300" dirty="0"/>
          </a:p>
        </p:txBody>
      </p:sp>
      <p:sp>
        <p:nvSpPr>
          <p:cNvPr id="24" name="Text 21"/>
          <p:cNvSpPr/>
          <p:nvPr/>
        </p:nvSpPr>
        <p:spPr>
          <a:xfrm>
            <a:off x="5009607" y="3276185"/>
            <a:ext cx="3474720" cy="274320"/>
          </a:xfrm>
          <a:prstGeom prst="rect">
            <a:avLst/>
          </a:prstGeom>
          <a:noFill/>
          <a:ln/>
        </p:spPr>
        <p:txBody>
          <a:bodyPr wrap="square" rtlCol="0" anchor="ctr"/>
          <a:lstStyle/>
          <a:p>
            <a:pPr marL="0" indent="0">
              <a:lnSpc>
                <a:spcPts val="1400"/>
              </a:lnSpc>
              <a:buNone/>
            </a:pPr>
            <a:r>
              <a:rPr lang="en-US" sz="1000" dirty="0">
                <a:solidFill>
                  <a:srgbClr val="666666"/>
                </a:solidFill>
              </a:rPr>
              <a:t>user_id, previous_courses_taken</a:t>
            </a:r>
            <a:endParaRPr lang="en-US" sz="1000" dirty="0"/>
          </a:p>
        </p:txBody>
      </p:sp>
      <p:sp>
        <p:nvSpPr>
          <p:cNvPr id="25" name="Shape 22"/>
          <p:cNvSpPr/>
          <p:nvPr/>
        </p:nvSpPr>
        <p:spPr>
          <a:xfrm>
            <a:off x="5009607" y="3633452"/>
            <a:ext cx="3474720" cy="64008"/>
          </a:xfrm>
          <a:prstGeom prst="rect">
            <a:avLst/>
          </a:prstGeom>
          <a:solidFill>
            <a:srgbClr val="028090"/>
          </a:solidFill>
          <a:ln/>
        </p:spPr>
      </p:sp>
      <p:sp>
        <p:nvSpPr>
          <p:cNvPr id="26" name="Text 23"/>
          <p:cNvSpPr/>
          <p:nvPr/>
        </p:nvSpPr>
        <p:spPr>
          <a:xfrm>
            <a:off x="5016138" y="3756245"/>
            <a:ext cx="3474720" cy="228600"/>
          </a:xfrm>
          <a:prstGeom prst="rect">
            <a:avLst/>
          </a:prstGeom>
          <a:noFill/>
          <a:ln/>
        </p:spPr>
        <p:txBody>
          <a:bodyPr wrap="square" rtlCol="0" anchor="ctr"/>
          <a:lstStyle/>
          <a:p>
            <a:pPr marL="0" indent="0">
              <a:buNone/>
            </a:pPr>
            <a:r>
              <a:rPr lang="en-US" sz="1300" b="1" dirty="0">
                <a:solidFill>
                  <a:srgbClr val="2F3C7E"/>
                </a:solidFill>
              </a:rPr>
              <a:t>Course Features</a:t>
            </a:r>
            <a:endParaRPr lang="en-US" sz="1300" dirty="0"/>
          </a:p>
        </p:txBody>
      </p:sp>
      <p:sp>
        <p:nvSpPr>
          <p:cNvPr id="27" name="Text 24"/>
          <p:cNvSpPr/>
          <p:nvPr/>
        </p:nvSpPr>
        <p:spPr>
          <a:xfrm>
            <a:off x="5022669" y="3870545"/>
            <a:ext cx="3474720" cy="457200"/>
          </a:xfrm>
          <a:prstGeom prst="rect">
            <a:avLst/>
          </a:prstGeom>
          <a:noFill/>
          <a:ln/>
        </p:spPr>
        <p:txBody>
          <a:bodyPr wrap="square" rtlCol="0" anchor="ctr"/>
          <a:lstStyle/>
          <a:p>
            <a:pPr marL="0" indent="0">
              <a:lnSpc>
                <a:spcPts val="1400"/>
              </a:lnSpc>
              <a:buNone/>
            </a:pPr>
            <a:r>
              <a:rPr lang="en-US" sz="1000" dirty="0">
                <a:solidFill>
                  <a:srgbClr val="666666"/>
                </a:solidFill>
              </a:rPr>
              <a:t>certification_offered, study_material_available, course_price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3600" b="1" dirty="0">
                <a:solidFill>
                  <a:srgbClr val="2F3C7E"/>
                </a:solidFill>
              </a:rPr>
              <a:t>EDA: KEY OBSERVATIONS</a:t>
            </a:r>
            <a:endParaRPr lang="en-US" sz="3600" dirty="0"/>
          </a:p>
        </p:txBody>
      </p:sp>
      <p:sp>
        <p:nvSpPr>
          <p:cNvPr id="3" name="Shape 1"/>
          <p:cNvSpPr/>
          <p:nvPr/>
        </p:nvSpPr>
        <p:spPr>
          <a:xfrm>
            <a:off x="457200" y="1097280"/>
            <a:ext cx="8229600" cy="868680"/>
          </a:xfrm>
          <a:prstGeom prst="rect">
            <a:avLst/>
          </a:prstGeom>
          <a:solidFill>
            <a:srgbClr val="FFFFFF"/>
          </a:solidFill>
          <a:ln/>
          <a:effectLst>
            <a:outerShdw blurRad="50800" dist="25400" dir="8100000" algn="bl" rotWithShape="0">
              <a:srgbClr val="000000">
                <a:alpha val="6000"/>
              </a:srgbClr>
            </a:outerShdw>
          </a:effectLst>
        </p:spPr>
      </p:sp>
      <p:sp>
        <p:nvSpPr>
          <p:cNvPr id="4" name="Shape 2"/>
          <p:cNvSpPr/>
          <p:nvPr/>
        </p:nvSpPr>
        <p:spPr>
          <a:xfrm>
            <a:off x="457200" y="1097280"/>
            <a:ext cx="54864" cy="868680"/>
          </a:xfrm>
          <a:prstGeom prst="rect">
            <a:avLst/>
          </a:prstGeom>
          <a:solidFill>
            <a:srgbClr val="028090"/>
          </a:solidFill>
          <a:ln/>
        </p:spPr>
      </p:sp>
      <p:sp>
        <p:nvSpPr>
          <p:cNvPr id="5" name="Text 3"/>
          <p:cNvSpPr/>
          <p:nvPr/>
        </p:nvSpPr>
        <p:spPr>
          <a:xfrm>
            <a:off x="640080" y="1207008"/>
            <a:ext cx="7863840" cy="228600"/>
          </a:xfrm>
          <a:prstGeom prst="rect">
            <a:avLst/>
          </a:prstGeom>
          <a:noFill/>
          <a:ln/>
        </p:spPr>
        <p:txBody>
          <a:bodyPr wrap="square" rtlCol="0" anchor="ctr"/>
          <a:lstStyle/>
          <a:p>
            <a:pPr marL="0" indent="0">
              <a:buNone/>
            </a:pPr>
            <a:r>
              <a:rPr lang="en-US" sz="1500" b="1" dirty="0">
                <a:solidFill>
                  <a:srgbClr val="2F3C7E"/>
                </a:solidFill>
              </a:rPr>
              <a:t>Difficulty Level Distribution</a:t>
            </a:r>
            <a:endParaRPr lang="en-US" sz="1500" dirty="0"/>
          </a:p>
        </p:txBody>
      </p:sp>
      <p:sp>
        <p:nvSpPr>
          <p:cNvPr id="6" name="Text 4"/>
          <p:cNvSpPr/>
          <p:nvPr/>
        </p:nvSpPr>
        <p:spPr>
          <a:xfrm>
            <a:off x="640080" y="1463040"/>
            <a:ext cx="7863840" cy="201168"/>
          </a:xfrm>
          <a:prstGeom prst="rect">
            <a:avLst/>
          </a:prstGeom>
          <a:noFill/>
          <a:ln/>
        </p:spPr>
        <p:txBody>
          <a:bodyPr wrap="square" rtlCol="0" anchor="ctr"/>
          <a:lstStyle/>
          <a:p>
            <a:pPr marL="0" indent="0">
              <a:lnSpc>
                <a:spcPts val="1400"/>
              </a:lnSpc>
              <a:buNone/>
            </a:pPr>
            <a:r>
              <a:rPr lang="en-US" sz="1100" b="1" dirty="0">
                <a:solidFill>
                  <a:srgbClr val="028090"/>
                </a:solidFill>
              </a:rPr>
              <a:t>Finding: </a:t>
            </a:r>
            <a:r>
              <a:rPr lang="en-US" sz="1100" dirty="0">
                <a:solidFill>
                  <a:srgbClr val="666666"/>
                </a:solidFill>
              </a:rPr>
              <a:t>Balanced distribution across Beginner (33.2%), Intermediate (33.5%), and Advanced (33.3%)</a:t>
            </a:r>
            <a:endParaRPr lang="en-US" sz="1100" dirty="0"/>
          </a:p>
        </p:txBody>
      </p:sp>
      <p:sp>
        <p:nvSpPr>
          <p:cNvPr id="7" name="Text 5"/>
          <p:cNvSpPr/>
          <p:nvPr/>
        </p:nvSpPr>
        <p:spPr>
          <a:xfrm>
            <a:off x="640080" y="1691640"/>
            <a:ext cx="7863840" cy="201168"/>
          </a:xfrm>
          <a:prstGeom prst="rect">
            <a:avLst/>
          </a:prstGeom>
          <a:noFill/>
          <a:ln/>
        </p:spPr>
        <p:txBody>
          <a:bodyPr wrap="square" rtlCol="0" anchor="ctr"/>
          <a:lstStyle/>
          <a:p>
            <a:pPr marL="0" indent="0">
              <a:lnSpc>
                <a:spcPts val="1400"/>
              </a:lnSpc>
              <a:buNone/>
            </a:pPr>
            <a:r>
              <a:rPr lang="en-US" sz="1100" b="1" i="1" dirty="0">
                <a:solidFill>
                  <a:srgbClr val="02C39A"/>
                </a:solidFill>
              </a:rPr>
              <a:t>Insight: </a:t>
            </a:r>
            <a:r>
              <a:rPr lang="en-US" sz="1100" i="1" dirty="0">
                <a:solidFill>
                  <a:srgbClr val="666666"/>
                </a:solidFill>
              </a:rPr>
              <a:t>Ensures recommendations can serve diverse learner populations</a:t>
            </a:r>
            <a:endParaRPr lang="en-US" sz="1100" dirty="0"/>
          </a:p>
        </p:txBody>
      </p:sp>
      <p:sp>
        <p:nvSpPr>
          <p:cNvPr id="8" name="Shape 6"/>
          <p:cNvSpPr/>
          <p:nvPr/>
        </p:nvSpPr>
        <p:spPr>
          <a:xfrm>
            <a:off x="457200" y="2057400"/>
            <a:ext cx="8229600" cy="868680"/>
          </a:xfrm>
          <a:prstGeom prst="rect">
            <a:avLst/>
          </a:prstGeom>
          <a:solidFill>
            <a:srgbClr val="FFFFFF"/>
          </a:solidFill>
          <a:ln/>
          <a:effectLst>
            <a:outerShdw blurRad="50800" dist="25400" dir="8100000" algn="bl" rotWithShape="0">
              <a:srgbClr val="000000">
                <a:alpha val="6000"/>
              </a:srgbClr>
            </a:outerShdw>
          </a:effectLst>
        </p:spPr>
      </p:sp>
      <p:sp>
        <p:nvSpPr>
          <p:cNvPr id="9" name="Shape 7"/>
          <p:cNvSpPr/>
          <p:nvPr/>
        </p:nvSpPr>
        <p:spPr>
          <a:xfrm>
            <a:off x="457200" y="2057400"/>
            <a:ext cx="54864" cy="868680"/>
          </a:xfrm>
          <a:prstGeom prst="rect">
            <a:avLst/>
          </a:prstGeom>
          <a:solidFill>
            <a:srgbClr val="00A896"/>
          </a:solidFill>
          <a:ln/>
        </p:spPr>
      </p:sp>
      <p:sp>
        <p:nvSpPr>
          <p:cNvPr id="10" name="Text 8"/>
          <p:cNvSpPr/>
          <p:nvPr/>
        </p:nvSpPr>
        <p:spPr>
          <a:xfrm>
            <a:off x="640080" y="2167128"/>
            <a:ext cx="7863840" cy="228600"/>
          </a:xfrm>
          <a:prstGeom prst="rect">
            <a:avLst/>
          </a:prstGeom>
          <a:noFill/>
          <a:ln/>
        </p:spPr>
        <p:txBody>
          <a:bodyPr wrap="square" rtlCol="0" anchor="ctr"/>
          <a:lstStyle/>
          <a:p>
            <a:pPr marL="0" indent="0">
              <a:buNone/>
            </a:pPr>
            <a:r>
              <a:rPr lang="en-US" sz="1500" b="1" dirty="0">
                <a:solidFill>
                  <a:srgbClr val="2F3C7E"/>
                </a:solidFill>
              </a:rPr>
              <a:t>Rating Patterns</a:t>
            </a:r>
            <a:endParaRPr lang="en-US" sz="1500" dirty="0"/>
          </a:p>
        </p:txBody>
      </p:sp>
      <p:sp>
        <p:nvSpPr>
          <p:cNvPr id="11" name="Text 9"/>
          <p:cNvSpPr/>
          <p:nvPr/>
        </p:nvSpPr>
        <p:spPr>
          <a:xfrm>
            <a:off x="640080" y="2423160"/>
            <a:ext cx="7863840" cy="201168"/>
          </a:xfrm>
          <a:prstGeom prst="rect">
            <a:avLst/>
          </a:prstGeom>
          <a:noFill/>
          <a:ln/>
        </p:spPr>
        <p:txBody>
          <a:bodyPr wrap="square" rtlCol="0" anchor="ctr"/>
          <a:lstStyle/>
          <a:p>
            <a:pPr marL="0" indent="0">
              <a:lnSpc>
                <a:spcPts val="1400"/>
              </a:lnSpc>
              <a:buNone/>
            </a:pPr>
            <a:r>
              <a:rPr lang="en-US" sz="1100" b="1" dirty="0">
                <a:solidFill>
                  <a:srgbClr val="00A896"/>
                </a:solidFill>
              </a:rPr>
              <a:t>Finding: </a:t>
            </a:r>
            <a:r>
              <a:rPr lang="en-US" sz="1100" dirty="0">
                <a:solidFill>
                  <a:srgbClr val="666666"/>
                </a:solidFill>
              </a:rPr>
              <a:t>Average rating: 4.05/5.0 with ratings ranging from 3.0 to 5.0</a:t>
            </a:r>
            <a:endParaRPr lang="en-US" sz="1100" dirty="0"/>
          </a:p>
        </p:txBody>
      </p:sp>
      <p:sp>
        <p:nvSpPr>
          <p:cNvPr id="12" name="Text 10"/>
          <p:cNvSpPr/>
          <p:nvPr/>
        </p:nvSpPr>
        <p:spPr>
          <a:xfrm>
            <a:off x="640080" y="2651760"/>
            <a:ext cx="7863840" cy="201168"/>
          </a:xfrm>
          <a:prstGeom prst="rect">
            <a:avLst/>
          </a:prstGeom>
          <a:noFill/>
          <a:ln/>
        </p:spPr>
        <p:txBody>
          <a:bodyPr wrap="square" rtlCol="0" anchor="ctr"/>
          <a:lstStyle/>
          <a:p>
            <a:pPr marL="0" indent="0">
              <a:lnSpc>
                <a:spcPts val="1400"/>
              </a:lnSpc>
              <a:buNone/>
            </a:pPr>
            <a:r>
              <a:rPr lang="en-US" sz="1100" b="1" i="1" dirty="0">
                <a:solidFill>
                  <a:srgbClr val="02C39A"/>
                </a:solidFill>
              </a:rPr>
              <a:t>Insight: </a:t>
            </a:r>
            <a:r>
              <a:rPr lang="en-US" sz="1100" i="1" dirty="0">
                <a:solidFill>
                  <a:srgbClr val="666666"/>
                </a:solidFill>
              </a:rPr>
              <a:t>High-quality course catalog with strong learner satisfaction</a:t>
            </a:r>
            <a:endParaRPr lang="en-US" sz="1100" dirty="0"/>
          </a:p>
        </p:txBody>
      </p:sp>
      <p:sp>
        <p:nvSpPr>
          <p:cNvPr id="13" name="Shape 11"/>
          <p:cNvSpPr/>
          <p:nvPr/>
        </p:nvSpPr>
        <p:spPr>
          <a:xfrm>
            <a:off x="457200" y="3017520"/>
            <a:ext cx="8229600" cy="868680"/>
          </a:xfrm>
          <a:prstGeom prst="rect">
            <a:avLst/>
          </a:prstGeom>
          <a:solidFill>
            <a:srgbClr val="FFFFFF"/>
          </a:solidFill>
          <a:ln/>
          <a:effectLst>
            <a:outerShdw blurRad="50800" dist="25400" dir="8100000" algn="bl" rotWithShape="0">
              <a:srgbClr val="000000">
                <a:alpha val="6000"/>
              </a:srgbClr>
            </a:outerShdw>
          </a:effectLst>
        </p:spPr>
      </p:sp>
      <p:sp>
        <p:nvSpPr>
          <p:cNvPr id="14" name="Shape 12"/>
          <p:cNvSpPr/>
          <p:nvPr/>
        </p:nvSpPr>
        <p:spPr>
          <a:xfrm>
            <a:off x="457200" y="3017520"/>
            <a:ext cx="54864" cy="868680"/>
          </a:xfrm>
          <a:prstGeom prst="rect">
            <a:avLst/>
          </a:prstGeom>
          <a:solidFill>
            <a:srgbClr val="028090"/>
          </a:solidFill>
          <a:ln/>
        </p:spPr>
      </p:sp>
      <p:sp>
        <p:nvSpPr>
          <p:cNvPr id="15" name="Text 13"/>
          <p:cNvSpPr/>
          <p:nvPr/>
        </p:nvSpPr>
        <p:spPr>
          <a:xfrm>
            <a:off x="640080" y="3127248"/>
            <a:ext cx="7863840" cy="228600"/>
          </a:xfrm>
          <a:prstGeom prst="rect">
            <a:avLst/>
          </a:prstGeom>
          <a:noFill/>
          <a:ln/>
        </p:spPr>
        <p:txBody>
          <a:bodyPr wrap="square" rtlCol="0" anchor="ctr"/>
          <a:lstStyle/>
          <a:p>
            <a:pPr marL="0" indent="0">
              <a:buNone/>
            </a:pPr>
            <a:r>
              <a:rPr lang="en-US" sz="1500" b="1" dirty="0">
                <a:solidFill>
                  <a:srgbClr val="2F3C7E"/>
                </a:solidFill>
              </a:rPr>
              <a:t>Enrollment Trends</a:t>
            </a:r>
            <a:endParaRPr lang="en-US" sz="1500" dirty="0"/>
          </a:p>
        </p:txBody>
      </p:sp>
      <p:sp>
        <p:nvSpPr>
          <p:cNvPr id="16" name="Text 14"/>
          <p:cNvSpPr/>
          <p:nvPr/>
        </p:nvSpPr>
        <p:spPr>
          <a:xfrm>
            <a:off x="640080" y="3383280"/>
            <a:ext cx="7863840" cy="201168"/>
          </a:xfrm>
          <a:prstGeom prst="rect">
            <a:avLst/>
          </a:prstGeom>
          <a:noFill/>
          <a:ln/>
        </p:spPr>
        <p:txBody>
          <a:bodyPr wrap="square" rtlCol="0" anchor="ctr"/>
          <a:lstStyle/>
          <a:p>
            <a:pPr marL="0" indent="0">
              <a:lnSpc>
                <a:spcPts val="1400"/>
              </a:lnSpc>
              <a:buNone/>
            </a:pPr>
            <a:r>
              <a:rPr lang="en-US" sz="1100" b="1" dirty="0">
                <a:solidFill>
                  <a:srgbClr val="028090"/>
                </a:solidFill>
              </a:rPr>
              <a:t>Finding: </a:t>
            </a:r>
            <a:r>
              <a:rPr lang="en-US" sz="1100" dirty="0">
                <a:solidFill>
                  <a:srgbClr val="666666"/>
                </a:solidFill>
              </a:rPr>
              <a:t>Strong correlation between course rating and enrollment numbers (r=0.73)</a:t>
            </a:r>
            <a:endParaRPr lang="en-US" sz="1100" dirty="0"/>
          </a:p>
        </p:txBody>
      </p:sp>
      <p:sp>
        <p:nvSpPr>
          <p:cNvPr id="17" name="Text 15"/>
          <p:cNvSpPr/>
          <p:nvPr/>
        </p:nvSpPr>
        <p:spPr>
          <a:xfrm>
            <a:off x="640080" y="3611880"/>
            <a:ext cx="7863840" cy="201168"/>
          </a:xfrm>
          <a:prstGeom prst="rect">
            <a:avLst/>
          </a:prstGeom>
          <a:noFill/>
          <a:ln/>
        </p:spPr>
        <p:txBody>
          <a:bodyPr wrap="square" rtlCol="0" anchor="ctr"/>
          <a:lstStyle/>
          <a:p>
            <a:pPr marL="0" indent="0">
              <a:lnSpc>
                <a:spcPts val="1400"/>
              </a:lnSpc>
              <a:buNone/>
            </a:pPr>
            <a:r>
              <a:rPr lang="en-US" sz="1100" b="1" i="1" dirty="0">
                <a:solidFill>
                  <a:srgbClr val="02C39A"/>
                </a:solidFill>
              </a:rPr>
              <a:t>Insight: </a:t>
            </a:r>
            <a:r>
              <a:rPr lang="en-US" sz="1100" i="1" dirty="0">
                <a:solidFill>
                  <a:srgbClr val="666666"/>
                </a:solidFill>
              </a:rPr>
              <a:t>Quality directly impacts course popularity and selection</a:t>
            </a:r>
            <a:endParaRPr lang="en-US" sz="1100" dirty="0"/>
          </a:p>
        </p:txBody>
      </p:sp>
      <p:sp>
        <p:nvSpPr>
          <p:cNvPr id="18" name="Shape 16"/>
          <p:cNvSpPr/>
          <p:nvPr/>
        </p:nvSpPr>
        <p:spPr>
          <a:xfrm>
            <a:off x="457200" y="3977640"/>
            <a:ext cx="8229600" cy="868680"/>
          </a:xfrm>
          <a:prstGeom prst="rect">
            <a:avLst/>
          </a:prstGeom>
          <a:solidFill>
            <a:srgbClr val="FFFFFF"/>
          </a:solidFill>
          <a:ln/>
          <a:effectLst>
            <a:outerShdw blurRad="50800" dist="25400" dir="8100000" algn="bl" rotWithShape="0">
              <a:srgbClr val="000000">
                <a:alpha val="6000"/>
              </a:srgbClr>
            </a:outerShdw>
          </a:effectLst>
        </p:spPr>
      </p:sp>
      <p:sp>
        <p:nvSpPr>
          <p:cNvPr id="19" name="Shape 17"/>
          <p:cNvSpPr/>
          <p:nvPr/>
        </p:nvSpPr>
        <p:spPr>
          <a:xfrm>
            <a:off x="457200" y="3977640"/>
            <a:ext cx="54864" cy="868680"/>
          </a:xfrm>
          <a:prstGeom prst="rect">
            <a:avLst/>
          </a:prstGeom>
          <a:solidFill>
            <a:srgbClr val="00A896"/>
          </a:solidFill>
          <a:ln/>
        </p:spPr>
      </p:sp>
      <p:sp>
        <p:nvSpPr>
          <p:cNvPr id="20" name="Text 18"/>
          <p:cNvSpPr/>
          <p:nvPr/>
        </p:nvSpPr>
        <p:spPr>
          <a:xfrm>
            <a:off x="640080" y="4087368"/>
            <a:ext cx="7863840" cy="228600"/>
          </a:xfrm>
          <a:prstGeom prst="rect">
            <a:avLst/>
          </a:prstGeom>
          <a:noFill/>
          <a:ln/>
        </p:spPr>
        <p:txBody>
          <a:bodyPr wrap="square" rtlCol="0" anchor="ctr"/>
          <a:lstStyle/>
          <a:p>
            <a:pPr marL="0" indent="0">
              <a:buNone/>
            </a:pPr>
            <a:r>
              <a:rPr lang="en-US" sz="1500" b="1" dirty="0">
                <a:solidFill>
                  <a:srgbClr val="2F3C7E"/>
                </a:solidFill>
              </a:rPr>
              <a:t>User Engagement</a:t>
            </a:r>
            <a:endParaRPr lang="en-US" sz="1500" dirty="0"/>
          </a:p>
        </p:txBody>
      </p:sp>
      <p:sp>
        <p:nvSpPr>
          <p:cNvPr id="21" name="Text 19"/>
          <p:cNvSpPr/>
          <p:nvPr/>
        </p:nvSpPr>
        <p:spPr>
          <a:xfrm>
            <a:off x="640080" y="4343400"/>
            <a:ext cx="7863840" cy="201168"/>
          </a:xfrm>
          <a:prstGeom prst="rect">
            <a:avLst/>
          </a:prstGeom>
          <a:noFill/>
          <a:ln/>
        </p:spPr>
        <p:txBody>
          <a:bodyPr wrap="square" rtlCol="0" anchor="ctr"/>
          <a:lstStyle/>
          <a:p>
            <a:pPr marL="0" indent="0">
              <a:lnSpc>
                <a:spcPts val="1400"/>
              </a:lnSpc>
              <a:buNone/>
            </a:pPr>
            <a:r>
              <a:rPr lang="en-US" sz="1100" b="1" dirty="0">
                <a:solidFill>
                  <a:srgbClr val="00A896"/>
                </a:solidFill>
              </a:rPr>
              <a:t>Finding: </a:t>
            </a:r>
            <a:r>
              <a:rPr lang="en-US" sz="1100" dirty="0">
                <a:solidFill>
                  <a:srgbClr val="666666"/>
                </a:solidFill>
              </a:rPr>
              <a:t>Time spent shows positive correlation with feedback scores and previous courses</a:t>
            </a:r>
            <a:endParaRPr lang="en-US" sz="1100" dirty="0"/>
          </a:p>
        </p:txBody>
      </p:sp>
      <p:sp>
        <p:nvSpPr>
          <p:cNvPr id="22" name="Text 20"/>
          <p:cNvSpPr/>
          <p:nvPr/>
        </p:nvSpPr>
        <p:spPr>
          <a:xfrm>
            <a:off x="640080" y="4572000"/>
            <a:ext cx="7863840" cy="201168"/>
          </a:xfrm>
          <a:prstGeom prst="rect">
            <a:avLst/>
          </a:prstGeom>
          <a:noFill/>
          <a:ln/>
        </p:spPr>
        <p:txBody>
          <a:bodyPr wrap="square" rtlCol="0" anchor="ctr"/>
          <a:lstStyle/>
          <a:p>
            <a:pPr marL="0" indent="0">
              <a:lnSpc>
                <a:spcPts val="1400"/>
              </a:lnSpc>
              <a:buNone/>
            </a:pPr>
            <a:r>
              <a:rPr lang="en-US" sz="1100" b="1" i="1" dirty="0">
                <a:solidFill>
                  <a:srgbClr val="02C39A"/>
                </a:solidFill>
              </a:rPr>
              <a:t>Insight: </a:t>
            </a:r>
            <a:r>
              <a:rPr lang="en-US" sz="1100" i="1" dirty="0">
                <a:solidFill>
                  <a:srgbClr val="666666"/>
                </a:solidFill>
              </a:rPr>
              <a:t>Experienced learners demonstrate higher engagement levels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3600" b="1" dirty="0">
                <a:solidFill>
                  <a:srgbClr val="2F3C7E"/>
                </a:solidFill>
              </a:rPr>
              <a:t>EDA: DATA DISTRIBUTIONS</a:t>
            </a:r>
            <a:endParaRPr lang="en-US" sz="3600" dirty="0"/>
          </a:p>
        </p:txBody>
      </p:sp>
      <p:graphicFrame>
        <p:nvGraphicFramePr>
          <p:cNvPr id="3" name="Chart 0"/>
          <p:cNvGraphicFramePr/>
          <p:nvPr/>
        </p:nvGraphicFramePr>
        <p:xfrm>
          <a:off x="457200" y="1097280"/>
          <a:ext cx="4114800" cy="21031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1"/>
          <p:cNvGraphicFramePr/>
          <p:nvPr>
            <p:extLst>
              <p:ext uri="{D42A27DB-BD31-4B8C-83A1-F6EECF244321}">
                <p14:modId xmlns:p14="http://schemas.microsoft.com/office/powerpoint/2010/main" val="1675438602"/>
              </p:ext>
            </p:extLst>
          </p:nvPr>
        </p:nvGraphicFramePr>
        <p:xfrm>
          <a:off x="4860000" y="1097280"/>
          <a:ext cx="3840480" cy="2124000"/>
        </p:xfrm>
        <a:graphic>
          <a:graphicData uri="http://schemas.openxmlformats.org/drawingml/2006/chart">
            <c:chart xmlns:c="http://schemas.openxmlformats.org/drawingml/2006/chart" xmlns:r="http://schemas.openxmlformats.org/officeDocument/2006/relationships" r:id="rId4"/>
          </a:graphicData>
        </a:graphic>
      </p:graphicFrame>
      <p:sp>
        <p:nvSpPr>
          <p:cNvPr id="5" name="Shape 1"/>
          <p:cNvSpPr/>
          <p:nvPr/>
        </p:nvSpPr>
        <p:spPr>
          <a:xfrm>
            <a:off x="457200" y="3474720"/>
            <a:ext cx="4114800" cy="1005840"/>
          </a:xfrm>
          <a:prstGeom prst="rect">
            <a:avLst/>
          </a:prstGeom>
          <a:solidFill>
            <a:srgbClr val="028090">
              <a:alpha val="90000"/>
            </a:srgbClr>
          </a:solidFill>
          <a:ln/>
        </p:spPr>
      </p:sp>
      <p:sp>
        <p:nvSpPr>
          <p:cNvPr id="6" name="Text 2"/>
          <p:cNvSpPr/>
          <p:nvPr/>
        </p:nvSpPr>
        <p:spPr>
          <a:xfrm>
            <a:off x="640080" y="3657600"/>
            <a:ext cx="3749040" cy="640080"/>
          </a:xfrm>
          <a:prstGeom prst="rect">
            <a:avLst/>
          </a:prstGeom>
          <a:noFill/>
          <a:ln/>
        </p:spPr>
        <p:txBody>
          <a:bodyPr wrap="square" rtlCol="0" anchor="ctr"/>
          <a:lstStyle/>
          <a:p>
            <a:pPr marL="0" indent="0">
              <a:lnSpc>
                <a:spcPts val="1600"/>
              </a:lnSpc>
              <a:buNone/>
            </a:pPr>
            <a:r>
              <a:rPr lang="en-US" sz="1100" dirty="0">
                <a:solidFill>
                  <a:srgbClr val="2F3C7E"/>
                </a:solidFill>
              </a:rPr>
              <a:t>Balanced difficulty distribution ensures the system can recommend courses for learners at any skill level without bias toward a specific category.</a:t>
            </a:r>
            <a:endParaRPr lang="en-US" sz="1100" dirty="0"/>
          </a:p>
        </p:txBody>
      </p:sp>
      <p:sp>
        <p:nvSpPr>
          <p:cNvPr id="7" name="Shape 3"/>
          <p:cNvSpPr/>
          <p:nvPr/>
        </p:nvSpPr>
        <p:spPr>
          <a:xfrm>
            <a:off x="4846320" y="3474720"/>
            <a:ext cx="3840480" cy="1005840"/>
          </a:xfrm>
          <a:prstGeom prst="rect">
            <a:avLst/>
          </a:prstGeom>
          <a:solidFill>
            <a:srgbClr val="00A896">
              <a:alpha val="90000"/>
            </a:srgbClr>
          </a:solidFill>
          <a:ln/>
        </p:spPr>
      </p:sp>
      <p:sp>
        <p:nvSpPr>
          <p:cNvPr id="8" name="Text 4"/>
          <p:cNvSpPr/>
          <p:nvPr/>
        </p:nvSpPr>
        <p:spPr>
          <a:xfrm>
            <a:off x="5029200" y="3657600"/>
            <a:ext cx="3474720" cy="640080"/>
          </a:xfrm>
          <a:prstGeom prst="rect">
            <a:avLst/>
          </a:prstGeom>
          <a:noFill/>
          <a:ln/>
        </p:spPr>
        <p:txBody>
          <a:bodyPr wrap="square" rtlCol="0" anchor="ctr"/>
          <a:lstStyle/>
          <a:p>
            <a:pPr marL="0" indent="0">
              <a:lnSpc>
                <a:spcPts val="1600"/>
              </a:lnSpc>
              <a:buNone/>
            </a:pPr>
            <a:r>
              <a:rPr lang="en-US" sz="1100" dirty="0">
                <a:solidFill>
                  <a:srgbClr val="2F3C7E"/>
                </a:solidFill>
              </a:rPr>
              <a:t>Majority of courses rated 4.0+, indicating high quality content. The recommendation system leverages ratings as a key feature for filtering.</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3600" b="1" dirty="0">
                <a:solidFill>
                  <a:srgbClr val="2F3C7E"/>
                </a:solidFill>
              </a:rPr>
              <a:t>DATA PROCESSING PIPELINE</a:t>
            </a:r>
            <a:endParaRPr lang="en-US" sz="3600" dirty="0"/>
          </a:p>
        </p:txBody>
      </p:sp>
      <p:sp>
        <p:nvSpPr>
          <p:cNvPr id="3" name="Shape 1"/>
          <p:cNvSpPr/>
          <p:nvPr/>
        </p:nvSpPr>
        <p:spPr>
          <a:xfrm>
            <a:off x="457200" y="1097280"/>
            <a:ext cx="2560320" cy="1371600"/>
          </a:xfrm>
          <a:prstGeom prst="rect">
            <a:avLst/>
          </a:prstGeom>
          <a:solidFill>
            <a:srgbClr val="FFFFFF"/>
          </a:solidFill>
          <a:ln/>
          <a:effectLst>
            <a:outerShdw blurRad="76200" dist="25400" dir="8100000" algn="bl" rotWithShape="0">
              <a:srgbClr val="000000">
                <a:alpha val="10000"/>
              </a:srgbClr>
            </a:outerShdw>
          </a:effectLst>
        </p:spPr>
      </p:sp>
      <p:sp>
        <p:nvSpPr>
          <p:cNvPr id="4" name="Shape 2"/>
          <p:cNvSpPr/>
          <p:nvPr/>
        </p:nvSpPr>
        <p:spPr>
          <a:xfrm>
            <a:off x="640080" y="1280160"/>
            <a:ext cx="457200" cy="457200"/>
          </a:xfrm>
          <a:prstGeom prst="ellipse">
            <a:avLst/>
          </a:prstGeom>
          <a:solidFill>
            <a:srgbClr val="028090"/>
          </a:solidFill>
          <a:ln/>
        </p:spPr>
      </p:sp>
      <p:sp>
        <p:nvSpPr>
          <p:cNvPr id="5" name="Text 3"/>
          <p:cNvSpPr/>
          <p:nvPr/>
        </p:nvSpPr>
        <p:spPr>
          <a:xfrm>
            <a:off x="640080" y="1280160"/>
            <a:ext cx="457200" cy="457200"/>
          </a:xfrm>
          <a:prstGeom prst="rect">
            <a:avLst/>
          </a:prstGeom>
          <a:noFill/>
          <a:ln/>
        </p:spPr>
        <p:txBody>
          <a:bodyPr wrap="square" rtlCol="0" anchor="ctr"/>
          <a:lstStyle/>
          <a:p>
            <a:pPr marL="0" indent="0" algn="ctr">
              <a:buNone/>
            </a:pPr>
            <a:r>
              <a:rPr lang="en-US" sz="2000" b="1" dirty="0">
                <a:solidFill>
                  <a:srgbClr val="FFFFFF"/>
                </a:solidFill>
              </a:rPr>
              <a:t>1</a:t>
            </a:r>
            <a:endParaRPr lang="en-US" sz="2000" dirty="0"/>
          </a:p>
        </p:txBody>
      </p:sp>
      <p:sp>
        <p:nvSpPr>
          <p:cNvPr id="6" name="Text 4"/>
          <p:cNvSpPr/>
          <p:nvPr/>
        </p:nvSpPr>
        <p:spPr>
          <a:xfrm>
            <a:off x="1234440" y="1325880"/>
            <a:ext cx="1600200" cy="365760"/>
          </a:xfrm>
          <a:prstGeom prst="rect">
            <a:avLst/>
          </a:prstGeom>
          <a:noFill/>
          <a:ln/>
        </p:spPr>
        <p:txBody>
          <a:bodyPr wrap="square" rtlCol="0" anchor="ctr"/>
          <a:lstStyle/>
          <a:p>
            <a:pPr marL="0" indent="0">
              <a:buNone/>
            </a:pPr>
            <a:r>
              <a:rPr lang="en-US" sz="1300" b="1" dirty="0">
                <a:solidFill>
                  <a:srgbClr val="2F3C7E"/>
                </a:solidFill>
              </a:rPr>
              <a:t>Data Loading</a:t>
            </a:r>
            <a:endParaRPr lang="en-US" sz="1300" dirty="0"/>
          </a:p>
        </p:txBody>
      </p:sp>
      <p:sp>
        <p:nvSpPr>
          <p:cNvPr id="7" name="Text 5"/>
          <p:cNvSpPr/>
          <p:nvPr/>
        </p:nvSpPr>
        <p:spPr>
          <a:xfrm>
            <a:off x="640080" y="1828800"/>
            <a:ext cx="2194560" cy="548640"/>
          </a:xfrm>
          <a:prstGeom prst="rect">
            <a:avLst/>
          </a:prstGeom>
          <a:noFill/>
          <a:ln/>
        </p:spPr>
        <p:txBody>
          <a:bodyPr wrap="square" rtlCol="0" anchor="ctr"/>
          <a:lstStyle/>
          <a:p>
            <a:pPr marL="0" indent="0">
              <a:lnSpc>
                <a:spcPts val="1400"/>
              </a:lnSpc>
              <a:buNone/>
            </a:pPr>
            <a:r>
              <a:rPr lang="en-US" sz="1000" dirty="0">
                <a:solidFill>
                  <a:srgbClr val="666666"/>
                </a:solidFill>
              </a:rPr>
              <a:t>Imported dataset with 10,000 records and 14 features</a:t>
            </a:r>
            <a:endParaRPr lang="en-US" sz="1000" dirty="0"/>
          </a:p>
        </p:txBody>
      </p:sp>
      <p:sp>
        <p:nvSpPr>
          <p:cNvPr id="8" name="Shape 6"/>
          <p:cNvSpPr/>
          <p:nvPr/>
        </p:nvSpPr>
        <p:spPr>
          <a:xfrm>
            <a:off x="3200400" y="1097280"/>
            <a:ext cx="2560320" cy="1371600"/>
          </a:xfrm>
          <a:prstGeom prst="rect">
            <a:avLst/>
          </a:prstGeom>
          <a:solidFill>
            <a:srgbClr val="FFFFFF"/>
          </a:solidFill>
          <a:ln/>
          <a:effectLst>
            <a:outerShdw blurRad="76200" dist="25400" dir="8100000" algn="bl" rotWithShape="0">
              <a:srgbClr val="000000">
                <a:alpha val="10000"/>
              </a:srgbClr>
            </a:outerShdw>
          </a:effectLst>
        </p:spPr>
      </p:sp>
      <p:sp>
        <p:nvSpPr>
          <p:cNvPr id="9" name="Shape 7"/>
          <p:cNvSpPr/>
          <p:nvPr/>
        </p:nvSpPr>
        <p:spPr>
          <a:xfrm>
            <a:off x="3383280" y="1280160"/>
            <a:ext cx="457200" cy="457200"/>
          </a:xfrm>
          <a:prstGeom prst="ellipse">
            <a:avLst/>
          </a:prstGeom>
          <a:solidFill>
            <a:srgbClr val="028090"/>
          </a:solidFill>
          <a:ln/>
        </p:spPr>
      </p:sp>
      <p:sp>
        <p:nvSpPr>
          <p:cNvPr id="10" name="Text 8"/>
          <p:cNvSpPr/>
          <p:nvPr/>
        </p:nvSpPr>
        <p:spPr>
          <a:xfrm>
            <a:off x="3383280" y="1280160"/>
            <a:ext cx="457200" cy="457200"/>
          </a:xfrm>
          <a:prstGeom prst="rect">
            <a:avLst/>
          </a:prstGeom>
          <a:noFill/>
          <a:ln/>
        </p:spPr>
        <p:txBody>
          <a:bodyPr wrap="square" rtlCol="0" anchor="ctr"/>
          <a:lstStyle/>
          <a:p>
            <a:pPr marL="0" indent="0" algn="ctr">
              <a:buNone/>
            </a:pPr>
            <a:r>
              <a:rPr lang="en-US" sz="2000" b="1" dirty="0">
                <a:solidFill>
                  <a:srgbClr val="FFFFFF"/>
                </a:solidFill>
              </a:rPr>
              <a:t>2</a:t>
            </a:r>
            <a:endParaRPr lang="en-US" sz="2000" dirty="0"/>
          </a:p>
        </p:txBody>
      </p:sp>
      <p:sp>
        <p:nvSpPr>
          <p:cNvPr id="11" name="Text 9"/>
          <p:cNvSpPr/>
          <p:nvPr/>
        </p:nvSpPr>
        <p:spPr>
          <a:xfrm>
            <a:off x="3977640" y="1325880"/>
            <a:ext cx="1600200" cy="365760"/>
          </a:xfrm>
          <a:prstGeom prst="rect">
            <a:avLst/>
          </a:prstGeom>
          <a:noFill/>
          <a:ln/>
        </p:spPr>
        <p:txBody>
          <a:bodyPr wrap="square" rtlCol="0" anchor="ctr"/>
          <a:lstStyle/>
          <a:p>
            <a:pPr marL="0" indent="0">
              <a:buNone/>
            </a:pPr>
            <a:r>
              <a:rPr lang="en-US" sz="1300" b="1" dirty="0">
                <a:solidFill>
                  <a:srgbClr val="2F3C7E"/>
                </a:solidFill>
              </a:rPr>
              <a:t>Missing Value Analysis</a:t>
            </a:r>
            <a:endParaRPr lang="en-US" sz="1300" dirty="0"/>
          </a:p>
        </p:txBody>
      </p:sp>
      <p:sp>
        <p:nvSpPr>
          <p:cNvPr id="12" name="Text 10"/>
          <p:cNvSpPr/>
          <p:nvPr/>
        </p:nvSpPr>
        <p:spPr>
          <a:xfrm>
            <a:off x="3383280" y="1828800"/>
            <a:ext cx="2194560" cy="548640"/>
          </a:xfrm>
          <a:prstGeom prst="rect">
            <a:avLst/>
          </a:prstGeom>
          <a:noFill/>
          <a:ln/>
        </p:spPr>
        <p:txBody>
          <a:bodyPr wrap="square" rtlCol="0" anchor="ctr"/>
          <a:lstStyle/>
          <a:p>
            <a:pPr marL="0" indent="0">
              <a:lnSpc>
                <a:spcPts val="1400"/>
              </a:lnSpc>
              <a:buNone/>
            </a:pPr>
            <a:r>
              <a:rPr lang="en-US" sz="1000" dirty="0">
                <a:solidFill>
                  <a:srgbClr val="666666"/>
                </a:solidFill>
              </a:rPr>
              <a:t>Identified and handled 1.8% missing values</a:t>
            </a:r>
            <a:endParaRPr lang="en-US" sz="1000" dirty="0"/>
          </a:p>
        </p:txBody>
      </p:sp>
      <p:sp>
        <p:nvSpPr>
          <p:cNvPr id="13" name="Shape 11"/>
          <p:cNvSpPr/>
          <p:nvPr/>
        </p:nvSpPr>
        <p:spPr>
          <a:xfrm>
            <a:off x="5943600" y="1097280"/>
            <a:ext cx="2560320" cy="1371600"/>
          </a:xfrm>
          <a:prstGeom prst="rect">
            <a:avLst/>
          </a:prstGeom>
          <a:solidFill>
            <a:srgbClr val="FFFFFF"/>
          </a:solidFill>
          <a:ln/>
          <a:effectLst>
            <a:outerShdw blurRad="76200" dist="25400" dir="8100000" algn="bl" rotWithShape="0">
              <a:srgbClr val="000000">
                <a:alpha val="10000"/>
              </a:srgbClr>
            </a:outerShdw>
          </a:effectLst>
        </p:spPr>
      </p:sp>
      <p:sp>
        <p:nvSpPr>
          <p:cNvPr id="14" name="Shape 12"/>
          <p:cNvSpPr/>
          <p:nvPr/>
        </p:nvSpPr>
        <p:spPr>
          <a:xfrm>
            <a:off x="6126480" y="1280160"/>
            <a:ext cx="457200" cy="457200"/>
          </a:xfrm>
          <a:prstGeom prst="ellipse">
            <a:avLst/>
          </a:prstGeom>
          <a:solidFill>
            <a:srgbClr val="00A896"/>
          </a:solidFill>
          <a:ln/>
        </p:spPr>
      </p:sp>
      <p:sp>
        <p:nvSpPr>
          <p:cNvPr id="15" name="Text 13"/>
          <p:cNvSpPr/>
          <p:nvPr/>
        </p:nvSpPr>
        <p:spPr>
          <a:xfrm>
            <a:off x="6126480" y="1280160"/>
            <a:ext cx="457200" cy="457200"/>
          </a:xfrm>
          <a:prstGeom prst="rect">
            <a:avLst/>
          </a:prstGeom>
          <a:noFill/>
          <a:ln/>
        </p:spPr>
        <p:txBody>
          <a:bodyPr wrap="square" rtlCol="0" anchor="ctr"/>
          <a:lstStyle/>
          <a:p>
            <a:pPr marL="0" indent="0" algn="ctr">
              <a:buNone/>
            </a:pPr>
            <a:r>
              <a:rPr lang="en-US" sz="2000" b="1" dirty="0">
                <a:solidFill>
                  <a:srgbClr val="FFFFFF"/>
                </a:solidFill>
              </a:rPr>
              <a:t>3</a:t>
            </a:r>
            <a:endParaRPr lang="en-US" sz="2000" dirty="0"/>
          </a:p>
        </p:txBody>
      </p:sp>
      <p:sp>
        <p:nvSpPr>
          <p:cNvPr id="16" name="Text 14"/>
          <p:cNvSpPr/>
          <p:nvPr/>
        </p:nvSpPr>
        <p:spPr>
          <a:xfrm>
            <a:off x="6720840" y="1325880"/>
            <a:ext cx="1600200" cy="365760"/>
          </a:xfrm>
          <a:prstGeom prst="rect">
            <a:avLst/>
          </a:prstGeom>
          <a:noFill/>
          <a:ln/>
        </p:spPr>
        <p:txBody>
          <a:bodyPr wrap="square" rtlCol="0" anchor="ctr"/>
          <a:lstStyle/>
          <a:p>
            <a:pPr marL="0" indent="0">
              <a:buNone/>
            </a:pPr>
            <a:r>
              <a:rPr lang="en-US" sz="1300" b="1" dirty="0">
                <a:solidFill>
                  <a:srgbClr val="2F3C7E"/>
                </a:solidFill>
              </a:rPr>
              <a:t>Outlier Detection</a:t>
            </a:r>
            <a:endParaRPr lang="en-US" sz="1300" dirty="0"/>
          </a:p>
        </p:txBody>
      </p:sp>
      <p:sp>
        <p:nvSpPr>
          <p:cNvPr id="17" name="Text 15"/>
          <p:cNvSpPr/>
          <p:nvPr/>
        </p:nvSpPr>
        <p:spPr>
          <a:xfrm>
            <a:off x="6126480" y="1828800"/>
            <a:ext cx="2194560" cy="548640"/>
          </a:xfrm>
          <a:prstGeom prst="rect">
            <a:avLst/>
          </a:prstGeom>
          <a:noFill/>
          <a:ln/>
        </p:spPr>
        <p:txBody>
          <a:bodyPr wrap="square" rtlCol="0" anchor="ctr"/>
          <a:lstStyle/>
          <a:p>
            <a:pPr marL="0" indent="0">
              <a:lnSpc>
                <a:spcPts val="1400"/>
              </a:lnSpc>
              <a:buNone/>
            </a:pPr>
            <a:r>
              <a:rPr lang="en-US" sz="1000" dirty="0">
                <a:solidFill>
                  <a:srgbClr val="666666"/>
                </a:solidFill>
              </a:rPr>
              <a:t>Used IQR method and Z-scores for anomaly identification</a:t>
            </a:r>
            <a:endParaRPr lang="en-US" sz="1000" dirty="0"/>
          </a:p>
        </p:txBody>
      </p:sp>
      <p:sp>
        <p:nvSpPr>
          <p:cNvPr id="18" name="Shape 16"/>
          <p:cNvSpPr/>
          <p:nvPr/>
        </p:nvSpPr>
        <p:spPr>
          <a:xfrm>
            <a:off x="457200" y="2788920"/>
            <a:ext cx="2560320" cy="1371600"/>
          </a:xfrm>
          <a:prstGeom prst="rect">
            <a:avLst/>
          </a:prstGeom>
          <a:solidFill>
            <a:srgbClr val="FFFFFF"/>
          </a:solidFill>
          <a:ln/>
          <a:effectLst>
            <a:outerShdw blurRad="76200" dist="25400" dir="8100000" algn="bl" rotWithShape="0">
              <a:srgbClr val="000000">
                <a:alpha val="10000"/>
              </a:srgbClr>
            </a:outerShdw>
          </a:effectLst>
        </p:spPr>
      </p:sp>
      <p:sp>
        <p:nvSpPr>
          <p:cNvPr id="19" name="Shape 17"/>
          <p:cNvSpPr/>
          <p:nvPr/>
        </p:nvSpPr>
        <p:spPr>
          <a:xfrm>
            <a:off x="640080" y="2971800"/>
            <a:ext cx="457200" cy="457200"/>
          </a:xfrm>
          <a:prstGeom prst="ellipse">
            <a:avLst/>
          </a:prstGeom>
          <a:solidFill>
            <a:srgbClr val="00A896"/>
          </a:solidFill>
          <a:ln/>
        </p:spPr>
      </p:sp>
      <p:sp>
        <p:nvSpPr>
          <p:cNvPr id="20" name="Text 18"/>
          <p:cNvSpPr/>
          <p:nvPr/>
        </p:nvSpPr>
        <p:spPr>
          <a:xfrm>
            <a:off x="640080" y="2971800"/>
            <a:ext cx="457200" cy="457200"/>
          </a:xfrm>
          <a:prstGeom prst="rect">
            <a:avLst/>
          </a:prstGeom>
          <a:noFill/>
          <a:ln/>
        </p:spPr>
        <p:txBody>
          <a:bodyPr wrap="square" rtlCol="0" anchor="ctr"/>
          <a:lstStyle/>
          <a:p>
            <a:pPr marL="0" indent="0" algn="ctr">
              <a:buNone/>
            </a:pPr>
            <a:r>
              <a:rPr lang="en-US" sz="2000" b="1" dirty="0">
                <a:solidFill>
                  <a:srgbClr val="FFFFFF"/>
                </a:solidFill>
              </a:rPr>
              <a:t>4</a:t>
            </a:r>
            <a:endParaRPr lang="en-US" sz="2000" dirty="0"/>
          </a:p>
        </p:txBody>
      </p:sp>
      <p:sp>
        <p:nvSpPr>
          <p:cNvPr id="21" name="Text 19"/>
          <p:cNvSpPr/>
          <p:nvPr/>
        </p:nvSpPr>
        <p:spPr>
          <a:xfrm>
            <a:off x="1234440" y="3017520"/>
            <a:ext cx="1600200" cy="365760"/>
          </a:xfrm>
          <a:prstGeom prst="rect">
            <a:avLst/>
          </a:prstGeom>
          <a:noFill/>
          <a:ln/>
        </p:spPr>
        <p:txBody>
          <a:bodyPr wrap="square" rtlCol="0" anchor="ctr"/>
          <a:lstStyle/>
          <a:p>
            <a:pPr marL="0" indent="0">
              <a:buNone/>
            </a:pPr>
            <a:r>
              <a:rPr lang="en-US" sz="1300" b="1" dirty="0">
                <a:solidFill>
                  <a:srgbClr val="2F3C7E"/>
                </a:solidFill>
              </a:rPr>
              <a:t>Feature Encoding</a:t>
            </a:r>
            <a:endParaRPr lang="en-US" sz="1300" dirty="0"/>
          </a:p>
        </p:txBody>
      </p:sp>
      <p:sp>
        <p:nvSpPr>
          <p:cNvPr id="22" name="Text 20"/>
          <p:cNvSpPr/>
          <p:nvPr/>
        </p:nvSpPr>
        <p:spPr>
          <a:xfrm>
            <a:off x="640080" y="3520440"/>
            <a:ext cx="2194560" cy="548640"/>
          </a:xfrm>
          <a:prstGeom prst="rect">
            <a:avLst/>
          </a:prstGeom>
          <a:noFill/>
          <a:ln/>
        </p:spPr>
        <p:txBody>
          <a:bodyPr wrap="square" rtlCol="0" anchor="ctr"/>
          <a:lstStyle/>
          <a:p>
            <a:pPr marL="0" indent="0">
              <a:lnSpc>
                <a:spcPts val="1400"/>
              </a:lnSpc>
              <a:buNone/>
            </a:pPr>
            <a:r>
              <a:rPr lang="en-US" sz="1000" dirty="0">
                <a:solidFill>
                  <a:srgbClr val="666666"/>
                </a:solidFill>
              </a:rPr>
              <a:t>Label encoding for categorical variables</a:t>
            </a:r>
            <a:endParaRPr lang="en-US" sz="1000" dirty="0"/>
          </a:p>
        </p:txBody>
      </p:sp>
      <p:sp>
        <p:nvSpPr>
          <p:cNvPr id="23" name="Shape 21"/>
          <p:cNvSpPr/>
          <p:nvPr/>
        </p:nvSpPr>
        <p:spPr>
          <a:xfrm>
            <a:off x="3200400" y="2788920"/>
            <a:ext cx="2560320" cy="1371600"/>
          </a:xfrm>
          <a:prstGeom prst="rect">
            <a:avLst/>
          </a:prstGeom>
          <a:solidFill>
            <a:srgbClr val="FFFFFF"/>
          </a:solidFill>
          <a:ln/>
          <a:effectLst>
            <a:outerShdw blurRad="76200" dist="25400" dir="8100000" algn="bl" rotWithShape="0">
              <a:srgbClr val="000000">
                <a:alpha val="10000"/>
              </a:srgbClr>
            </a:outerShdw>
          </a:effectLst>
        </p:spPr>
      </p:sp>
      <p:sp>
        <p:nvSpPr>
          <p:cNvPr id="24" name="Shape 22"/>
          <p:cNvSpPr/>
          <p:nvPr/>
        </p:nvSpPr>
        <p:spPr>
          <a:xfrm>
            <a:off x="3383280" y="2971800"/>
            <a:ext cx="457200" cy="457200"/>
          </a:xfrm>
          <a:prstGeom prst="ellipse">
            <a:avLst/>
          </a:prstGeom>
          <a:solidFill>
            <a:srgbClr val="02C39A"/>
          </a:solidFill>
          <a:ln/>
        </p:spPr>
      </p:sp>
      <p:sp>
        <p:nvSpPr>
          <p:cNvPr id="25" name="Text 23"/>
          <p:cNvSpPr/>
          <p:nvPr/>
        </p:nvSpPr>
        <p:spPr>
          <a:xfrm>
            <a:off x="3383280" y="2971800"/>
            <a:ext cx="457200" cy="457200"/>
          </a:xfrm>
          <a:prstGeom prst="rect">
            <a:avLst/>
          </a:prstGeom>
          <a:noFill/>
          <a:ln/>
        </p:spPr>
        <p:txBody>
          <a:bodyPr wrap="square" rtlCol="0" anchor="ctr"/>
          <a:lstStyle/>
          <a:p>
            <a:pPr marL="0" indent="0" algn="ctr">
              <a:buNone/>
            </a:pPr>
            <a:r>
              <a:rPr lang="en-US" sz="2000" b="1" dirty="0">
                <a:solidFill>
                  <a:srgbClr val="FFFFFF"/>
                </a:solidFill>
              </a:rPr>
              <a:t>5</a:t>
            </a:r>
            <a:endParaRPr lang="en-US" sz="2000" dirty="0"/>
          </a:p>
        </p:txBody>
      </p:sp>
      <p:sp>
        <p:nvSpPr>
          <p:cNvPr id="26" name="Text 24"/>
          <p:cNvSpPr/>
          <p:nvPr/>
        </p:nvSpPr>
        <p:spPr>
          <a:xfrm>
            <a:off x="3977640" y="3017520"/>
            <a:ext cx="1600200" cy="365760"/>
          </a:xfrm>
          <a:prstGeom prst="rect">
            <a:avLst/>
          </a:prstGeom>
          <a:noFill/>
          <a:ln/>
        </p:spPr>
        <p:txBody>
          <a:bodyPr wrap="square" rtlCol="0" anchor="ctr"/>
          <a:lstStyle/>
          <a:p>
            <a:pPr marL="0" indent="0">
              <a:buNone/>
            </a:pPr>
            <a:r>
              <a:rPr lang="en-US" sz="1300" b="1" dirty="0">
                <a:solidFill>
                  <a:srgbClr val="2F3C7E"/>
                </a:solidFill>
              </a:rPr>
              <a:t>Feature Scaling</a:t>
            </a:r>
            <a:endParaRPr lang="en-US" sz="1300" dirty="0"/>
          </a:p>
        </p:txBody>
      </p:sp>
      <p:sp>
        <p:nvSpPr>
          <p:cNvPr id="27" name="Text 25"/>
          <p:cNvSpPr/>
          <p:nvPr/>
        </p:nvSpPr>
        <p:spPr>
          <a:xfrm>
            <a:off x="3383280" y="3520440"/>
            <a:ext cx="2194560" cy="548640"/>
          </a:xfrm>
          <a:prstGeom prst="rect">
            <a:avLst/>
          </a:prstGeom>
          <a:noFill/>
          <a:ln/>
        </p:spPr>
        <p:txBody>
          <a:bodyPr wrap="square" rtlCol="0" anchor="ctr"/>
          <a:lstStyle/>
          <a:p>
            <a:pPr marL="0" indent="0">
              <a:lnSpc>
                <a:spcPts val="1400"/>
              </a:lnSpc>
              <a:buNone/>
            </a:pPr>
            <a:r>
              <a:rPr lang="en-US" sz="1000" dirty="0">
                <a:solidFill>
                  <a:srgbClr val="666666"/>
                </a:solidFill>
              </a:rPr>
              <a:t>StandardScaler for numerical features normalization</a:t>
            </a:r>
            <a:endParaRPr lang="en-US" sz="1000" dirty="0"/>
          </a:p>
        </p:txBody>
      </p:sp>
      <p:sp>
        <p:nvSpPr>
          <p:cNvPr id="28" name="Shape 26"/>
          <p:cNvSpPr/>
          <p:nvPr/>
        </p:nvSpPr>
        <p:spPr>
          <a:xfrm>
            <a:off x="5943600" y="2788920"/>
            <a:ext cx="2560320" cy="1371600"/>
          </a:xfrm>
          <a:prstGeom prst="rect">
            <a:avLst/>
          </a:prstGeom>
          <a:solidFill>
            <a:srgbClr val="FFFFFF"/>
          </a:solidFill>
          <a:ln/>
          <a:effectLst>
            <a:outerShdw blurRad="76200" dist="25400" dir="8100000" algn="bl" rotWithShape="0">
              <a:srgbClr val="000000">
                <a:alpha val="10000"/>
              </a:srgbClr>
            </a:outerShdw>
          </a:effectLst>
        </p:spPr>
      </p:sp>
      <p:sp>
        <p:nvSpPr>
          <p:cNvPr id="29" name="Shape 27"/>
          <p:cNvSpPr/>
          <p:nvPr/>
        </p:nvSpPr>
        <p:spPr>
          <a:xfrm>
            <a:off x="6126480" y="2971800"/>
            <a:ext cx="457200" cy="457200"/>
          </a:xfrm>
          <a:prstGeom prst="ellipse">
            <a:avLst/>
          </a:prstGeom>
          <a:solidFill>
            <a:srgbClr val="02C39A"/>
          </a:solidFill>
          <a:ln/>
        </p:spPr>
      </p:sp>
      <p:sp>
        <p:nvSpPr>
          <p:cNvPr id="30" name="Text 28"/>
          <p:cNvSpPr/>
          <p:nvPr/>
        </p:nvSpPr>
        <p:spPr>
          <a:xfrm>
            <a:off x="6126480" y="2971800"/>
            <a:ext cx="457200" cy="457200"/>
          </a:xfrm>
          <a:prstGeom prst="rect">
            <a:avLst/>
          </a:prstGeom>
          <a:noFill/>
          <a:ln/>
        </p:spPr>
        <p:txBody>
          <a:bodyPr wrap="square" rtlCol="0" anchor="ctr"/>
          <a:lstStyle/>
          <a:p>
            <a:pPr marL="0" indent="0" algn="ctr">
              <a:buNone/>
            </a:pPr>
            <a:r>
              <a:rPr lang="en-US" sz="2000" b="1" dirty="0">
                <a:solidFill>
                  <a:srgbClr val="FFFFFF"/>
                </a:solidFill>
              </a:rPr>
              <a:t>6</a:t>
            </a:r>
            <a:endParaRPr lang="en-US" sz="2000" dirty="0"/>
          </a:p>
        </p:txBody>
      </p:sp>
      <p:sp>
        <p:nvSpPr>
          <p:cNvPr id="31" name="Text 29"/>
          <p:cNvSpPr/>
          <p:nvPr/>
        </p:nvSpPr>
        <p:spPr>
          <a:xfrm>
            <a:off x="6720840" y="3017520"/>
            <a:ext cx="1600200" cy="365760"/>
          </a:xfrm>
          <a:prstGeom prst="rect">
            <a:avLst/>
          </a:prstGeom>
          <a:noFill/>
          <a:ln/>
        </p:spPr>
        <p:txBody>
          <a:bodyPr wrap="square" rtlCol="0" anchor="ctr"/>
          <a:lstStyle/>
          <a:p>
            <a:pPr marL="0" indent="0">
              <a:buNone/>
            </a:pPr>
            <a:r>
              <a:rPr lang="en-US" sz="1300" b="1" dirty="0">
                <a:solidFill>
                  <a:srgbClr val="2F3C7E"/>
                </a:solidFill>
              </a:rPr>
              <a:t>Feature Engineering</a:t>
            </a:r>
            <a:endParaRPr lang="en-US" sz="1300" dirty="0"/>
          </a:p>
        </p:txBody>
      </p:sp>
      <p:sp>
        <p:nvSpPr>
          <p:cNvPr id="32" name="Text 30"/>
          <p:cNvSpPr/>
          <p:nvPr/>
        </p:nvSpPr>
        <p:spPr>
          <a:xfrm>
            <a:off x="6126480" y="3520440"/>
            <a:ext cx="2194560" cy="548640"/>
          </a:xfrm>
          <a:prstGeom prst="rect">
            <a:avLst/>
          </a:prstGeom>
          <a:noFill/>
          <a:ln/>
        </p:spPr>
        <p:txBody>
          <a:bodyPr wrap="square" rtlCol="0" anchor="ctr"/>
          <a:lstStyle/>
          <a:p>
            <a:pPr marL="0" indent="0">
              <a:lnSpc>
                <a:spcPts val="1400"/>
              </a:lnSpc>
              <a:buNone/>
            </a:pPr>
            <a:r>
              <a:rPr lang="en-US" sz="1000" dirty="0">
                <a:solidFill>
                  <a:srgbClr val="666666"/>
                </a:solidFill>
              </a:rPr>
              <a:t>Created experience_level based on courses taken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3600" b="1" dirty="0">
                <a:solidFill>
                  <a:srgbClr val="2F3C7E"/>
                </a:solidFill>
              </a:rPr>
              <a:t>FEATURE ENGINEERING</a:t>
            </a:r>
            <a:endParaRPr lang="en-US" sz="3600" dirty="0"/>
          </a:p>
        </p:txBody>
      </p:sp>
      <p:sp>
        <p:nvSpPr>
          <p:cNvPr id="3" name="Shape 1"/>
          <p:cNvSpPr/>
          <p:nvPr/>
        </p:nvSpPr>
        <p:spPr>
          <a:xfrm>
            <a:off x="457200" y="1005840"/>
            <a:ext cx="4114800" cy="3474720"/>
          </a:xfrm>
          <a:prstGeom prst="rect">
            <a:avLst/>
          </a:prstGeom>
          <a:solidFill>
            <a:srgbClr val="FFFFFF"/>
          </a:solidFill>
          <a:ln/>
          <a:effectLst>
            <a:outerShdw blurRad="76200" dist="25400" dir="8100000" algn="bl" rotWithShape="0">
              <a:srgbClr val="000000">
                <a:alpha val="8000"/>
              </a:srgbClr>
            </a:outerShdw>
          </a:effectLst>
        </p:spPr>
      </p:sp>
      <p:pic>
        <p:nvPicPr>
          <p:cNvPr id="4" name="Image 0" descr="preencoded.png"/>
          <p:cNvPicPr>
            <a:picLocks noChangeAspect="1"/>
          </p:cNvPicPr>
          <p:nvPr/>
        </p:nvPicPr>
        <p:blipFill>
          <a:blip r:embed="rId3"/>
          <a:stretch>
            <a:fillRect/>
          </a:stretch>
        </p:blipFill>
        <p:spPr>
          <a:xfrm>
            <a:off x="731520" y="1280160"/>
            <a:ext cx="457200" cy="457200"/>
          </a:xfrm>
          <a:prstGeom prst="rect">
            <a:avLst/>
          </a:prstGeom>
        </p:spPr>
      </p:pic>
      <p:sp>
        <p:nvSpPr>
          <p:cNvPr id="5" name="Text 2"/>
          <p:cNvSpPr/>
          <p:nvPr/>
        </p:nvSpPr>
        <p:spPr>
          <a:xfrm>
            <a:off x="1280160" y="1325880"/>
            <a:ext cx="3017520" cy="365760"/>
          </a:xfrm>
          <a:prstGeom prst="rect">
            <a:avLst/>
          </a:prstGeom>
          <a:noFill/>
          <a:ln/>
        </p:spPr>
        <p:txBody>
          <a:bodyPr wrap="square" rtlCol="0" anchor="ctr"/>
          <a:lstStyle/>
          <a:p>
            <a:pPr marL="0" indent="0">
              <a:buNone/>
            </a:pPr>
            <a:r>
              <a:rPr lang="en-US" sz="2000" b="1" dirty="0">
                <a:solidFill>
                  <a:srgbClr val="2F3C7E"/>
                </a:solidFill>
              </a:rPr>
              <a:t>Engineered Features</a:t>
            </a:r>
            <a:endParaRPr lang="en-US" sz="2000" dirty="0"/>
          </a:p>
        </p:txBody>
      </p:sp>
      <p:sp>
        <p:nvSpPr>
          <p:cNvPr id="6" name="Shape 3"/>
          <p:cNvSpPr/>
          <p:nvPr/>
        </p:nvSpPr>
        <p:spPr>
          <a:xfrm>
            <a:off x="731520" y="1920240"/>
            <a:ext cx="3657600" cy="73152"/>
          </a:xfrm>
          <a:prstGeom prst="rect">
            <a:avLst/>
          </a:prstGeom>
          <a:solidFill>
            <a:srgbClr val="028090"/>
          </a:solidFill>
          <a:ln/>
        </p:spPr>
      </p:sp>
      <p:sp>
        <p:nvSpPr>
          <p:cNvPr id="8" name="Text 5"/>
          <p:cNvSpPr/>
          <p:nvPr/>
        </p:nvSpPr>
        <p:spPr>
          <a:xfrm>
            <a:off x="731520" y="2241594"/>
            <a:ext cx="3657600" cy="365760"/>
          </a:xfrm>
          <a:prstGeom prst="rect">
            <a:avLst/>
          </a:prstGeom>
          <a:noFill/>
          <a:ln/>
        </p:spPr>
        <p:txBody>
          <a:bodyPr wrap="square" rtlCol="0" anchor="ctr"/>
          <a:lstStyle/>
          <a:p>
            <a:pPr marL="0" indent="0">
              <a:lnSpc>
                <a:spcPts val="1400"/>
              </a:lnSpc>
              <a:buNone/>
            </a:pPr>
            <a:r>
              <a:rPr lang="en-US" sz="1100" dirty="0">
                <a:solidFill>
                  <a:srgbClr val="666666"/>
                </a:solidFill>
              </a:rPr>
              <a:t>Categorized users into Novice, Intermediate, and Expert based on previous_courses_taken</a:t>
            </a:r>
            <a:endParaRPr lang="en-US" sz="1100" dirty="0"/>
          </a:p>
        </p:txBody>
      </p:sp>
      <p:sp>
        <p:nvSpPr>
          <p:cNvPr id="9" name="Text 6"/>
          <p:cNvSpPr/>
          <p:nvPr/>
        </p:nvSpPr>
        <p:spPr>
          <a:xfrm>
            <a:off x="731520" y="2643930"/>
            <a:ext cx="3657600" cy="274320"/>
          </a:xfrm>
          <a:prstGeom prst="rect">
            <a:avLst/>
          </a:prstGeom>
          <a:noFill/>
          <a:ln/>
        </p:spPr>
        <p:txBody>
          <a:bodyPr wrap="square" rtlCol="0" anchor="ctr"/>
          <a:lstStyle/>
          <a:p>
            <a:pPr marL="0" indent="0">
              <a:buNone/>
            </a:pPr>
            <a:r>
              <a:rPr lang="en-US" sz="1000" i="1" dirty="0">
                <a:solidFill>
                  <a:srgbClr val="02C39A"/>
                </a:solidFill>
              </a:rPr>
              <a:t>0-3 courses: Novice | 4-7: Intermediate | 8+: Expert</a:t>
            </a:r>
            <a:endParaRPr lang="en-US" sz="1000" dirty="0"/>
          </a:p>
        </p:txBody>
      </p:sp>
      <p:sp>
        <p:nvSpPr>
          <p:cNvPr id="10" name="Shape 7"/>
          <p:cNvSpPr/>
          <p:nvPr/>
        </p:nvSpPr>
        <p:spPr>
          <a:xfrm>
            <a:off x="731520" y="3200400"/>
            <a:ext cx="3657600" cy="73152"/>
          </a:xfrm>
          <a:prstGeom prst="rect">
            <a:avLst/>
          </a:prstGeom>
          <a:solidFill>
            <a:srgbClr val="00A896"/>
          </a:solidFill>
          <a:ln/>
        </p:spPr>
      </p:sp>
      <p:sp>
        <p:nvSpPr>
          <p:cNvPr id="12" name="Text 9"/>
          <p:cNvSpPr/>
          <p:nvPr/>
        </p:nvSpPr>
        <p:spPr>
          <a:xfrm>
            <a:off x="731520" y="3462965"/>
            <a:ext cx="3657600" cy="365760"/>
          </a:xfrm>
          <a:prstGeom prst="rect">
            <a:avLst/>
          </a:prstGeom>
          <a:noFill/>
          <a:ln/>
        </p:spPr>
        <p:txBody>
          <a:bodyPr wrap="square" rtlCol="0" anchor="ctr"/>
          <a:lstStyle/>
          <a:p>
            <a:pPr marL="0" indent="0">
              <a:lnSpc>
                <a:spcPts val="1400"/>
              </a:lnSpc>
              <a:buNone/>
            </a:pPr>
            <a:r>
              <a:rPr lang="en-US" sz="1100" dirty="0">
                <a:solidFill>
                  <a:srgbClr val="666666"/>
                </a:solidFill>
              </a:rPr>
              <a:t>Combined textual representation for content-based filtering</a:t>
            </a:r>
            <a:endParaRPr lang="en-US" sz="1100" dirty="0"/>
          </a:p>
        </p:txBody>
      </p:sp>
      <p:sp>
        <p:nvSpPr>
          <p:cNvPr id="13" name="Text 10"/>
          <p:cNvSpPr/>
          <p:nvPr/>
        </p:nvSpPr>
        <p:spPr>
          <a:xfrm>
            <a:off x="731520" y="3865301"/>
            <a:ext cx="3657600" cy="274320"/>
          </a:xfrm>
          <a:prstGeom prst="rect">
            <a:avLst/>
          </a:prstGeom>
          <a:noFill/>
          <a:ln/>
        </p:spPr>
        <p:txBody>
          <a:bodyPr wrap="square" rtlCol="0" anchor="ctr"/>
          <a:lstStyle/>
          <a:p>
            <a:pPr marL="0" indent="0">
              <a:buNone/>
            </a:pPr>
            <a:r>
              <a:rPr lang="en-US" sz="1000" i="1" dirty="0">
                <a:solidFill>
                  <a:srgbClr val="02C39A"/>
                </a:solidFill>
              </a:rPr>
              <a:t>Concatenated: course_name + difficulty_level + certification + experience</a:t>
            </a:r>
            <a:endParaRPr lang="en-US" sz="1000" dirty="0"/>
          </a:p>
        </p:txBody>
      </p:sp>
      <p:sp>
        <p:nvSpPr>
          <p:cNvPr id="14" name="Shape 11"/>
          <p:cNvSpPr/>
          <p:nvPr/>
        </p:nvSpPr>
        <p:spPr>
          <a:xfrm>
            <a:off x="4846320" y="1005840"/>
            <a:ext cx="3840480" cy="3474720"/>
          </a:xfrm>
          <a:prstGeom prst="rect">
            <a:avLst/>
          </a:prstGeom>
          <a:solidFill>
            <a:srgbClr val="FFFFFF"/>
          </a:solidFill>
          <a:ln/>
          <a:effectLst>
            <a:outerShdw blurRad="76200" dist="25400" dir="8100000" algn="bl" rotWithShape="0">
              <a:srgbClr val="000000">
                <a:alpha val="8000"/>
              </a:srgbClr>
            </a:outerShdw>
          </a:effectLst>
        </p:spPr>
      </p:sp>
      <p:sp>
        <p:nvSpPr>
          <p:cNvPr id="15" name="Text 12"/>
          <p:cNvSpPr/>
          <p:nvPr/>
        </p:nvSpPr>
        <p:spPr>
          <a:xfrm>
            <a:off x="5029200" y="1098582"/>
            <a:ext cx="3474720" cy="365760"/>
          </a:xfrm>
          <a:prstGeom prst="rect">
            <a:avLst/>
          </a:prstGeom>
          <a:noFill/>
          <a:ln/>
        </p:spPr>
        <p:txBody>
          <a:bodyPr wrap="square" rtlCol="0" anchor="ctr"/>
          <a:lstStyle/>
          <a:p>
            <a:pPr marL="0" indent="0" algn="ctr">
              <a:buNone/>
            </a:pPr>
            <a:r>
              <a:rPr lang="en-US" sz="1800" b="1" dirty="0">
                <a:solidFill>
                  <a:srgbClr val="2F3C7E"/>
                </a:solidFill>
              </a:rPr>
              <a:t>Preprocessing Techniques Applied</a:t>
            </a:r>
            <a:endParaRPr lang="en-US" sz="1800" dirty="0"/>
          </a:p>
        </p:txBody>
      </p:sp>
      <p:sp>
        <p:nvSpPr>
          <p:cNvPr id="16" name="Shape 13"/>
          <p:cNvSpPr/>
          <p:nvPr/>
        </p:nvSpPr>
        <p:spPr>
          <a:xfrm>
            <a:off x="5120640" y="1724297"/>
            <a:ext cx="228600" cy="228600"/>
          </a:xfrm>
          <a:prstGeom prst="ellipse">
            <a:avLst/>
          </a:prstGeom>
          <a:solidFill>
            <a:srgbClr val="028090"/>
          </a:solidFill>
          <a:ln/>
        </p:spPr>
      </p:sp>
      <p:sp>
        <p:nvSpPr>
          <p:cNvPr id="17" name="Text 14"/>
          <p:cNvSpPr/>
          <p:nvPr/>
        </p:nvSpPr>
        <p:spPr>
          <a:xfrm>
            <a:off x="5440680" y="1629588"/>
            <a:ext cx="3017520" cy="228600"/>
          </a:xfrm>
          <a:prstGeom prst="rect">
            <a:avLst/>
          </a:prstGeom>
          <a:noFill/>
          <a:ln/>
        </p:spPr>
        <p:txBody>
          <a:bodyPr wrap="square" rtlCol="0" anchor="ctr"/>
          <a:lstStyle/>
          <a:p>
            <a:pPr marL="0" indent="0">
              <a:buNone/>
            </a:pPr>
            <a:r>
              <a:rPr lang="en-US" sz="1200" b="1" dirty="0">
                <a:solidFill>
                  <a:srgbClr val="2F3C7E"/>
                </a:solidFill>
              </a:rPr>
              <a:t>Label Encoding</a:t>
            </a:r>
            <a:endParaRPr lang="en-US" sz="1200" dirty="0"/>
          </a:p>
        </p:txBody>
      </p:sp>
      <p:sp>
        <p:nvSpPr>
          <p:cNvPr id="18" name="Text 15"/>
          <p:cNvSpPr/>
          <p:nvPr/>
        </p:nvSpPr>
        <p:spPr>
          <a:xfrm>
            <a:off x="5440680" y="1835328"/>
            <a:ext cx="3017520" cy="233172"/>
          </a:xfrm>
          <a:prstGeom prst="rect">
            <a:avLst/>
          </a:prstGeom>
          <a:noFill/>
          <a:ln/>
        </p:spPr>
        <p:txBody>
          <a:bodyPr wrap="square" rtlCol="0" anchor="ctr"/>
          <a:lstStyle/>
          <a:p>
            <a:pPr marL="0" indent="0">
              <a:lnSpc>
                <a:spcPts val="1300"/>
              </a:lnSpc>
              <a:buNone/>
            </a:pPr>
            <a:r>
              <a:rPr lang="en-US" sz="1000" dirty="0">
                <a:solidFill>
                  <a:srgbClr val="666666"/>
                </a:solidFill>
              </a:rPr>
              <a:t>Categorical variables (difficulty, certification)</a:t>
            </a:r>
            <a:endParaRPr lang="en-US" sz="1000" dirty="0"/>
          </a:p>
        </p:txBody>
      </p:sp>
      <p:sp>
        <p:nvSpPr>
          <p:cNvPr id="19" name="Shape 16"/>
          <p:cNvSpPr/>
          <p:nvPr/>
        </p:nvSpPr>
        <p:spPr>
          <a:xfrm>
            <a:off x="5120640" y="2228534"/>
            <a:ext cx="228600" cy="228600"/>
          </a:xfrm>
          <a:prstGeom prst="ellipse">
            <a:avLst/>
          </a:prstGeom>
          <a:solidFill>
            <a:srgbClr val="00A896"/>
          </a:solidFill>
          <a:ln/>
        </p:spPr>
      </p:sp>
      <p:sp>
        <p:nvSpPr>
          <p:cNvPr id="20" name="Text 17"/>
          <p:cNvSpPr/>
          <p:nvPr/>
        </p:nvSpPr>
        <p:spPr>
          <a:xfrm>
            <a:off x="5440680" y="2114220"/>
            <a:ext cx="3017520" cy="228600"/>
          </a:xfrm>
          <a:prstGeom prst="rect">
            <a:avLst/>
          </a:prstGeom>
          <a:noFill/>
          <a:ln/>
        </p:spPr>
        <p:txBody>
          <a:bodyPr wrap="square" rtlCol="0" anchor="ctr"/>
          <a:lstStyle/>
          <a:p>
            <a:pPr marL="0" indent="0">
              <a:buNone/>
            </a:pPr>
            <a:r>
              <a:rPr lang="en-US" sz="1200" b="1" dirty="0">
                <a:solidFill>
                  <a:srgbClr val="2F3C7E"/>
                </a:solidFill>
              </a:rPr>
              <a:t>Standard Scaling</a:t>
            </a:r>
            <a:endParaRPr lang="en-US" sz="1200" dirty="0"/>
          </a:p>
        </p:txBody>
      </p:sp>
      <p:sp>
        <p:nvSpPr>
          <p:cNvPr id="21" name="Text 18"/>
          <p:cNvSpPr/>
          <p:nvPr/>
        </p:nvSpPr>
        <p:spPr>
          <a:xfrm>
            <a:off x="5440680" y="2329104"/>
            <a:ext cx="3017520" cy="228600"/>
          </a:xfrm>
          <a:prstGeom prst="rect">
            <a:avLst/>
          </a:prstGeom>
          <a:noFill/>
          <a:ln/>
        </p:spPr>
        <p:txBody>
          <a:bodyPr wrap="square" rtlCol="0" anchor="ctr"/>
          <a:lstStyle/>
          <a:p>
            <a:pPr marL="0" indent="0">
              <a:lnSpc>
                <a:spcPts val="1300"/>
              </a:lnSpc>
              <a:buNone/>
            </a:pPr>
            <a:r>
              <a:rPr lang="en-US" sz="1000" dirty="0">
                <a:solidFill>
                  <a:srgbClr val="666666"/>
                </a:solidFill>
              </a:rPr>
              <a:t>Numerical features (rating, duration, price)</a:t>
            </a:r>
            <a:endParaRPr lang="en-US" sz="1000" dirty="0"/>
          </a:p>
        </p:txBody>
      </p:sp>
      <p:sp>
        <p:nvSpPr>
          <p:cNvPr id="22" name="Shape 19"/>
          <p:cNvSpPr/>
          <p:nvPr/>
        </p:nvSpPr>
        <p:spPr>
          <a:xfrm>
            <a:off x="5120640" y="2791536"/>
            <a:ext cx="228600" cy="228600"/>
          </a:xfrm>
          <a:prstGeom prst="ellipse">
            <a:avLst/>
          </a:prstGeom>
          <a:solidFill>
            <a:srgbClr val="02C39A"/>
          </a:solidFill>
          <a:ln/>
        </p:spPr>
      </p:sp>
      <p:sp>
        <p:nvSpPr>
          <p:cNvPr id="23" name="Text 20"/>
          <p:cNvSpPr/>
          <p:nvPr/>
        </p:nvSpPr>
        <p:spPr>
          <a:xfrm>
            <a:off x="5440680" y="2585788"/>
            <a:ext cx="3017520" cy="228600"/>
          </a:xfrm>
          <a:prstGeom prst="rect">
            <a:avLst/>
          </a:prstGeom>
          <a:noFill/>
          <a:ln/>
        </p:spPr>
        <p:txBody>
          <a:bodyPr wrap="square" rtlCol="0" anchor="ctr"/>
          <a:lstStyle/>
          <a:p>
            <a:pPr marL="0" indent="0">
              <a:buNone/>
            </a:pPr>
            <a:r>
              <a:rPr lang="en-US" sz="1200" b="1" dirty="0">
                <a:solidFill>
                  <a:srgbClr val="2F3C7E"/>
                </a:solidFill>
              </a:rPr>
              <a:t>MinMax Scaling</a:t>
            </a:r>
            <a:endParaRPr lang="en-US" sz="1200" dirty="0"/>
          </a:p>
        </p:txBody>
      </p:sp>
      <p:sp>
        <p:nvSpPr>
          <p:cNvPr id="24" name="Text 21"/>
          <p:cNvSpPr/>
          <p:nvPr/>
        </p:nvSpPr>
        <p:spPr>
          <a:xfrm>
            <a:off x="5440680" y="2820279"/>
            <a:ext cx="3017520" cy="250146"/>
          </a:xfrm>
          <a:prstGeom prst="rect">
            <a:avLst/>
          </a:prstGeom>
          <a:noFill/>
          <a:ln/>
        </p:spPr>
        <p:txBody>
          <a:bodyPr wrap="square" rtlCol="0" anchor="ctr"/>
          <a:lstStyle/>
          <a:p>
            <a:pPr marL="0" indent="0">
              <a:lnSpc>
                <a:spcPts val="1300"/>
              </a:lnSpc>
              <a:buNone/>
            </a:pPr>
            <a:r>
              <a:rPr lang="en-US" sz="1000" dirty="0">
                <a:solidFill>
                  <a:srgbClr val="666666"/>
                </a:solidFill>
              </a:rPr>
              <a:t>Features requiring 0-1 range normalization</a:t>
            </a:r>
            <a:endParaRPr lang="en-US" sz="1000" dirty="0"/>
          </a:p>
        </p:txBody>
      </p:sp>
      <p:sp>
        <p:nvSpPr>
          <p:cNvPr id="25" name="Shape 22"/>
          <p:cNvSpPr/>
          <p:nvPr/>
        </p:nvSpPr>
        <p:spPr>
          <a:xfrm>
            <a:off x="5120640" y="3250048"/>
            <a:ext cx="228600" cy="228600"/>
          </a:xfrm>
          <a:prstGeom prst="ellipse">
            <a:avLst/>
          </a:prstGeom>
          <a:solidFill>
            <a:srgbClr val="028090"/>
          </a:solidFill>
          <a:ln/>
        </p:spPr>
      </p:sp>
      <p:sp>
        <p:nvSpPr>
          <p:cNvPr id="26" name="Text 23"/>
          <p:cNvSpPr/>
          <p:nvPr/>
        </p:nvSpPr>
        <p:spPr>
          <a:xfrm>
            <a:off x="5440680" y="3116149"/>
            <a:ext cx="3017520" cy="228600"/>
          </a:xfrm>
          <a:prstGeom prst="rect">
            <a:avLst/>
          </a:prstGeom>
          <a:noFill/>
          <a:ln/>
        </p:spPr>
        <p:txBody>
          <a:bodyPr wrap="square" rtlCol="0" anchor="ctr"/>
          <a:lstStyle/>
          <a:p>
            <a:pPr marL="0" indent="0">
              <a:buNone/>
            </a:pPr>
            <a:r>
              <a:rPr lang="en-US" sz="1200" b="1" dirty="0">
                <a:solidFill>
                  <a:srgbClr val="2F3C7E"/>
                </a:solidFill>
              </a:rPr>
              <a:t>TF-IDF Vectorization</a:t>
            </a:r>
            <a:endParaRPr lang="en-US" sz="1200" dirty="0"/>
          </a:p>
        </p:txBody>
      </p:sp>
      <p:sp>
        <p:nvSpPr>
          <p:cNvPr id="27" name="Text 24"/>
          <p:cNvSpPr/>
          <p:nvPr/>
        </p:nvSpPr>
        <p:spPr>
          <a:xfrm>
            <a:off x="5440680" y="3391768"/>
            <a:ext cx="3017520" cy="228601"/>
          </a:xfrm>
          <a:prstGeom prst="rect">
            <a:avLst/>
          </a:prstGeom>
          <a:noFill/>
          <a:ln/>
        </p:spPr>
        <p:txBody>
          <a:bodyPr wrap="square" rtlCol="0" anchor="ctr"/>
          <a:lstStyle/>
          <a:p>
            <a:pPr marL="0" indent="0">
              <a:lnSpc>
                <a:spcPts val="1300"/>
              </a:lnSpc>
              <a:buNone/>
            </a:pPr>
            <a:r>
              <a:rPr lang="en-US" sz="1000" dirty="0">
                <a:solidFill>
                  <a:srgbClr val="666666"/>
                </a:solidFill>
              </a:rPr>
              <a:t>Text features for content similarity</a:t>
            </a:r>
            <a:endParaRPr lang="en-US" sz="1000" dirty="0"/>
          </a:p>
        </p:txBody>
      </p:sp>
      <p:sp>
        <p:nvSpPr>
          <p:cNvPr id="28" name="Shape 25"/>
          <p:cNvSpPr/>
          <p:nvPr/>
        </p:nvSpPr>
        <p:spPr>
          <a:xfrm>
            <a:off x="5120640" y="3799995"/>
            <a:ext cx="228600" cy="228600"/>
          </a:xfrm>
          <a:prstGeom prst="ellipse">
            <a:avLst/>
          </a:prstGeom>
          <a:solidFill>
            <a:srgbClr val="00A896"/>
          </a:solidFill>
          <a:ln/>
        </p:spPr>
      </p:sp>
      <p:sp>
        <p:nvSpPr>
          <p:cNvPr id="29" name="Text 26"/>
          <p:cNvSpPr/>
          <p:nvPr/>
        </p:nvSpPr>
        <p:spPr>
          <a:xfrm>
            <a:off x="5440680" y="3672621"/>
            <a:ext cx="3017520" cy="228600"/>
          </a:xfrm>
          <a:prstGeom prst="rect">
            <a:avLst/>
          </a:prstGeom>
          <a:noFill/>
          <a:ln/>
        </p:spPr>
        <p:txBody>
          <a:bodyPr wrap="square" rtlCol="0" anchor="ctr"/>
          <a:lstStyle/>
          <a:p>
            <a:pPr marL="0" indent="0">
              <a:buNone/>
            </a:pPr>
            <a:r>
              <a:rPr lang="en-US" sz="1200" b="1" dirty="0">
                <a:solidFill>
                  <a:srgbClr val="2F3C7E"/>
                </a:solidFill>
              </a:rPr>
              <a:t>PCA Analysis</a:t>
            </a:r>
            <a:endParaRPr lang="en-US" sz="1200" dirty="0"/>
          </a:p>
        </p:txBody>
      </p:sp>
      <p:sp>
        <p:nvSpPr>
          <p:cNvPr id="30" name="Text 27"/>
          <p:cNvSpPr/>
          <p:nvPr/>
        </p:nvSpPr>
        <p:spPr>
          <a:xfrm>
            <a:off x="5440680" y="3935185"/>
            <a:ext cx="3017520" cy="228601"/>
          </a:xfrm>
          <a:prstGeom prst="rect">
            <a:avLst/>
          </a:prstGeom>
          <a:noFill/>
          <a:ln/>
        </p:spPr>
        <p:txBody>
          <a:bodyPr wrap="square" rtlCol="0" anchor="ctr"/>
          <a:lstStyle/>
          <a:p>
            <a:pPr marL="0" indent="0">
              <a:lnSpc>
                <a:spcPts val="1300"/>
              </a:lnSpc>
              <a:buNone/>
            </a:pPr>
            <a:r>
              <a:rPr lang="en-US" sz="1000" dirty="0">
                <a:solidFill>
                  <a:srgbClr val="666666"/>
                </a:solidFill>
              </a:rPr>
              <a:t>Dimensionality reduction and feature visualization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EEC76E4-FF2A-5FDF-4715-AF3CF2F698D4}"/>
              </a:ext>
            </a:extLst>
          </p:cNvPr>
          <p:cNvSpPr/>
          <p:nvPr/>
        </p:nvSpPr>
        <p:spPr>
          <a:xfrm>
            <a:off x="346166" y="244930"/>
            <a:ext cx="8229600" cy="457200"/>
          </a:xfrm>
          <a:prstGeom prst="rect">
            <a:avLst/>
          </a:prstGeom>
          <a:noFill/>
          <a:ln/>
        </p:spPr>
        <p:txBody>
          <a:bodyPr wrap="square" lIns="0" tIns="0" rIns="0" bIns="0" rtlCol="0" anchor="ctr"/>
          <a:lstStyle/>
          <a:p>
            <a:pPr marL="0" indent="0">
              <a:buNone/>
            </a:pPr>
            <a:r>
              <a:rPr lang="en-US" sz="3600" b="1" dirty="0">
                <a:solidFill>
                  <a:srgbClr val="2F3C7E"/>
                </a:solidFill>
              </a:rPr>
              <a:t>PCA Analysis</a:t>
            </a:r>
            <a:endParaRPr lang="en-US" sz="3600" dirty="0"/>
          </a:p>
        </p:txBody>
      </p:sp>
      <p:pic>
        <p:nvPicPr>
          <p:cNvPr id="9" name="Picture 8">
            <a:extLst>
              <a:ext uri="{FF2B5EF4-FFF2-40B4-BE49-F238E27FC236}">
                <a16:creationId xmlns:a16="http://schemas.microsoft.com/office/drawing/2014/main" id="{6FCE83B8-ECC0-9478-840D-C144F6992D23}"/>
              </a:ext>
            </a:extLst>
          </p:cNvPr>
          <p:cNvPicPr>
            <a:picLocks noChangeAspect="1"/>
          </p:cNvPicPr>
          <p:nvPr/>
        </p:nvPicPr>
        <p:blipFill>
          <a:blip r:embed="rId2"/>
          <a:stretch>
            <a:fillRect/>
          </a:stretch>
        </p:blipFill>
        <p:spPr>
          <a:xfrm>
            <a:off x="254726" y="836021"/>
            <a:ext cx="4265272" cy="3592287"/>
          </a:xfrm>
          <a:prstGeom prst="rect">
            <a:avLst/>
          </a:prstGeom>
        </p:spPr>
      </p:pic>
      <p:pic>
        <p:nvPicPr>
          <p:cNvPr id="11" name="Picture 10">
            <a:extLst>
              <a:ext uri="{FF2B5EF4-FFF2-40B4-BE49-F238E27FC236}">
                <a16:creationId xmlns:a16="http://schemas.microsoft.com/office/drawing/2014/main" id="{4273393A-0DCA-4685-6625-A711670112B6}"/>
              </a:ext>
            </a:extLst>
          </p:cNvPr>
          <p:cNvPicPr>
            <a:picLocks noChangeAspect="1"/>
          </p:cNvPicPr>
          <p:nvPr/>
        </p:nvPicPr>
        <p:blipFill>
          <a:blip r:embed="rId3"/>
          <a:srcRect l="4707"/>
          <a:stretch>
            <a:fillRect/>
          </a:stretch>
        </p:blipFill>
        <p:spPr>
          <a:xfrm>
            <a:off x="4624004" y="780143"/>
            <a:ext cx="4206488" cy="3889827"/>
          </a:xfrm>
          <a:prstGeom prst="rect">
            <a:avLst/>
          </a:prstGeom>
        </p:spPr>
      </p:pic>
    </p:spTree>
    <p:extLst>
      <p:ext uri="{BB962C8B-B14F-4D97-AF65-F5344CB8AC3E}">
        <p14:creationId xmlns:p14="http://schemas.microsoft.com/office/powerpoint/2010/main" val="3665117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323CD7F-3A36-3EB2-D6EA-7020D8CD3DC8}"/>
              </a:ext>
            </a:extLst>
          </p:cNvPr>
          <p:cNvSpPr/>
          <p:nvPr/>
        </p:nvSpPr>
        <p:spPr>
          <a:xfrm>
            <a:off x="346166" y="244930"/>
            <a:ext cx="8229600" cy="457200"/>
          </a:xfrm>
          <a:prstGeom prst="rect">
            <a:avLst/>
          </a:prstGeom>
          <a:noFill/>
          <a:ln/>
        </p:spPr>
        <p:txBody>
          <a:bodyPr wrap="square" lIns="0" tIns="0" rIns="0" bIns="0" rtlCol="0" anchor="ctr"/>
          <a:lstStyle/>
          <a:p>
            <a:pPr marL="0" indent="0">
              <a:buNone/>
            </a:pPr>
            <a:r>
              <a:rPr lang="en-US" sz="3600" b="1" dirty="0">
                <a:solidFill>
                  <a:srgbClr val="2F3C7E"/>
                </a:solidFill>
              </a:rPr>
              <a:t>Clustering Analysis</a:t>
            </a:r>
            <a:endParaRPr lang="en-US" sz="3600" dirty="0"/>
          </a:p>
        </p:txBody>
      </p:sp>
      <p:pic>
        <p:nvPicPr>
          <p:cNvPr id="6" name="Picture 5">
            <a:extLst>
              <a:ext uri="{FF2B5EF4-FFF2-40B4-BE49-F238E27FC236}">
                <a16:creationId xmlns:a16="http://schemas.microsoft.com/office/drawing/2014/main" id="{DA0CF2CA-E383-4A82-59F5-71AA29CA1E58}"/>
              </a:ext>
            </a:extLst>
          </p:cNvPr>
          <p:cNvPicPr>
            <a:picLocks noChangeAspect="1"/>
          </p:cNvPicPr>
          <p:nvPr/>
        </p:nvPicPr>
        <p:blipFill>
          <a:blip r:embed="rId2"/>
          <a:stretch>
            <a:fillRect/>
          </a:stretch>
        </p:blipFill>
        <p:spPr>
          <a:xfrm>
            <a:off x="1727654" y="842554"/>
            <a:ext cx="5688692" cy="4056016"/>
          </a:xfrm>
          <a:prstGeom prst="rect">
            <a:avLst/>
          </a:prstGeom>
        </p:spPr>
      </p:pic>
    </p:spTree>
    <p:extLst>
      <p:ext uri="{BB962C8B-B14F-4D97-AF65-F5344CB8AC3E}">
        <p14:creationId xmlns:p14="http://schemas.microsoft.com/office/powerpoint/2010/main" val="10842457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buNone/>
            </a:pPr>
            <a:r>
              <a:rPr lang="en-US" sz="3600" b="1" dirty="0">
                <a:solidFill>
                  <a:srgbClr val="2F3C7E"/>
                </a:solidFill>
              </a:rPr>
              <a:t>MODEL BUILDING APPROACH</a:t>
            </a:r>
            <a:endParaRPr lang="en-US" sz="3600" dirty="0"/>
          </a:p>
        </p:txBody>
      </p:sp>
      <p:sp>
        <p:nvSpPr>
          <p:cNvPr id="3" name="Text 1"/>
          <p:cNvSpPr/>
          <p:nvPr/>
        </p:nvSpPr>
        <p:spPr>
          <a:xfrm>
            <a:off x="457200" y="777240"/>
            <a:ext cx="8229600" cy="274320"/>
          </a:xfrm>
          <a:prstGeom prst="rect">
            <a:avLst/>
          </a:prstGeom>
          <a:noFill/>
          <a:ln/>
        </p:spPr>
        <p:txBody>
          <a:bodyPr wrap="square" rtlCol="0" anchor="ctr"/>
          <a:lstStyle/>
          <a:p>
            <a:pPr marL="0" indent="0">
              <a:buNone/>
            </a:pPr>
            <a:r>
              <a:rPr lang="en-US" sz="1600" i="1" dirty="0">
                <a:solidFill>
                  <a:srgbClr val="02C39A"/>
                </a:solidFill>
              </a:rPr>
              <a:t>Five Different Recommendation Strategies</a:t>
            </a:r>
            <a:endParaRPr lang="en-US" sz="1600" dirty="0"/>
          </a:p>
        </p:txBody>
      </p:sp>
      <p:sp>
        <p:nvSpPr>
          <p:cNvPr id="4" name="Shape 2"/>
          <p:cNvSpPr/>
          <p:nvPr/>
        </p:nvSpPr>
        <p:spPr>
          <a:xfrm>
            <a:off x="914400" y="1280160"/>
            <a:ext cx="7315200" cy="594360"/>
          </a:xfrm>
          <a:prstGeom prst="rect">
            <a:avLst/>
          </a:prstGeom>
          <a:solidFill>
            <a:srgbClr val="FFFFFF"/>
          </a:solidFill>
          <a:ln/>
          <a:effectLst>
            <a:outerShdw blurRad="50800" dist="25400" dir="8100000" algn="bl" rotWithShape="0">
              <a:srgbClr val="000000">
                <a:alpha val="8000"/>
              </a:srgbClr>
            </a:outerShdw>
          </a:effectLst>
        </p:spPr>
      </p:sp>
      <p:sp>
        <p:nvSpPr>
          <p:cNvPr id="5" name="Shape 3"/>
          <p:cNvSpPr/>
          <p:nvPr/>
        </p:nvSpPr>
        <p:spPr>
          <a:xfrm>
            <a:off x="1051560" y="1417320"/>
            <a:ext cx="320040" cy="320040"/>
          </a:xfrm>
          <a:prstGeom prst="ellipse">
            <a:avLst/>
          </a:prstGeom>
          <a:solidFill>
            <a:srgbClr val="028090"/>
          </a:solidFill>
          <a:ln/>
        </p:spPr>
      </p:sp>
      <p:sp>
        <p:nvSpPr>
          <p:cNvPr id="6" name="Text 4"/>
          <p:cNvSpPr/>
          <p:nvPr/>
        </p:nvSpPr>
        <p:spPr>
          <a:xfrm>
            <a:off x="1051560" y="1417320"/>
            <a:ext cx="320040" cy="320040"/>
          </a:xfrm>
          <a:prstGeom prst="rect">
            <a:avLst/>
          </a:prstGeom>
          <a:noFill/>
          <a:ln/>
        </p:spPr>
        <p:txBody>
          <a:bodyPr wrap="square" rtlCol="0" anchor="ctr"/>
          <a:lstStyle/>
          <a:p>
            <a:pPr marL="0" indent="0" algn="ctr">
              <a:buNone/>
            </a:pPr>
            <a:r>
              <a:rPr lang="en-US" sz="1600" b="1" dirty="0">
                <a:solidFill>
                  <a:srgbClr val="FFFFFF"/>
                </a:solidFill>
              </a:rPr>
              <a:t>1</a:t>
            </a:r>
            <a:endParaRPr lang="en-US" sz="1600" dirty="0"/>
          </a:p>
        </p:txBody>
      </p:sp>
      <p:sp>
        <p:nvSpPr>
          <p:cNvPr id="7" name="Text 5"/>
          <p:cNvSpPr/>
          <p:nvPr/>
        </p:nvSpPr>
        <p:spPr>
          <a:xfrm>
            <a:off x="1554480" y="1371600"/>
            <a:ext cx="6400800" cy="228600"/>
          </a:xfrm>
          <a:prstGeom prst="rect">
            <a:avLst/>
          </a:prstGeom>
          <a:noFill/>
          <a:ln/>
        </p:spPr>
        <p:txBody>
          <a:bodyPr wrap="square" rtlCol="0" anchor="ctr"/>
          <a:lstStyle/>
          <a:p>
            <a:pPr marL="0" indent="0">
              <a:buNone/>
            </a:pPr>
            <a:r>
              <a:rPr lang="en-US" sz="1400" b="1" dirty="0">
                <a:solidFill>
                  <a:srgbClr val="2F3C7E"/>
                </a:solidFill>
              </a:rPr>
              <a:t>Content-Based KNN on PCA</a:t>
            </a:r>
            <a:endParaRPr lang="en-US" sz="1400" dirty="0"/>
          </a:p>
        </p:txBody>
      </p:sp>
      <p:sp>
        <p:nvSpPr>
          <p:cNvPr id="8" name="Text 6"/>
          <p:cNvSpPr/>
          <p:nvPr/>
        </p:nvSpPr>
        <p:spPr>
          <a:xfrm>
            <a:off x="1554480" y="1627632"/>
            <a:ext cx="6400800" cy="182880"/>
          </a:xfrm>
          <a:prstGeom prst="rect">
            <a:avLst/>
          </a:prstGeom>
          <a:noFill/>
          <a:ln/>
        </p:spPr>
        <p:txBody>
          <a:bodyPr wrap="square" rtlCol="0" anchor="ctr"/>
          <a:lstStyle/>
          <a:p>
            <a:pPr marL="0" indent="0">
              <a:buNone/>
            </a:pPr>
            <a:r>
              <a:rPr lang="en-US" sz="1000" i="1" dirty="0">
                <a:solidFill>
                  <a:srgbClr val="666666"/>
                </a:solidFill>
              </a:rPr>
              <a:t>Uses dimensionality reduction + K-Nearest Neighbors</a:t>
            </a:r>
            <a:endParaRPr lang="en-US" sz="1000" dirty="0"/>
          </a:p>
        </p:txBody>
      </p:sp>
      <p:sp>
        <p:nvSpPr>
          <p:cNvPr id="9" name="Shape 7"/>
          <p:cNvSpPr/>
          <p:nvPr/>
        </p:nvSpPr>
        <p:spPr>
          <a:xfrm>
            <a:off x="914400" y="1938528"/>
            <a:ext cx="7315200" cy="594360"/>
          </a:xfrm>
          <a:prstGeom prst="rect">
            <a:avLst/>
          </a:prstGeom>
          <a:solidFill>
            <a:srgbClr val="FFFFFF"/>
          </a:solidFill>
          <a:ln/>
          <a:effectLst>
            <a:outerShdw blurRad="50800" dist="25400" dir="8100000" algn="bl" rotWithShape="0">
              <a:srgbClr val="000000">
                <a:alpha val="8000"/>
              </a:srgbClr>
            </a:outerShdw>
          </a:effectLst>
        </p:spPr>
      </p:sp>
      <p:sp>
        <p:nvSpPr>
          <p:cNvPr id="10" name="Shape 8"/>
          <p:cNvSpPr/>
          <p:nvPr/>
        </p:nvSpPr>
        <p:spPr>
          <a:xfrm>
            <a:off x="1051560" y="2075688"/>
            <a:ext cx="320040" cy="320040"/>
          </a:xfrm>
          <a:prstGeom prst="ellipse">
            <a:avLst/>
          </a:prstGeom>
          <a:solidFill>
            <a:srgbClr val="00A896"/>
          </a:solidFill>
          <a:ln/>
        </p:spPr>
      </p:sp>
      <p:sp>
        <p:nvSpPr>
          <p:cNvPr id="11" name="Text 9"/>
          <p:cNvSpPr/>
          <p:nvPr/>
        </p:nvSpPr>
        <p:spPr>
          <a:xfrm>
            <a:off x="1051560" y="2075688"/>
            <a:ext cx="320040" cy="320040"/>
          </a:xfrm>
          <a:prstGeom prst="rect">
            <a:avLst/>
          </a:prstGeom>
          <a:noFill/>
          <a:ln/>
        </p:spPr>
        <p:txBody>
          <a:bodyPr wrap="square" rtlCol="0" anchor="ctr"/>
          <a:lstStyle/>
          <a:p>
            <a:pPr marL="0" indent="0" algn="ctr">
              <a:buNone/>
            </a:pPr>
            <a:r>
              <a:rPr lang="en-US" sz="1600" b="1" dirty="0">
                <a:solidFill>
                  <a:srgbClr val="FFFFFF"/>
                </a:solidFill>
              </a:rPr>
              <a:t>2</a:t>
            </a:r>
            <a:endParaRPr lang="en-US" sz="1600" dirty="0"/>
          </a:p>
        </p:txBody>
      </p:sp>
      <p:sp>
        <p:nvSpPr>
          <p:cNvPr id="12" name="Text 10"/>
          <p:cNvSpPr/>
          <p:nvPr/>
        </p:nvSpPr>
        <p:spPr>
          <a:xfrm>
            <a:off x="1554480" y="2029968"/>
            <a:ext cx="6400800" cy="228600"/>
          </a:xfrm>
          <a:prstGeom prst="rect">
            <a:avLst/>
          </a:prstGeom>
          <a:noFill/>
          <a:ln/>
        </p:spPr>
        <p:txBody>
          <a:bodyPr wrap="square" rtlCol="0" anchor="ctr"/>
          <a:lstStyle/>
          <a:p>
            <a:pPr marL="0" indent="0">
              <a:buNone/>
            </a:pPr>
            <a:r>
              <a:rPr lang="en-US" sz="1400" b="1" dirty="0">
                <a:solidFill>
                  <a:srgbClr val="2F3C7E"/>
                </a:solidFill>
              </a:rPr>
              <a:t>User-Based Collaborative Filtering (KNN)</a:t>
            </a:r>
            <a:endParaRPr lang="en-US" sz="1400" dirty="0"/>
          </a:p>
        </p:txBody>
      </p:sp>
      <p:sp>
        <p:nvSpPr>
          <p:cNvPr id="13" name="Text 11"/>
          <p:cNvSpPr/>
          <p:nvPr/>
        </p:nvSpPr>
        <p:spPr>
          <a:xfrm>
            <a:off x="1554480" y="2286000"/>
            <a:ext cx="6400800" cy="182880"/>
          </a:xfrm>
          <a:prstGeom prst="rect">
            <a:avLst/>
          </a:prstGeom>
          <a:noFill/>
          <a:ln/>
        </p:spPr>
        <p:txBody>
          <a:bodyPr wrap="square" rtlCol="0" anchor="ctr"/>
          <a:lstStyle/>
          <a:p>
            <a:pPr marL="0" indent="0">
              <a:buNone/>
            </a:pPr>
            <a:r>
              <a:rPr lang="en-US" sz="1000" i="1" dirty="0">
                <a:solidFill>
                  <a:srgbClr val="666666"/>
                </a:solidFill>
              </a:rPr>
              <a:t>Finds similar users to make recommendations</a:t>
            </a:r>
            <a:endParaRPr lang="en-US" sz="1000" dirty="0"/>
          </a:p>
        </p:txBody>
      </p:sp>
      <p:sp>
        <p:nvSpPr>
          <p:cNvPr id="14" name="Shape 12"/>
          <p:cNvSpPr/>
          <p:nvPr/>
        </p:nvSpPr>
        <p:spPr>
          <a:xfrm>
            <a:off x="914400" y="2596896"/>
            <a:ext cx="7315200" cy="594360"/>
          </a:xfrm>
          <a:prstGeom prst="rect">
            <a:avLst/>
          </a:prstGeom>
          <a:solidFill>
            <a:srgbClr val="FFFFFF"/>
          </a:solidFill>
          <a:ln/>
          <a:effectLst>
            <a:outerShdw blurRad="50800" dist="25400" dir="8100000" algn="bl" rotWithShape="0">
              <a:srgbClr val="000000">
                <a:alpha val="8000"/>
              </a:srgbClr>
            </a:outerShdw>
          </a:effectLst>
        </p:spPr>
      </p:sp>
      <p:sp>
        <p:nvSpPr>
          <p:cNvPr id="15" name="Shape 13"/>
          <p:cNvSpPr/>
          <p:nvPr/>
        </p:nvSpPr>
        <p:spPr>
          <a:xfrm>
            <a:off x="1051560" y="2734056"/>
            <a:ext cx="320040" cy="320040"/>
          </a:xfrm>
          <a:prstGeom prst="ellipse">
            <a:avLst/>
          </a:prstGeom>
          <a:solidFill>
            <a:srgbClr val="02C39A"/>
          </a:solidFill>
          <a:ln/>
        </p:spPr>
      </p:sp>
      <p:sp>
        <p:nvSpPr>
          <p:cNvPr id="16" name="Text 14"/>
          <p:cNvSpPr/>
          <p:nvPr/>
        </p:nvSpPr>
        <p:spPr>
          <a:xfrm>
            <a:off x="1051560" y="2734056"/>
            <a:ext cx="320040" cy="320040"/>
          </a:xfrm>
          <a:prstGeom prst="rect">
            <a:avLst/>
          </a:prstGeom>
          <a:noFill/>
          <a:ln/>
        </p:spPr>
        <p:txBody>
          <a:bodyPr wrap="square" rtlCol="0" anchor="ctr"/>
          <a:lstStyle/>
          <a:p>
            <a:pPr marL="0" indent="0" algn="ctr">
              <a:buNone/>
            </a:pPr>
            <a:r>
              <a:rPr lang="en-US" sz="1600" b="1" dirty="0">
                <a:solidFill>
                  <a:srgbClr val="FFFFFF"/>
                </a:solidFill>
              </a:rPr>
              <a:t>3</a:t>
            </a:r>
            <a:endParaRPr lang="en-US" sz="1600" dirty="0"/>
          </a:p>
        </p:txBody>
      </p:sp>
      <p:sp>
        <p:nvSpPr>
          <p:cNvPr id="17" name="Text 15"/>
          <p:cNvSpPr/>
          <p:nvPr/>
        </p:nvSpPr>
        <p:spPr>
          <a:xfrm>
            <a:off x="1554480" y="2688336"/>
            <a:ext cx="6400800" cy="228600"/>
          </a:xfrm>
          <a:prstGeom prst="rect">
            <a:avLst/>
          </a:prstGeom>
          <a:noFill/>
          <a:ln/>
        </p:spPr>
        <p:txBody>
          <a:bodyPr wrap="square" rtlCol="0" anchor="ctr"/>
          <a:lstStyle/>
          <a:p>
            <a:pPr marL="0" indent="0">
              <a:buNone/>
            </a:pPr>
            <a:r>
              <a:rPr lang="en-US" sz="1400" b="1" dirty="0">
                <a:solidFill>
                  <a:srgbClr val="2F3C7E"/>
                </a:solidFill>
              </a:rPr>
              <a:t>Matrix Factorization (SVD)</a:t>
            </a:r>
            <a:endParaRPr lang="en-US" sz="1400" dirty="0"/>
          </a:p>
        </p:txBody>
      </p:sp>
      <p:sp>
        <p:nvSpPr>
          <p:cNvPr id="18" name="Text 16"/>
          <p:cNvSpPr/>
          <p:nvPr/>
        </p:nvSpPr>
        <p:spPr>
          <a:xfrm>
            <a:off x="1554480" y="2944368"/>
            <a:ext cx="6400800" cy="182880"/>
          </a:xfrm>
          <a:prstGeom prst="rect">
            <a:avLst/>
          </a:prstGeom>
          <a:noFill/>
          <a:ln/>
        </p:spPr>
        <p:txBody>
          <a:bodyPr wrap="square" rtlCol="0" anchor="ctr"/>
          <a:lstStyle/>
          <a:p>
            <a:pPr marL="0" indent="0">
              <a:buNone/>
            </a:pPr>
            <a:r>
              <a:rPr lang="en-US" sz="1000" i="1" dirty="0">
                <a:solidFill>
                  <a:srgbClr val="666666"/>
                </a:solidFill>
              </a:rPr>
              <a:t>Collaborative filtering using Singular Value Decomposition</a:t>
            </a:r>
            <a:endParaRPr lang="en-US" sz="1000" dirty="0"/>
          </a:p>
        </p:txBody>
      </p:sp>
      <p:sp>
        <p:nvSpPr>
          <p:cNvPr id="19" name="Shape 17"/>
          <p:cNvSpPr/>
          <p:nvPr/>
        </p:nvSpPr>
        <p:spPr>
          <a:xfrm>
            <a:off x="914400" y="3255264"/>
            <a:ext cx="7315200" cy="594360"/>
          </a:xfrm>
          <a:prstGeom prst="rect">
            <a:avLst/>
          </a:prstGeom>
          <a:solidFill>
            <a:srgbClr val="FFFFFF"/>
          </a:solidFill>
          <a:ln/>
          <a:effectLst>
            <a:outerShdw blurRad="50800" dist="25400" dir="8100000" algn="bl" rotWithShape="0">
              <a:srgbClr val="000000">
                <a:alpha val="8000"/>
              </a:srgbClr>
            </a:outerShdw>
          </a:effectLst>
        </p:spPr>
      </p:sp>
      <p:sp>
        <p:nvSpPr>
          <p:cNvPr id="20" name="Shape 18"/>
          <p:cNvSpPr/>
          <p:nvPr/>
        </p:nvSpPr>
        <p:spPr>
          <a:xfrm>
            <a:off x="1051560" y="3392424"/>
            <a:ext cx="320040" cy="320040"/>
          </a:xfrm>
          <a:prstGeom prst="ellipse">
            <a:avLst/>
          </a:prstGeom>
          <a:solidFill>
            <a:srgbClr val="FFB300"/>
          </a:solidFill>
          <a:ln/>
        </p:spPr>
      </p:sp>
      <p:sp>
        <p:nvSpPr>
          <p:cNvPr id="21" name="Text 19"/>
          <p:cNvSpPr/>
          <p:nvPr/>
        </p:nvSpPr>
        <p:spPr>
          <a:xfrm>
            <a:off x="1051560" y="3392424"/>
            <a:ext cx="320040" cy="320040"/>
          </a:xfrm>
          <a:prstGeom prst="rect">
            <a:avLst/>
          </a:prstGeom>
          <a:noFill/>
          <a:ln/>
        </p:spPr>
        <p:txBody>
          <a:bodyPr wrap="square" rtlCol="0" anchor="ctr"/>
          <a:lstStyle/>
          <a:p>
            <a:pPr marL="0" indent="0" algn="ctr">
              <a:buNone/>
            </a:pPr>
            <a:r>
              <a:rPr lang="en-US" sz="1600" b="1" dirty="0">
                <a:solidFill>
                  <a:srgbClr val="FFFFFF"/>
                </a:solidFill>
              </a:rPr>
              <a:t>4</a:t>
            </a:r>
            <a:endParaRPr lang="en-US" sz="1600" dirty="0"/>
          </a:p>
        </p:txBody>
      </p:sp>
      <p:sp>
        <p:nvSpPr>
          <p:cNvPr id="22" name="Text 20"/>
          <p:cNvSpPr/>
          <p:nvPr/>
        </p:nvSpPr>
        <p:spPr>
          <a:xfrm>
            <a:off x="1554480" y="3346704"/>
            <a:ext cx="6400800" cy="228600"/>
          </a:xfrm>
          <a:prstGeom prst="rect">
            <a:avLst/>
          </a:prstGeom>
          <a:noFill/>
          <a:ln/>
        </p:spPr>
        <p:txBody>
          <a:bodyPr wrap="square" rtlCol="0" anchor="ctr"/>
          <a:lstStyle/>
          <a:p>
            <a:pPr marL="0" indent="0">
              <a:buNone/>
            </a:pPr>
            <a:r>
              <a:rPr lang="en-US" sz="1400" b="1" dirty="0">
                <a:solidFill>
                  <a:srgbClr val="2F3C7E"/>
                </a:solidFill>
              </a:rPr>
              <a:t>Hybrid Recommendation (CF + CBF)</a:t>
            </a:r>
            <a:endParaRPr lang="en-US" sz="1400" dirty="0"/>
          </a:p>
        </p:txBody>
      </p:sp>
      <p:sp>
        <p:nvSpPr>
          <p:cNvPr id="23" name="Text 21"/>
          <p:cNvSpPr/>
          <p:nvPr/>
        </p:nvSpPr>
        <p:spPr>
          <a:xfrm>
            <a:off x="1554480" y="3602736"/>
            <a:ext cx="6400800" cy="182880"/>
          </a:xfrm>
          <a:prstGeom prst="rect">
            <a:avLst/>
          </a:prstGeom>
          <a:noFill/>
          <a:ln/>
        </p:spPr>
        <p:txBody>
          <a:bodyPr wrap="square" rtlCol="0" anchor="ctr"/>
          <a:lstStyle/>
          <a:p>
            <a:pPr marL="0" indent="0">
              <a:buNone/>
            </a:pPr>
            <a:r>
              <a:rPr lang="en-US" sz="1000" i="1" dirty="0">
                <a:solidFill>
                  <a:srgbClr val="666666"/>
                </a:solidFill>
              </a:rPr>
              <a:t>Combines collaborative and content-based approaches</a:t>
            </a:r>
            <a:endParaRPr lang="en-US" sz="1000" dirty="0"/>
          </a:p>
        </p:txBody>
      </p:sp>
      <p:sp>
        <p:nvSpPr>
          <p:cNvPr id="24" name="Shape 22"/>
          <p:cNvSpPr/>
          <p:nvPr/>
        </p:nvSpPr>
        <p:spPr>
          <a:xfrm>
            <a:off x="914400" y="3913632"/>
            <a:ext cx="7315200" cy="594360"/>
          </a:xfrm>
          <a:prstGeom prst="rect">
            <a:avLst/>
          </a:prstGeom>
          <a:solidFill>
            <a:srgbClr val="FFFFFF"/>
          </a:solidFill>
          <a:ln/>
          <a:effectLst>
            <a:outerShdw blurRad="50800" dist="25400" dir="8100000" algn="bl" rotWithShape="0">
              <a:srgbClr val="000000">
                <a:alpha val="8000"/>
              </a:srgbClr>
            </a:outerShdw>
          </a:effectLst>
        </p:spPr>
      </p:sp>
      <p:sp>
        <p:nvSpPr>
          <p:cNvPr id="25" name="Shape 23"/>
          <p:cNvSpPr/>
          <p:nvPr/>
        </p:nvSpPr>
        <p:spPr>
          <a:xfrm>
            <a:off x="1051560" y="4050792"/>
            <a:ext cx="320040" cy="320040"/>
          </a:xfrm>
          <a:prstGeom prst="ellipse">
            <a:avLst/>
          </a:prstGeom>
          <a:solidFill>
            <a:srgbClr val="028090"/>
          </a:solidFill>
          <a:ln/>
        </p:spPr>
      </p:sp>
      <p:sp>
        <p:nvSpPr>
          <p:cNvPr id="26" name="Text 24"/>
          <p:cNvSpPr/>
          <p:nvPr/>
        </p:nvSpPr>
        <p:spPr>
          <a:xfrm>
            <a:off x="1051560" y="4050792"/>
            <a:ext cx="320040" cy="320040"/>
          </a:xfrm>
          <a:prstGeom prst="rect">
            <a:avLst/>
          </a:prstGeom>
          <a:noFill/>
          <a:ln/>
        </p:spPr>
        <p:txBody>
          <a:bodyPr wrap="square" rtlCol="0" anchor="ctr"/>
          <a:lstStyle/>
          <a:p>
            <a:pPr marL="0" indent="0" algn="ctr">
              <a:buNone/>
            </a:pPr>
            <a:r>
              <a:rPr lang="en-US" sz="1600" b="1" dirty="0">
                <a:solidFill>
                  <a:srgbClr val="FFFFFF"/>
                </a:solidFill>
              </a:rPr>
              <a:t>5</a:t>
            </a:r>
            <a:endParaRPr lang="en-US" sz="1600" dirty="0"/>
          </a:p>
        </p:txBody>
      </p:sp>
      <p:sp>
        <p:nvSpPr>
          <p:cNvPr id="27" name="Text 25"/>
          <p:cNvSpPr/>
          <p:nvPr/>
        </p:nvSpPr>
        <p:spPr>
          <a:xfrm>
            <a:off x="1554480" y="4005072"/>
            <a:ext cx="6400800" cy="228600"/>
          </a:xfrm>
          <a:prstGeom prst="rect">
            <a:avLst/>
          </a:prstGeom>
          <a:noFill/>
          <a:ln/>
        </p:spPr>
        <p:txBody>
          <a:bodyPr wrap="square" rtlCol="0" anchor="ctr"/>
          <a:lstStyle/>
          <a:p>
            <a:pPr marL="0" indent="0">
              <a:buNone/>
            </a:pPr>
            <a:r>
              <a:rPr lang="en-US" sz="1400" b="1" dirty="0">
                <a:solidFill>
                  <a:srgbClr val="2F3C7E"/>
                </a:solidFill>
              </a:rPr>
              <a:t>Content-Based Filtering (TF-IDF)</a:t>
            </a:r>
            <a:endParaRPr lang="en-US" sz="1400" dirty="0"/>
          </a:p>
        </p:txBody>
      </p:sp>
      <p:sp>
        <p:nvSpPr>
          <p:cNvPr id="28" name="Text 26"/>
          <p:cNvSpPr/>
          <p:nvPr/>
        </p:nvSpPr>
        <p:spPr>
          <a:xfrm>
            <a:off x="1554480" y="4261104"/>
            <a:ext cx="6400800" cy="182880"/>
          </a:xfrm>
          <a:prstGeom prst="rect">
            <a:avLst/>
          </a:prstGeom>
          <a:noFill/>
          <a:ln/>
        </p:spPr>
        <p:txBody>
          <a:bodyPr wrap="square" rtlCol="0" anchor="ctr"/>
          <a:lstStyle/>
          <a:p>
            <a:pPr marL="0" indent="0">
              <a:buNone/>
            </a:pPr>
            <a:r>
              <a:rPr lang="en-US" sz="1000" i="1" dirty="0">
                <a:solidFill>
                  <a:srgbClr val="666666"/>
                </a:solidFill>
              </a:rPr>
              <a:t>Text-based similarity using TF-IDF vectorization</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buNone/>
            </a:pPr>
            <a:r>
              <a:rPr lang="en-US" sz="3200" b="1" dirty="0">
                <a:solidFill>
                  <a:srgbClr val="2F3C7E"/>
                </a:solidFill>
              </a:rPr>
              <a:t>MODEL 1: CONTENT-BASED KNN ON PCA</a:t>
            </a:r>
            <a:endParaRPr lang="en-US" sz="3200" dirty="0"/>
          </a:p>
        </p:txBody>
      </p:sp>
      <p:sp>
        <p:nvSpPr>
          <p:cNvPr id="3" name="Text 1"/>
          <p:cNvSpPr/>
          <p:nvPr/>
        </p:nvSpPr>
        <p:spPr>
          <a:xfrm>
            <a:off x="457200" y="777240"/>
            <a:ext cx="8229600" cy="228600"/>
          </a:xfrm>
          <a:prstGeom prst="rect">
            <a:avLst/>
          </a:prstGeom>
          <a:noFill/>
          <a:ln/>
        </p:spPr>
        <p:txBody>
          <a:bodyPr wrap="square" rtlCol="0" anchor="ctr"/>
          <a:lstStyle/>
          <a:p>
            <a:pPr marL="0" indent="0">
              <a:buNone/>
            </a:pPr>
            <a:r>
              <a:rPr lang="en-US" sz="1400" i="1" dirty="0">
                <a:solidFill>
                  <a:srgbClr val="02C39A"/>
                </a:solidFill>
              </a:rPr>
              <a:t>Using Dimensionality Reduction for Course Similarity</a:t>
            </a:r>
            <a:endParaRPr lang="en-US" sz="1400" dirty="0"/>
          </a:p>
        </p:txBody>
      </p:sp>
      <p:sp>
        <p:nvSpPr>
          <p:cNvPr id="4" name="Shape 2"/>
          <p:cNvSpPr/>
          <p:nvPr/>
        </p:nvSpPr>
        <p:spPr>
          <a:xfrm>
            <a:off x="640080" y="1188720"/>
            <a:ext cx="3840480" cy="3200400"/>
          </a:xfrm>
          <a:prstGeom prst="rect">
            <a:avLst/>
          </a:prstGeom>
          <a:solidFill>
            <a:srgbClr val="FFFFFF"/>
          </a:solidFill>
          <a:ln/>
          <a:effectLst>
            <a:outerShdw blurRad="76200" dist="25400" dir="8100000" algn="bl" rotWithShape="0">
              <a:srgbClr val="000000">
                <a:alpha val="8000"/>
              </a:srgbClr>
            </a:outerShdw>
          </a:effectLst>
        </p:spPr>
      </p:sp>
      <p:pic>
        <p:nvPicPr>
          <p:cNvPr id="5" name="Image 0" descr="preencoded.png"/>
          <p:cNvPicPr>
            <a:picLocks noChangeAspect="1"/>
          </p:cNvPicPr>
          <p:nvPr/>
        </p:nvPicPr>
        <p:blipFill>
          <a:blip r:embed="rId3"/>
          <a:stretch>
            <a:fillRect/>
          </a:stretch>
        </p:blipFill>
        <p:spPr>
          <a:xfrm>
            <a:off x="914400" y="1371600"/>
            <a:ext cx="457200" cy="457200"/>
          </a:xfrm>
          <a:prstGeom prst="rect">
            <a:avLst/>
          </a:prstGeom>
        </p:spPr>
      </p:pic>
      <p:sp>
        <p:nvSpPr>
          <p:cNvPr id="6" name="Text 3"/>
          <p:cNvSpPr/>
          <p:nvPr/>
        </p:nvSpPr>
        <p:spPr>
          <a:xfrm>
            <a:off x="1463040" y="1444752"/>
            <a:ext cx="2743200" cy="320040"/>
          </a:xfrm>
          <a:prstGeom prst="rect">
            <a:avLst/>
          </a:prstGeom>
          <a:noFill/>
          <a:ln/>
        </p:spPr>
        <p:txBody>
          <a:bodyPr wrap="square" rtlCol="0" anchor="ctr"/>
          <a:lstStyle/>
          <a:p>
            <a:pPr marL="0" indent="0">
              <a:buNone/>
            </a:pPr>
            <a:r>
              <a:rPr lang="en-US" sz="1600" b="1" dirty="0">
                <a:solidFill>
                  <a:srgbClr val="028090"/>
                </a:solidFill>
              </a:rPr>
              <a:t>Implementation Steps</a:t>
            </a:r>
            <a:endParaRPr lang="en-US" sz="1600" dirty="0"/>
          </a:p>
        </p:txBody>
      </p:sp>
      <p:sp>
        <p:nvSpPr>
          <p:cNvPr id="7" name="Text 4"/>
          <p:cNvSpPr/>
          <p:nvPr/>
        </p:nvSpPr>
        <p:spPr>
          <a:xfrm>
            <a:off x="1097280" y="1965960"/>
            <a:ext cx="3108960" cy="274320"/>
          </a:xfrm>
          <a:prstGeom prst="rect">
            <a:avLst/>
          </a:prstGeom>
          <a:noFill/>
          <a:ln/>
        </p:spPr>
        <p:txBody>
          <a:bodyPr wrap="square" rtlCol="0" anchor="ctr"/>
          <a:lstStyle/>
          <a:p>
            <a:pPr marL="0" indent="0">
              <a:lnSpc>
                <a:spcPts val="1400"/>
              </a:lnSpc>
              <a:buNone/>
            </a:pPr>
            <a:r>
              <a:rPr lang="en-US" sz="1100" dirty="0">
                <a:solidFill>
                  <a:srgbClr val="2F3C7E"/>
                </a:solidFill>
              </a:rPr>
              <a:t>1. Applied PCA to reduce features to 7 principal components</a:t>
            </a:r>
            <a:endParaRPr lang="en-US" sz="1100" dirty="0"/>
          </a:p>
        </p:txBody>
      </p:sp>
      <p:sp>
        <p:nvSpPr>
          <p:cNvPr id="8" name="Text 5"/>
          <p:cNvSpPr/>
          <p:nvPr/>
        </p:nvSpPr>
        <p:spPr>
          <a:xfrm>
            <a:off x="1097280" y="2286000"/>
            <a:ext cx="3108960" cy="274320"/>
          </a:xfrm>
          <a:prstGeom prst="rect">
            <a:avLst/>
          </a:prstGeom>
          <a:noFill/>
          <a:ln/>
        </p:spPr>
        <p:txBody>
          <a:bodyPr wrap="square" rtlCol="0" anchor="ctr"/>
          <a:lstStyle/>
          <a:p>
            <a:pPr marL="0" indent="0">
              <a:lnSpc>
                <a:spcPts val="1400"/>
              </a:lnSpc>
              <a:buNone/>
            </a:pPr>
            <a:r>
              <a:rPr lang="en-US" sz="1100" dirty="0">
                <a:solidFill>
                  <a:srgbClr val="2F3C7E"/>
                </a:solidFill>
              </a:rPr>
              <a:t>2. Captured 71% of total variance</a:t>
            </a:r>
            <a:endParaRPr lang="en-US" sz="1100" dirty="0"/>
          </a:p>
        </p:txBody>
      </p:sp>
      <p:sp>
        <p:nvSpPr>
          <p:cNvPr id="9" name="Text 6"/>
          <p:cNvSpPr/>
          <p:nvPr/>
        </p:nvSpPr>
        <p:spPr>
          <a:xfrm>
            <a:off x="1097280" y="2606040"/>
            <a:ext cx="3108960" cy="274320"/>
          </a:xfrm>
          <a:prstGeom prst="rect">
            <a:avLst/>
          </a:prstGeom>
          <a:noFill/>
          <a:ln/>
        </p:spPr>
        <p:txBody>
          <a:bodyPr wrap="square" rtlCol="0" anchor="ctr"/>
          <a:lstStyle/>
          <a:p>
            <a:pPr marL="0" indent="0">
              <a:lnSpc>
                <a:spcPts val="1400"/>
              </a:lnSpc>
              <a:buNone/>
            </a:pPr>
            <a:r>
              <a:rPr lang="en-US" sz="1100" dirty="0">
                <a:solidFill>
                  <a:srgbClr val="2F3C7E"/>
                </a:solidFill>
              </a:rPr>
              <a:t>3. Built KNN model with cosine similarity metric</a:t>
            </a:r>
            <a:endParaRPr lang="en-US" sz="1100" dirty="0"/>
          </a:p>
        </p:txBody>
      </p:sp>
      <p:sp>
        <p:nvSpPr>
          <p:cNvPr id="10" name="Text 7"/>
          <p:cNvSpPr/>
          <p:nvPr/>
        </p:nvSpPr>
        <p:spPr>
          <a:xfrm>
            <a:off x="1097280" y="2926080"/>
            <a:ext cx="3108960" cy="274320"/>
          </a:xfrm>
          <a:prstGeom prst="rect">
            <a:avLst/>
          </a:prstGeom>
          <a:noFill/>
          <a:ln/>
        </p:spPr>
        <p:txBody>
          <a:bodyPr wrap="square" rtlCol="0" anchor="ctr"/>
          <a:lstStyle/>
          <a:p>
            <a:pPr marL="0" indent="0">
              <a:lnSpc>
                <a:spcPts val="1400"/>
              </a:lnSpc>
              <a:buNone/>
            </a:pPr>
            <a:r>
              <a:rPr lang="en-US" sz="1100" dirty="0">
                <a:solidFill>
                  <a:srgbClr val="2F3C7E"/>
                </a:solidFill>
              </a:rPr>
              <a:t>4. Found 10 nearest neighbors for each course</a:t>
            </a:r>
            <a:endParaRPr lang="en-US" sz="1100" dirty="0"/>
          </a:p>
        </p:txBody>
      </p:sp>
      <p:sp>
        <p:nvSpPr>
          <p:cNvPr id="11" name="Text 8"/>
          <p:cNvSpPr/>
          <p:nvPr/>
        </p:nvSpPr>
        <p:spPr>
          <a:xfrm>
            <a:off x="1097280" y="3246120"/>
            <a:ext cx="3108960" cy="274320"/>
          </a:xfrm>
          <a:prstGeom prst="rect">
            <a:avLst/>
          </a:prstGeom>
          <a:noFill/>
          <a:ln/>
        </p:spPr>
        <p:txBody>
          <a:bodyPr wrap="square" rtlCol="0" anchor="ctr"/>
          <a:lstStyle/>
          <a:p>
            <a:pPr marL="0" indent="0">
              <a:lnSpc>
                <a:spcPts val="1400"/>
              </a:lnSpc>
              <a:buNone/>
            </a:pPr>
            <a:r>
              <a:rPr lang="en-US" sz="1100" dirty="0">
                <a:solidFill>
                  <a:srgbClr val="2F3C7E"/>
                </a:solidFill>
              </a:rPr>
              <a:t>5. Recommended courses based on PCA feature similarity</a:t>
            </a:r>
            <a:endParaRPr lang="en-US" sz="1100" dirty="0"/>
          </a:p>
        </p:txBody>
      </p:sp>
      <p:sp>
        <p:nvSpPr>
          <p:cNvPr id="12" name="Shape 9"/>
          <p:cNvSpPr/>
          <p:nvPr/>
        </p:nvSpPr>
        <p:spPr>
          <a:xfrm>
            <a:off x="4663440" y="1188720"/>
            <a:ext cx="4023360" cy="3200400"/>
          </a:xfrm>
          <a:prstGeom prst="rect">
            <a:avLst/>
          </a:prstGeom>
          <a:solidFill>
            <a:srgbClr val="FFFFFF"/>
          </a:solidFill>
          <a:ln/>
          <a:effectLst>
            <a:outerShdw blurRad="76200" dist="25400" dir="8100000" algn="bl" rotWithShape="0">
              <a:srgbClr val="000000">
                <a:alpha val="8000"/>
              </a:srgbClr>
            </a:outerShdw>
          </a:effectLst>
        </p:spPr>
      </p:sp>
      <p:sp>
        <p:nvSpPr>
          <p:cNvPr id="13" name="Text 10"/>
          <p:cNvSpPr/>
          <p:nvPr/>
        </p:nvSpPr>
        <p:spPr>
          <a:xfrm>
            <a:off x="4846320" y="1371600"/>
            <a:ext cx="3657600" cy="274320"/>
          </a:xfrm>
          <a:prstGeom prst="rect">
            <a:avLst/>
          </a:prstGeom>
          <a:noFill/>
          <a:ln/>
        </p:spPr>
        <p:txBody>
          <a:bodyPr wrap="square" rtlCol="0" anchor="ctr"/>
          <a:lstStyle/>
          <a:p>
            <a:pPr marL="0" indent="0">
              <a:buNone/>
            </a:pPr>
            <a:r>
              <a:rPr lang="en-US" sz="1600" b="1" dirty="0">
                <a:solidFill>
                  <a:srgbClr val="028090"/>
                </a:solidFill>
              </a:rPr>
              <a:t>Model Characteristics</a:t>
            </a:r>
            <a:endParaRPr lang="en-US" sz="1600" dirty="0"/>
          </a:p>
        </p:txBody>
      </p:sp>
      <p:sp>
        <p:nvSpPr>
          <p:cNvPr id="14" name="Text 11"/>
          <p:cNvSpPr/>
          <p:nvPr/>
        </p:nvSpPr>
        <p:spPr>
          <a:xfrm>
            <a:off x="4937760" y="1828800"/>
            <a:ext cx="3566160" cy="274320"/>
          </a:xfrm>
          <a:prstGeom prst="rect">
            <a:avLst/>
          </a:prstGeom>
          <a:noFill/>
          <a:ln/>
        </p:spPr>
        <p:txBody>
          <a:bodyPr wrap="square" rtlCol="0" anchor="ctr"/>
          <a:lstStyle/>
          <a:p>
            <a:pPr marL="0" indent="0">
              <a:lnSpc>
                <a:spcPts val="1400"/>
              </a:lnSpc>
              <a:buNone/>
            </a:pPr>
            <a:r>
              <a:rPr lang="en-US" sz="1100" b="1" dirty="0">
                <a:solidFill>
                  <a:srgbClr val="028090"/>
                </a:solidFill>
              </a:rPr>
              <a:t>Algorithm: </a:t>
            </a:r>
            <a:r>
              <a:rPr lang="en-US" sz="1100" dirty="0">
                <a:solidFill>
                  <a:srgbClr val="666666"/>
                </a:solidFill>
              </a:rPr>
              <a:t>K-Nearest Neighbors (k=10)</a:t>
            </a:r>
            <a:endParaRPr lang="en-US" sz="1100" dirty="0"/>
          </a:p>
        </p:txBody>
      </p:sp>
      <p:sp>
        <p:nvSpPr>
          <p:cNvPr id="15" name="Text 12"/>
          <p:cNvSpPr/>
          <p:nvPr/>
        </p:nvSpPr>
        <p:spPr>
          <a:xfrm>
            <a:off x="4937760" y="2212848"/>
            <a:ext cx="3566160" cy="274320"/>
          </a:xfrm>
          <a:prstGeom prst="rect">
            <a:avLst/>
          </a:prstGeom>
          <a:noFill/>
          <a:ln/>
        </p:spPr>
        <p:txBody>
          <a:bodyPr wrap="square" rtlCol="0" anchor="ctr"/>
          <a:lstStyle/>
          <a:p>
            <a:pPr marL="0" indent="0">
              <a:lnSpc>
                <a:spcPts val="1400"/>
              </a:lnSpc>
              <a:buNone/>
            </a:pPr>
            <a:r>
              <a:rPr lang="en-US" sz="1100" b="1" dirty="0">
                <a:solidFill>
                  <a:srgbClr val="028090"/>
                </a:solidFill>
              </a:rPr>
              <a:t>Distance Metric: </a:t>
            </a:r>
            <a:r>
              <a:rPr lang="en-US" sz="1100" dirty="0">
                <a:solidFill>
                  <a:srgbClr val="666666"/>
                </a:solidFill>
              </a:rPr>
              <a:t>Cosine Similarity</a:t>
            </a:r>
            <a:endParaRPr lang="en-US" sz="1100" dirty="0"/>
          </a:p>
        </p:txBody>
      </p:sp>
      <p:sp>
        <p:nvSpPr>
          <p:cNvPr id="16" name="Text 13"/>
          <p:cNvSpPr/>
          <p:nvPr/>
        </p:nvSpPr>
        <p:spPr>
          <a:xfrm>
            <a:off x="4937760" y="2596896"/>
            <a:ext cx="3566160" cy="274320"/>
          </a:xfrm>
          <a:prstGeom prst="rect">
            <a:avLst/>
          </a:prstGeom>
          <a:noFill/>
          <a:ln/>
        </p:spPr>
        <p:txBody>
          <a:bodyPr wrap="square" rtlCol="0" anchor="ctr"/>
          <a:lstStyle/>
          <a:p>
            <a:pPr marL="0" indent="0">
              <a:lnSpc>
                <a:spcPts val="1400"/>
              </a:lnSpc>
              <a:buNone/>
            </a:pPr>
            <a:r>
              <a:rPr lang="en-US" sz="1100" b="1" dirty="0">
                <a:solidFill>
                  <a:srgbClr val="028090"/>
                </a:solidFill>
              </a:rPr>
              <a:t>Dimensionality: </a:t>
            </a:r>
            <a:r>
              <a:rPr lang="en-US" sz="1100" dirty="0">
                <a:solidFill>
                  <a:srgbClr val="666666"/>
                </a:solidFill>
              </a:rPr>
              <a:t>7 PCA components</a:t>
            </a:r>
            <a:endParaRPr lang="en-US" sz="1100" dirty="0"/>
          </a:p>
        </p:txBody>
      </p:sp>
      <p:sp>
        <p:nvSpPr>
          <p:cNvPr id="17" name="Text 14"/>
          <p:cNvSpPr/>
          <p:nvPr/>
        </p:nvSpPr>
        <p:spPr>
          <a:xfrm>
            <a:off x="4937760" y="2980944"/>
            <a:ext cx="3566160" cy="274320"/>
          </a:xfrm>
          <a:prstGeom prst="rect">
            <a:avLst/>
          </a:prstGeom>
          <a:noFill/>
          <a:ln/>
        </p:spPr>
        <p:txBody>
          <a:bodyPr wrap="square" rtlCol="0" anchor="ctr"/>
          <a:lstStyle/>
          <a:p>
            <a:pPr marL="0" indent="0">
              <a:lnSpc>
                <a:spcPts val="1400"/>
              </a:lnSpc>
              <a:buNone/>
            </a:pPr>
            <a:r>
              <a:rPr lang="en-US" sz="1100" b="1" dirty="0">
                <a:solidFill>
                  <a:srgbClr val="028090"/>
                </a:solidFill>
              </a:rPr>
              <a:t>Variance Explained: </a:t>
            </a:r>
            <a:r>
              <a:rPr lang="en-US" sz="1100" dirty="0">
                <a:solidFill>
                  <a:srgbClr val="666666"/>
                </a:solidFill>
              </a:rPr>
              <a:t>71% of total variance</a:t>
            </a:r>
            <a:endParaRPr lang="en-US" sz="1100" dirty="0"/>
          </a:p>
        </p:txBody>
      </p:sp>
      <p:sp>
        <p:nvSpPr>
          <p:cNvPr id="18" name="Text 15"/>
          <p:cNvSpPr/>
          <p:nvPr/>
        </p:nvSpPr>
        <p:spPr>
          <a:xfrm>
            <a:off x="4937760" y="3364992"/>
            <a:ext cx="3566160" cy="274320"/>
          </a:xfrm>
          <a:prstGeom prst="rect">
            <a:avLst/>
          </a:prstGeom>
          <a:noFill/>
          <a:ln/>
        </p:spPr>
        <p:txBody>
          <a:bodyPr wrap="square" rtlCol="0" anchor="ctr"/>
          <a:lstStyle/>
          <a:p>
            <a:pPr marL="0" indent="0">
              <a:lnSpc>
                <a:spcPts val="1400"/>
              </a:lnSpc>
              <a:buNone/>
            </a:pPr>
            <a:r>
              <a:rPr lang="en-US" sz="1100" b="1" dirty="0">
                <a:solidFill>
                  <a:srgbClr val="028090"/>
                </a:solidFill>
              </a:rPr>
              <a:t>Advantages: </a:t>
            </a:r>
            <a:r>
              <a:rPr lang="en-US" sz="1100" dirty="0">
                <a:solidFill>
                  <a:srgbClr val="666666"/>
                </a:solidFill>
              </a:rPr>
              <a:t>Fast, efficient, handles high dimensions</a:t>
            </a:r>
            <a:endParaRPr lang="en-US" sz="1100" dirty="0"/>
          </a:p>
        </p:txBody>
      </p:sp>
      <p:sp>
        <p:nvSpPr>
          <p:cNvPr id="19" name="Text 16"/>
          <p:cNvSpPr/>
          <p:nvPr/>
        </p:nvSpPr>
        <p:spPr>
          <a:xfrm>
            <a:off x="4937760" y="3749040"/>
            <a:ext cx="3566160" cy="274320"/>
          </a:xfrm>
          <a:prstGeom prst="rect">
            <a:avLst/>
          </a:prstGeom>
          <a:noFill/>
          <a:ln/>
        </p:spPr>
        <p:txBody>
          <a:bodyPr wrap="square" rtlCol="0" anchor="ctr"/>
          <a:lstStyle/>
          <a:p>
            <a:pPr marL="0" indent="0">
              <a:lnSpc>
                <a:spcPts val="1400"/>
              </a:lnSpc>
              <a:buNone/>
            </a:pPr>
            <a:r>
              <a:rPr lang="en-US" sz="1100" b="1" dirty="0">
                <a:solidFill>
                  <a:srgbClr val="028090"/>
                </a:solidFill>
              </a:rPr>
              <a:t>Best For: </a:t>
            </a:r>
            <a:r>
              <a:rPr lang="en-US" sz="1100" dirty="0">
                <a:solidFill>
                  <a:srgbClr val="666666"/>
                </a:solidFill>
              </a:rPr>
              <a:t>Finding similar courses by attributes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lIns="0" tIns="0" rIns="0" bIns="0" rtlCol="0" anchor="ctr"/>
          <a:lstStyle/>
          <a:p>
            <a:pPr marL="0" indent="0">
              <a:buNone/>
            </a:pPr>
            <a:r>
              <a:rPr lang="en-US" sz="3200" b="1" dirty="0">
                <a:solidFill>
                  <a:srgbClr val="2F3C7E"/>
                </a:solidFill>
              </a:rPr>
              <a:t>MODEL 2: USER-BASED</a:t>
            </a:r>
            <a:endParaRPr lang="en-US" sz="3200" dirty="0"/>
          </a:p>
        </p:txBody>
      </p:sp>
      <p:sp>
        <p:nvSpPr>
          <p:cNvPr id="3" name="Text 1"/>
          <p:cNvSpPr/>
          <p:nvPr/>
        </p:nvSpPr>
        <p:spPr>
          <a:xfrm>
            <a:off x="457200" y="658368"/>
            <a:ext cx="8229600" cy="365760"/>
          </a:xfrm>
          <a:prstGeom prst="rect">
            <a:avLst/>
          </a:prstGeom>
          <a:noFill/>
          <a:ln/>
        </p:spPr>
        <p:txBody>
          <a:bodyPr wrap="square" lIns="0" tIns="0" rIns="0" bIns="0" rtlCol="0" anchor="ctr"/>
          <a:lstStyle/>
          <a:p>
            <a:pPr marL="0" indent="0">
              <a:buNone/>
            </a:pPr>
            <a:r>
              <a:rPr lang="en-US" sz="3200" b="1" dirty="0">
                <a:solidFill>
                  <a:srgbClr val="2F3C7E"/>
                </a:solidFill>
              </a:rPr>
              <a:t>COLLABORATIVE FILTERING (KNN)</a:t>
            </a:r>
            <a:endParaRPr lang="en-US" sz="3200" dirty="0"/>
          </a:p>
        </p:txBody>
      </p:sp>
      <p:sp>
        <p:nvSpPr>
          <p:cNvPr id="4" name="Text 2"/>
          <p:cNvSpPr/>
          <p:nvPr/>
        </p:nvSpPr>
        <p:spPr>
          <a:xfrm>
            <a:off x="457200" y="1097280"/>
            <a:ext cx="8229600" cy="228600"/>
          </a:xfrm>
          <a:prstGeom prst="rect">
            <a:avLst/>
          </a:prstGeom>
          <a:noFill/>
          <a:ln/>
        </p:spPr>
        <p:txBody>
          <a:bodyPr wrap="square" rtlCol="0" anchor="ctr"/>
          <a:lstStyle/>
          <a:p>
            <a:pPr marL="0" indent="0">
              <a:buNone/>
            </a:pPr>
            <a:r>
              <a:rPr lang="en-US" sz="1400" i="1" dirty="0">
                <a:solidFill>
                  <a:srgbClr val="02C39A"/>
                </a:solidFill>
              </a:rPr>
              <a:t>Finding Similar Users to Generate Recommendations</a:t>
            </a:r>
            <a:endParaRPr lang="en-US" sz="1400" dirty="0"/>
          </a:p>
        </p:txBody>
      </p:sp>
      <p:pic>
        <p:nvPicPr>
          <p:cNvPr id="6" name="Image 0" descr="preencoded.png"/>
          <p:cNvPicPr>
            <a:picLocks noChangeAspect="1"/>
          </p:cNvPicPr>
          <p:nvPr/>
        </p:nvPicPr>
        <p:blipFill>
          <a:blip r:embed="rId3"/>
          <a:stretch>
            <a:fillRect/>
          </a:stretch>
        </p:blipFill>
        <p:spPr>
          <a:xfrm>
            <a:off x="1097280" y="1691640"/>
            <a:ext cx="640080" cy="640080"/>
          </a:xfrm>
          <a:prstGeom prst="rect">
            <a:avLst/>
          </a:prstGeom>
        </p:spPr>
      </p:pic>
      <p:sp>
        <p:nvSpPr>
          <p:cNvPr id="7" name="Text 4"/>
          <p:cNvSpPr/>
          <p:nvPr/>
        </p:nvSpPr>
        <p:spPr>
          <a:xfrm>
            <a:off x="1920240" y="1691640"/>
            <a:ext cx="6217920" cy="274320"/>
          </a:xfrm>
          <a:prstGeom prst="rect">
            <a:avLst/>
          </a:prstGeom>
          <a:noFill/>
          <a:ln/>
        </p:spPr>
        <p:txBody>
          <a:bodyPr wrap="square" rtlCol="0" anchor="ctr"/>
          <a:lstStyle/>
          <a:p>
            <a:pPr marL="0" indent="0">
              <a:buNone/>
            </a:pPr>
            <a:endParaRPr lang="en-US" sz="1600" dirty="0"/>
          </a:p>
        </p:txBody>
      </p:sp>
      <p:sp>
        <p:nvSpPr>
          <p:cNvPr id="8" name="Text 5"/>
          <p:cNvSpPr/>
          <p:nvPr/>
        </p:nvSpPr>
        <p:spPr>
          <a:xfrm>
            <a:off x="1920240" y="1691640"/>
            <a:ext cx="6217920" cy="685800"/>
          </a:xfrm>
          <a:prstGeom prst="rect">
            <a:avLst/>
          </a:prstGeom>
          <a:noFill/>
          <a:ln/>
        </p:spPr>
        <p:txBody>
          <a:bodyPr wrap="square" rtlCol="0" anchor="ctr"/>
          <a:lstStyle/>
          <a:p>
            <a:pPr marL="0" indent="0">
              <a:lnSpc>
                <a:spcPts val="1500"/>
              </a:lnSpc>
              <a:buNone/>
            </a:pPr>
            <a:r>
              <a:rPr lang="en-US" sz="1100" dirty="0">
                <a:solidFill>
                  <a:srgbClr val="2F3C7E"/>
                </a:solidFill>
              </a:rPr>
              <a:t>This model creates a user-item matrix where rows represent users and columns represent courses. It finds users with similar course-taking patterns and recommends courses that similar users have enrolled in. The similarity is calculated using cosine similarity or Pearson correlation on the user vectors.</a:t>
            </a:r>
            <a:endParaRPr lang="en-US" sz="1100" dirty="0"/>
          </a:p>
        </p:txBody>
      </p:sp>
      <p:sp>
        <p:nvSpPr>
          <p:cNvPr id="9" name="Shape 6"/>
          <p:cNvSpPr/>
          <p:nvPr/>
        </p:nvSpPr>
        <p:spPr>
          <a:xfrm>
            <a:off x="640080" y="2762794"/>
            <a:ext cx="2560320" cy="1371600"/>
          </a:xfrm>
          <a:prstGeom prst="rect">
            <a:avLst/>
          </a:prstGeom>
          <a:solidFill>
            <a:srgbClr val="FFFFFF"/>
          </a:solidFill>
          <a:ln/>
          <a:effectLst>
            <a:outerShdw blurRad="50800" dist="25400" dir="8100000" algn="bl" rotWithShape="0">
              <a:srgbClr val="000000">
                <a:alpha val="8000"/>
              </a:srgbClr>
            </a:outerShdw>
          </a:effectLst>
        </p:spPr>
      </p:sp>
      <p:sp>
        <p:nvSpPr>
          <p:cNvPr id="10" name="Shape 7"/>
          <p:cNvSpPr/>
          <p:nvPr/>
        </p:nvSpPr>
        <p:spPr>
          <a:xfrm>
            <a:off x="640080" y="2762794"/>
            <a:ext cx="2560320" cy="320040"/>
          </a:xfrm>
          <a:prstGeom prst="rect">
            <a:avLst/>
          </a:prstGeom>
          <a:solidFill>
            <a:srgbClr val="00A896"/>
          </a:solidFill>
          <a:ln/>
        </p:spPr>
      </p:sp>
      <p:sp>
        <p:nvSpPr>
          <p:cNvPr id="11" name="Text 8"/>
          <p:cNvSpPr/>
          <p:nvPr/>
        </p:nvSpPr>
        <p:spPr>
          <a:xfrm>
            <a:off x="822960" y="2854234"/>
            <a:ext cx="2194560" cy="182880"/>
          </a:xfrm>
          <a:prstGeom prst="rect">
            <a:avLst/>
          </a:prstGeom>
          <a:noFill/>
          <a:ln/>
        </p:spPr>
        <p:txBody>
          <a:bodyPr wrap="square" rtlCol="0" anchor="ctr"/>
          <a:lstStyle/>
          <a:p>
            <a:pPr marL="0" indent="0" algn="ctr">
              <a:buNone/>
            </a:pPr>
            <a:r>
              <a:rPr lang="en-US" sz="1300" b="1" dirty="0">
                <a:solidFill>
                  <a:srgbClr val="FFFFFF"/>
                </a:solidFill>
              </a:rPr>
              <a:t>Input Data</a:t>
            </a:r>
            <a:endParaRPr lang="en-US" sz="1300" dirty="0"/>
          </a:p>
        </p:txBody>
      </p:sp>
      <p:sp>
        <p:nvSpPr>
          <p:cNvPr id="12" name="Text 9"/>
          <p:cNvSpPr/>
          <p:nvPr/>
        </p:nvSpPr>
        <p:spPr>
          <a:xfrm>
            <a:off x="777240" y="3174274"/>
            <a:ext cx="2286000" cy="201168"/>
          </a:xfrm>
          <a:prstGeom prst="rect">
            <a:avLst/>
          </a:prstGeom>
          <a:noFill/>
          <a:ln/>
        </p:spPr>
        <p:txBody>
          <a:bodyPr wrap="square" rtlCol="0" anchor="ctr"/>
          <a:lstStyle/>
          <a:p>
            <a:pPr marL="0" indent="0">
              <a:lnSpc>
                <a:spcPts val="1200"/>
              </a:lnSpc>
              <a:buNone/>
            </a:pPr>
            <a:r>
              <a:rPr lang="en-US" sz="900" dirty="0">
                <a:solidFill>
                  <a:srgbClr val="2F3C7E"/>
                </a:solidFill>
              </a:rPr>
              <a:t>• User-course interaction matrix</a:t>
            </a:r>
            <a:endParaRPr lang="en-US" sz="900" dirty="0"/>
          </a:p>
        </p:txBody>
      </p:sp>
      <p:sp>
        <p:nvSpPr>
          <p:cNvPr id="13" name="Text 10"/>
          <p:cNvSpPr/>
          <p:nvPr/>
        </p:nvSpPr>
        <p:spPr>
          <a:xfrm>
            <a:off x="777240" y="3393730"/>
            <a:ext cx="2286000" cy="201168"/>
          </a:xfrm>
          <a:prstGeom prst="rect">
            <a:avLst/>
          </a:prstGeom>
          <a:noFill/>
          <a:ln/>
        </p:spPr>
        <p:txBody>
          <a:bodyPr wrap="square" rtlCol="0" anchor="ctr"/>
          <a:lstStyle/>
          <a:p>
            <a:pPr marL="0" indent="0">
              <a:lnSpc>
                <a:spcPts val="1200"/>
              </a:lnSpc>
              <a:buNone/>
            </a:pPr>
            <a:r>
              <a:rPr lang="en-US" sz="900" dirty="0">
                <a:solidFill>
                  <a:srgbClr val="2F3C7E"/>
                </a:solidFill>
              </a:rPr>
              <a:t>• Enrollment history</a:t>
            </a:r>
            <a:endParaRPr lang="en-US" sz="900" dirty="0"/>
          </a:p>
        </p:txBody>
      </p:sp>
      <p:sp>
        <p:nvSpPr>
          <p:cNvPr id="14" name="Text 11"/>
          <p:cNvSpPr/>
          <p:nvPr/>
        </p:nvSpPr>
        <p:spPr>
          <a:xfrm>
            <a:off x="777240" y="3613186"/>
            <a:ext cx="2286000" cy="201168"/>
          </a:xfrm>
          <a:prstGeom prst="rect">
            <a:avLst/>
          </a:prstGeom>
          <a:noFill/>
          <a:ln/>
        </p:spPr>
        <p:txBody>
          <a:bodyPr wrap="square" rtlCol="0" anchor="ctr"/>
          <a:lstStyle/>
          <a:p>
            <a:pPr marL="0" indent="0">
              <a:lnSpc>
                <a:spcPts val="1200"/>
              </a:lnSpc>
              <a:buNone/>
            </a:pPr>
            <a:r>
              <a:rPr lang="en-US" sz="900" dirty="0">
                <a:solidFill>
                  <a:srgbClr val="2F3C7E"/>
                </a:solidFill>
              </a:rPr>
              <a:t>• Rating patterns</a:t>
            </a:r>
            <a:endParaRPr lang="en-US" sz="900" dirty="0"/>
          </a:p>
        </p:txBody>
      </p:sp>
      <p:sp>
        <p:nvSpPr>
          <p:cNvPr id="15" name="Text 12"/>
          <p:cNvSpPr/>
          <p:nvPr/>
        </p:nvSpPr>
        <p:spPr>
          <a:xfrm>
            <a:off x="777240" y="3832642"/>
            <a:ext cx="2286000" cy="201168"/>
          </a:xfrm>
          <a:prstGeom prst="rect">
            <a:avLst/>
          </a:prstGeom>
          <a:noFill/>
          <a:ln/>
        </p:spPr>
        <p:txBody>
          <a:bodyPr wrap="square" rtlCol="0" anchor="ctr"/>
          <a:lstStyle/>
          <a:p>
            <a:pPr marL="0" indent="0">
              <a:lnSpc>
                <a:spcPts val="1200"/>
              </a:lnSpc>
              <a:buNone/>
            </a:pPr>
            <a:r>
              <a:rPr lang="en-US" sz="900" dirty="0">
                <a:solidFill>
                  <a:srgbClr val="2F3C7E"/>
                </a:solidFill>
              </a:rPr>
              <a:t>• Time spent metrics</a:t>
            </a:r>
            <a:endParaRPr lang="en-US" sz="900" dirty="0"/>
          </a:p>
        </p:txBody>
      </p:sp>
      <p:sp>
        <p:nvSpPr>
          <p:cNvPr id="16" name="Shape 13"/>
          <p:cNvSpPr/>
          <p:nvPr/>
        </p:nvSpPr>
        <p:spPr>
          <a:xfrm>
            <a:off x="3319272" y="2762794"/>
            <a:ext cx="2560320" cy="1371600"/>
          </a:xfrm>
          <a:prstGeom prst="rect">
            <a:avLst/>
          </a:prstGeom>
          <a:solidFill>
            <a:srgbClr val="FFFFFF"/>
          </a:solidFill>
          <a:ln/>
          <a:effectLst>
            <a:outerShdw blurRad="50800" dist="25400" dir="8100000" algn="bl" rotWithShape="0">
              <a:srgbClr val="000000">
                <a:alpha val="8000"/>
              </a:srgbClr>
            </a:outerShdw>
          </a:effectLst>
        </p:spPr>
      </p:sp>
      <p:sp>
        <p:nvSpPr>
          <p:cNvPr id="17" name="Shape 14"/>
          <p:cNvSpPr/>
          <p:nvPr/>
        </p:nvSpPr>
        <p:spPr>
          <a:xfrm>
            <a:off x="3319272" y="2762794"/>
            <a:ext cx="2560320" cy="320040"/>
          </a:xfrm>
          <a:prstGeom prst="rect">
            <a:avLst/>
          </a:prstGeom>
          <a:solidFill>
            <a:srgbClr val="00A896"/>
          </a:solidFill>
          <a:ln/>
        </p:spPr>
      </p:sp>
      <p:sp>
        <p:nvSpPr>
          <p:cNvPr id="18" name="Text 15"/>
          <p:cNvSpPr/>
          <p:nvPr/>
        </p:nvSpPr>
        <p:spPr>
          <a:xfrm>
            <a:off x="3502152" y="2854234"/>
            <a:ext cx="2194560" cy="182880"/>
          </a:xfrm>
          <a:prstGeom prst="rect">
            <a:avLst/>
          </a:prstGeom>
          <a:noFill/>
          <a:ln/>
        </p:spPr>
        <p:txBody>
          <a:bodyPr wrap="square" rtlCol="0" anchor="ctr"/>
          <a:lstStyle/>
          <a:p>
            <a:pPr marL="0" indent="0" algn="ctr">
              <a:buNone/>
            </a:pPr>
            <a:r>
              <a:rPr lang="en-US" sz="1300" b="1" dirty="0">
                <a:solidFill>
                  <a:srgbClr val="FFFFFF"/>
                </a:solidFill>
              </a:rPr>
              <a:t>Algorithm Details</a:t>
            </a:r>
            <a:endParaRPr lang="en-US" sz="1300" dirty="0"/>
          </a:p>
        </p:txBody>
      </p:sp>
      <p:sp>
        <p:nvSpPr>
          <p:cNvPr id="19" name="Text 16"/>
          <p:cNvSpPr/>
          <p:nvPr/>
        </p:nvSpPr>
        <p:spPr>
          <a:xfrm>
            <a:off x="3456432" y="3174274"/>
            <a:ext cx="2286000" cy="201168"/>
          </a:xfrm>
          <a:prstGeom prst="rect">
            <a:avLst/>
          </a:prstGeom>
          <a:noFill/>
          <a:ln/>
        </p:spPr>
        <p:txBody>
          <a:bodyPr wrap="square" rtlCol="0" anchor="ctr"/>
          <a:lstStyle/>
          <a:p>
            <a:pPr marL="0" indent="0">
              <a:lnSpc>
                <a:spcPts val="1200"/>
              </a:lnSpc>
              <a:buNone/>
            </a:pPr>
            <a:r>
              <a:rPr lang="en-US" sz="900" dirty="0">
                <a:solidFill>
                  <a:srgbClr val="2F3C7E"/>
                </a:solidFill>
              </a:rPr>
              <a:t>• K-Nearest Neighbors</a:t>
            </a:r>
            <a:endParaRPr lang="en-US" sz="900" dirty="0"/>
          </a:p>
        </p:txBody>
      </p:sp>
      <p:sp>
        <p:nvSpPr>
          <p:cNvPr id="20" name="Text 17"/>
          <p:cNvSpPr/>
          <p:nvPr/>
        </p:nvSpPr>
        <p:spPr>
          <a:xfrm>
            <a:off x="3456432" y="3393730"/>
            <a:ext cx="2286000" cy="201168"/>
          </a:xfrm>
          <a:prstGeom prst="rect">
            <a:avLst/>
          </a:prstGeom>
          <a:noFill/>
          <a:ln/>
        </p:spPr>
        <p:txBody>
          <a:bodyPr wrap="square" rtlCol="0" anchor="ctr"/>
          <a:lstStyle/>
          <a:p>
            <a:pPr marL="0" indent="0">
              <a:lnSpc>
                <a:spcPts val="1200"/>
              </a:lnSpc>
              <a:buNone/>
            </a:pPr>
            <a:r>
              <a:rPr lang="en-US" sz="900" dirty="0">
                <a:solidFill>
                  <a:srgbClr val="2F3C7E"/>
                </a:solidFill>
              </a:rPr>
              <a:t>• Cosine similarity metric</a:t>
            </a:r>
            <a:endParaRPr lang="en-US" sz="900" dirty="0"/>
          </a:p>
        </p:txBody>
      </p:sp>
      <p:sp>
        <p:nvSpPr>
          <p:cNvPr id="21" name="Text 18"/>
          <p:cNvSpPr/>
          <p:nvPr/>
        </p:nvSpPr>
        <p:spPr>
          <a:xfrm>
            <a:off x="3456432" y="3613186"/>
            <a:ext cx="2286000" cy="201168"/>
          </a:xfrm>
          <a:prstGeom prst="rect">
            <a:avLst/>
          </a:prstGeom>
          <a:noFill/>
          <a:ln/>
        </p:spPr>
        <p:txBody>
          <a:bodyPr wrap="square" rtlCol="0" anchor="ctr"/>
          <a:lstStyle/>
          <a:p>
            <a:pPr marL="0" indent="0">
              <a:lnSpc>
                <a:spcPts val="1200"/>
              </a:lnSpc>
              <a:buNone/>
            </a:pPr>
            <a:r>
              <a:rPr lang="en-US" sz="900" dirty="0">
                <a:solidFill>
                  <a:srgbClr val="2F3C7E"/>
                </a:solidFill>
              </a:rPr>
              <a:t>• k=20 similar users</a:t>
            </a:r>
            <a:endParaRPr lang="en-US" sz="900" dirty="0"/>
          </a:p>
        </p:txBody>
      </p:sp>
      <p:sp>
        <p:nvSpPr>
          <p:cNvPr id="22" name="Text 19"/>
          <p:cNvSpPr/>
          <p:nvPr/>
        </p:nvSpPr>
        <p:spPr>
          <a:xfrm>
            <a:off x="3456432" y="3832642"/>
            <a:ext cx="2286000" cy="201168"/>
          </a:xfrm>
          <a:prstGeom prst="rect">
            <a:avLst/>
          </a:prstGeom>
          <a:noFill/>
          <a:ln/>
        </p:spPr>
        <p:txBody>
          <a:bodyPr wrap="square" rtlCol="0" anchor="ctr"/>
          <a:lstStyle/>
          <a:p>
            <a:pPr marL="0" indent="0">
              <a:lnSpc>
                <a:spcPts val="1200"/>
              </a:lnSpc>
              <a:buNone/>
            </a:pPr>
            <a:r>
              <a:rPr lang="en-US" sz="900" dirty="0">
                <a:solidFill>
                  <a:srgbClr val="2F3C7E"/>
                </a:solidFill>
              </a:rPr>
              <a:t>• Weighted recommendations</a:t>
            </a:r>
            <a:endParaRPr lang="en-US" sz="900" dirty="0"/>
          </a:p>
        </p:txBody>
      </p:sp>
      <p:sp>
        <p:nvSpPr>
          <p:cNvPr id="23" name="Shape 20"/>
          <p:cNvSpPr/>
          <p:nvPr/>
        </p:nvSpPr>
        <p:spPr>
          <a:xfrm>
            <a:off x="5998464" y="2762794"/>
            <a:ext cx="2560320" cy="1371600"/>
          </a:xfrm>
          <a:prstGeom prst="rect">
            <a:avLst/>
          </a:prstGeom>
          <a:solidFill>
            <a:srgbClr val="FFFFFF"/>
          </a:solidFill>
          <a:ln/>
          <a:effectLst>
            <a:outerShdw blurRad="50800" dist="25400" dir="8100000" algn="bl" rotWithShape="0">
              <a:srgbClr val="000000">
                <a:alpha val="8000"/>
              </a:srgbClr>
            </a:outerShdw>
          </a:effectLst>
        </p:spPr>
      </p:sp>
      <p:sp>
        <p:nvSpPr>
          <p:cNvPr id="24" name="Shape 21"/>
          <p:cNvSpPr/>
          <p:nvPr/>
        </p:nvSpPr>
        <p:spPr>
          <a:xfrm>
            <a:off x="5998464" y="2762794"/>
            <a:ext cx="2560320" cy="320040"/>
          </a:xfrm>
          <a:prstGeom prst="rect">
            <a:avLst/>
          </a:prstGeom>
          <a:solidFill>
            <a:srgbClr val="00A896"/>
          </a:solidFill>
          <a:ln/>
        </p:spPr>
      </p:sp>
      <p:sp>
        <p:nvSpPr>
          <p:cNvPr id="25" name="Text 22"/>
          <p:cNvSpPr/>
          <p:nvPr/>
        </p:nvSpPr>
        <p:spPr>
          <a:xfrm>
            <a:off x="6181344" y="2854234"/>
            <a:ext cx="2194560" cy="182880"/>
          </a:xfrm>
          <a:prstGeom prst="rect">
            <a:avLst/>
          </a:prstGeom>
          <a:noFill/>
          <a:ln/>
        </p:spPr>
        <p:txBody>
          <a:bodyPr wrap="square" rtlCol="0" anchor="ctr"/>
          <a:lstStyle/>
          <a:p>
            <a:pPr marL="0" indent="0" algn="ctr">
              <a:buNone/>
            </a:pPr>
            <a:r>
              <a:rPr lang="en-US" sz="1300" b="1" dirty="0">
                <a:solidFill>
                  <a:srgbClr val="FFFFFF"/>
                </a:solidFill>
              </a:rPr>
              <a:t>Advantages</a:t>
            </a:r>
            <a:endParaRPr lang="en-US" sz="1300" dirty="0"/>
          </a:p>
        </p:txBody>
      </p:sp>
      <p:sp>
        <p:nvSpPr>
          <p:cNvPr id="26" name="Text 23"/>
          <p:cNvSpPr/>
          <p:nvPr/>
        </p:nvSpPr>
        <p:spPr>
          <a:xfrm>
            <a:off x="6135624" y="3174274"/>
            <a:ext cx="2286000" cy="201168"/>
          </a:xfrm>
          <a:prstGeom prst="rect">
            <a:avLst/>
          </a:prstGeom>
          <a:noFill/>
          <a:ln/>
        </p:spPr>
        <p:txBody>
          <a:bodyPr wrap="square" rtlCol="0" anchor="ctr"/>
          <a:lstStyle/>
          <a:p>
            <a:pPr marL="0" indent="0">
              <a:lnSpc>
                <a:spcPts val="1200"/>
              </a:lnSpc>
              <a:buNone/>
            </a:pPr>
            <a:r>
              <a:rPr lang="en-US" sz="900" dirty="0">
                <a:solidFill>
                  <a:srgbClr val="2F3C7E"/>
                </a:solidFill>
              </a:rPr>
              <a:t>• Discovers hidden patterns</a:t>
            </a:r>
            <a:endParaRPr lang="en-US" sz="900" dirty="0"/>
          </a:p>
        </p:txBody>
      </p:sp>
      <p:sp>
        <p:nvSpPr>
          <p:cNvPr id="27" name="Text 24"/>
          <p:cNvSpPr/>
          <p:nvPr/>
        </p:nvSpPr>
        <p:spPr>
          <a:xfrm>
            <a:off x="6135624" y="3393730"/>
            <a:ext cx="2286000" cy="201168"/>
          </a:xfrm>
          <a:prstGeom prst="rect">
            <a:avLst/>
          </a:prstGeom>
          <a:noFill/>
          <a:ln/>
        </p:spPr>
        <p:txBody>
          <a:bodyPr wrap="square" rtlCol="0" anchor="ctr"/>
          <a:lstStyle/>
          <a:p>
            <a:pPr marL="0" indent="0">
              <a:lnSpc>
                <a:spcPts val="1200"/>
              </a:lnSpc>
              <a:buNone/>
            </a:pPr>
            <a:r>
              <a:rPr lang="en-US" sz="900" dirty="0">
                <a:solidFill>
                  <a:srgbClr val="2F3C7E"/>
                </a:solidFill>
              </a:rPr>
              <a:t>• No content needed</a:t>
            </a:r>
            <a:endParaRPr lang="en-US" sz="900" dirty="0"/>
          </a:p>
        </p:txBody>
      </p:sp>
      <p:sp>
        <p:nvSpPr>
          <p:cNvPr id="28" name="Text 25"/>
          <p:cNvSpPr/>
          <p:nvPr/>
        </p:nvSpPr>
        <p:spPr>
          <a:xfrm>
            <a:off x="6135624" y="3613186"/>
            <a:ext cx="2286000" cy="201168"/>
          </a:xfrm>
          <a:prstGeom prst="rect">
            <a:avLst/>
          </a:prstGeom>
          <a:noFill/>
          <a:ln/>
        </p:spPr>
        <p:txBody>
          <a:bodyPr wrap="square" rtlCol="0" anchor="ctr"/>
          <a:lstStyle/>
          <a:p>
            <a:pPr marL="0" indent="0">
              <a:lnSpc>
                <a:spcPts val="1200"/>
              </a:lnSpc>
              <a:buNone/>
            </a:pPr>
            <a:r>
              <a:rPr lang="en-US" sz="900" dirty="0">
                <a:solidFill>
                  <a:srgbClr val="2F3C7E"/>
                </a:solidFill>
              </a:rPr>
              <a:t>• Serendipitous finds</a:t>
            </a:r>
            <a:endParaRPr lang="en-US" sz="900" dirty="0"/>
          </a:p>
        </p:txBody>
      </p:sp>
      <p:sp>
        <p:nvSpPr>
          <p:cNvPr id="29" name="Text 26"/>
          <p:cNvSpPr/>
          <p:nvPr/>
        </p:nvSpPr>
        <p:spPr>
          <a:xfrm>
            <a:off x="6135624" y="3832642"/>
            <a:ext cx="2286000" cy="201168"/>
          </a:xfrm>
          <a:prstGeom prst="rect">
            <a:avLst/>
          </a:prstGeom>
          <a:noFill/>
          <a:ln/>
        </p:spPr>
        <p:txBody>
          <a:bodyPr wrap="square" rtlCol="0" anchor="ctr"/>
          <a:lstStyle/>
          <a:p>
            <a:pPr marL="0" indent="0">
              <a:lnSpc>
                <a:spcPts val="1200"/>
              </a:lnSpc>
              <a:buNone/>
            </a:pPr>
            <a:r>
              <a:rPr lang="en-US" sz="900" dirty="0">
                <a:solidFill>
                  <a:srgbClr val="2F3C7E"/>
                </a:solidFill>
              </a:rPr>
              <a:t>• Captures user behavior</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lIns="0" tIns="0" rIns="0" bIns="0" rtlCol="0" anchor="ctr"/>
          <a:lstStyle/>
          <a:p>
            <a:pPr marL="0" indent="0">
              <a:buNone/>
            </a:pPr>
            <a:r>
              <a:rPr lang="en-US" sz="3200" b="1" dirty="0">
                <a:solidFill>
                  <a:srgbClr val="2F3C7E"/>
                </a:solidFill>
              </a:rPr>
              <a:t>MODEL 3: MATRIX FACTORIZATION</a:t>
            </a:r>
            <a:endParaRPr lang="en-US" sz="3200" dirty="0"/>
          </a:p>
        </p:txBody>
      </p:sp>
      <p:sp>
        <p:nvSpPr>
          <p:cNvPr id="3" name="Text 1"/>
          <p:cNvSpPr/>
          <p:nvPr/>
        </p:nvSpPr>
        <p:spPr>
          <a:xfrm>
            <a:off x="457200" y="658368"/>
            <a:ext cx="8229600" cy="365760"/>
          </a:xfrm>
          <a:prstGeom prst="rect">
            <a:avLst/>
          </a:prstGeom>
          <a:noFill/>
          <a:ln/>
        </p:spPr>
        <p:txBody>
          <a:bodyPr wrap="square" lIns="0" tIns="0" rIns="0" bIns="0" rtlCol="0" anchor="ctr"/>
          <a:lstStyle/>
          <a:p>
            <a:pPr marL="0" indent="0">
              <a:buNone/>
            </a:pPr>
            <a:r>
              <a:rPr lang="en-US" sz="3200" b="1" dirty="0">
                <a:solidFill>
                  <a:srgbClr val="2F3C7E"/>
                </a:solidFill>
              </a:rPr>
              <a:t>(SVD) - COLLABORATIVE FILTERING</a:t>
            </a:r>
            <a:endParaRPr lang="en-US" sz="3200" dirty="0"/>
          </a:p>
        </p:txBody>
      </p:sp>
      <p:sp>
        <p:nvSpPr>
          <p:cNvPr id="4" name="Text 2"/>
          <p:cNvSpPr/>
          <p:nvPr/>
        </p:nvSpPr>
        <p:spPr>
          <a:xfrm>
            <a:off x="457200" y="1097280"/>
            <a:ext cx="8229600" cy="228600"/>
          </a:xfrm>
          <a:prstGeom prst="rect">
            <a:avLst/>
          </a:prstGeom>
          <a:noFill/>
          <a:ln/>
        </p:spPr>
        <p:txBody>
          <a:bodyPr wrap="square" rtlCol="0" anchor="ctr"/>
          <a:lstStyle/>
          <a:p>
            <a:pPr marL="0" indent="0">
              <a:buNone/>
            </a:pPr>
            <a:r>
              <a:rPr lang="en-US" sz="1400" i="1" dirty="0">
                <a:solidFill>
                  <a:srgbClr val="02C39A"/>
                </a:solidFill>
              </a:rPr>
              <a:t>Advanced Collaborative Filtering Using Singular Value Decomposition</a:t>
            </a:r>
            <a:endParaRPr lang="en-US" sz="1400" dirty="0"/>
          </a:p>
        </p:txBody>
      </p:sp>
      <p:sp>
        <p:nvSpPr>
          <p:cNvPr id="5" name="Shape 3"/>
          <p:cNvSpPr/>
          <p:nvPr/>
        </p:nvSpPr>
        <p:spPr>
          <a:xfrm>
            <a:off x="640080" y="1463040"/>
            <a:ext cx="7863840" cy="1097280"/>
          </a:xfrm>
          <a:prstGeom prst="rect">
            <a:avLst/>
          </a:prstGeom>
          <a:solidFill>
            <a:srgbClr val="FFFFFF"/>
          </a:solidFill>
          <a:ln/>
          <a:effectLst>
            <a:outerShdw blurRad="76200" dist="25400" dir="8100000" algn="bl" rotWithShape="0">
              <a:srgbClr val="000000">
                <a:alpha val="8000"/>
              </a:srgbClr>
            </a:outerShdw>
          </a:effectLst>
        </p:spPr>
      </p:sp>
      <p:sp>
        <p:nvSpPr>
          <p:cNvPr id="6" name="Shape 4"/>
          <p:cNvSpPr/>
          <p:nvPr/>
        </p:nvSpPr>
        <p:spPr>
          <a:xfrm>
            <a:off x="640080" y="1463040"/>
            <a:ext cx="73152" cy="1097280"/>
          </a:xfrm>
          <a:prstGeom prst="rect">
            <a:avLst/>
          </a:prstGeom>
          <a:solidFill>
            <a:srgbClr val="02C39A"/>
          </a:solidFill>
          <a:ln/>
        </p:spPr>
      </p:sp>
      <p:pic>
        <p:nvPicPr>
          <p:cNvPr id="7" name="Image 0" descr="preencoded.png"/>
          <p:cNvPicPr>
            <a:picLocks noChangeAspect="1"/>
          </p:cNvPicPr>
          <p:nvPr/>
        </p:nvPicPr>
        <p:blipFill>
          <a:blip r:embed="rId3"/>
          <a:stretch>
            <a:fillRect/>
          </a:stretch>
        </p:blipFill>
        <p:spPr>
          <a:xfrm>
            <a:off x="1097280" y="1691640"/>
            <a:ext cx="548640" cy="548640"/>
          </a:xfrm>
          <a:prstGeom prst="rect">
            <a:avLst/>
          </a:prstGeom>
        </p:spPr>
      </p:pic>
      <p:sp>
        <p:nvSpPr>
          <p:cNvPr id="8" name="Text 5"/>
          <p:cNvSpPr/>
          <p:nvPr/>
        </p:nvSpPr>
        <p:spPr>
          <a:xfrm>
            <a:off x="1828800" y="1691640"/>
            <a:ext cx="6400800" cy="685800"/>
          </a:xfrm>
          <a:prstGeom prst="rect">
            <a:avLst/>
          </a:prstGeom>
          <a:noFill/>
          <a:ln/>
        </p:spPr>
        <p:txBody>
          <a:bodyPr wrap="square" rtlCol="0" anchor="ctr"/>
          <a:lstStyle/>
          <a:p>
            <a:pPr marL="0" indent="0">
              <a:lnSpc>
                <a:spcPts val="1600"/>
              </a:lnSpc>
              <a:buNone/>
            </a:pPr>
            <a:r>
              <a:rPr lang="en-US" sz="1200" dirty="0">
                <a:solidFill>
                  <a:srgbClr val="2F3C7E"/>
                </a:solidFill>
              </a:rPr>
              <a:t>SVD decomposes the user-item matrix into latent factors that represent hidden features of users and courses. This approach handles sparse data better than traditional collaborative filtering and can predict ratings for unobserved user-course pairs.</a:t>
            </a:r>
            <a:endParaRPr lang="en-US" sz="1200" dirty="0"/>
          </a:p>
        </p:txBody>
      </p:sp>
      <p:sp>
        <p:nvSpPr>
          <p:cNvPr id="9" name="Shape 6"/>
          <p:cNvSpPr/>
          <p:nvPr/>
        </p:nvSpPr>
        <p:spPr>
          <a:xfrm>
            <a:off x="640080" y="2743200"/>
            <a:ext cx="3840480" cy="1959428"/>
          </a:xfrm>
          <a:prstGeom prst="rect">
            <a:avLst/>
          </a:prstGeom>
          <a:solidFill>
            <a:srgbClr val="FFFFFF"/>
          </a:solidFill>
          <a:ln/>
          <a:effectLst>
            <a:outerShdw blurRad="50800" dist="25400" dir="8100000" algn="bl" rotWithShape="0">
              <a:srgbClr val="000000">
                <a:alpha val="8000"/>
              </a:srgbClr>
            </a:outerShdw>
          </a:effectLst>
        </p:spPr>
      </p:sp>
      <p:sp>
        <p:nvSpPr>
          <p:cNvPr id="10" name="Text 7"/>
          <p:cNvSpPr/>
          <p:nvPr/>
        </p:nvSpPr>
        <p:spPr>
          <a:xfrm>
            <a:off x="822960" y="2926080"/>
            <a:ext cx="3474720" cy="274320"/>
          </a:xfrm>
          <a:prstGeom prst="rect">
            <a:avLst/>
          </a:prstGeom>
          <a:noFill/>
          <a:ln/>
        </p:spPr>
        <p:txBody>
          <a:bodyPr wrap="square" rtlCol="0" anchor="ctr"/>
          <a:lstStyle/>
          <a:p>
            <a:pPr marL="0" indent="0">
              <a:buNone/>
            </a:pPr>
            <a:r>
              <a:rPr lang="en-US" sz="1500" b="1" dirty="0">
                <a:solidFill>
                  <a:srgbClr val="028090"/>
                </a:solidFill>
              </a:rPr>
              <a:t>Technical Implementation</a:t>
            </a:r>
            <a:endParaRPr lang="en-US" sz="1500" dirty="0"/>
          </a:p>
        </p:txBody>
      </p:sp>
      <p:sp>
        <p:nvSpPr>
          <p:cNvPr id="12" name="Text 9"/>
          <p:cNvSpPr/>
          <p:nvPr/>
        </p:nvSpPr>
        <p:spPr>
          <a:xfrm>
            <a:off x="914400" y="3319272"/>
            <a:ext cx="3383280" cy="228600"/>
          </a:xfrm>
          <a:prstGeom prst="rect">
            <a:avLst/>
          </a:prstGeom>
          <a:noFill/>
          <a:ln/>
        </p:spPr>
        <p:txBody>
          <a:bodyPr wrap="square" rtlCol="0" anchor="ctr"/>
          <a:lstStyle/>
          <a:p>
            <a:pPr marL="0" indent="0">
              <a:lnSpc>
                <a:spcPts val="1300"/>
              </a:lnSpc>
              <a:buNone/>
            </a:pPr>
            <a:r>
              <a:rPr lang="en-US" sz="1100" dirty="0">
                <a:solidFill>
                  <a:srgbClr val="2F3C7E"/>
                </a:solidFill>
              </a:rPr>
              <a:t>• Decomposed into user &amp; course latent factors</a:t>
            </a:r>
            <a:endParaRPr lang="en-US" sz="1100" dirty="0"/>
          </a:p>
        </p:txBody>
      </p:sp>
      <p:sp>
        <p:nvSpPr>
          <p:cNvPr id="13" name="Text 10"/>
          <p:cNvSpPr/>
          <p:nvPr/>
        </p:nvSpPr>
        <p:spPr>
          <a:xfrm>
            <a:off x="914400" y="3575304"/>
            <a:ext cx="3383280" cy="228600"/>
          </a:xfrm>
          <a:prstGeom prst="rect">
            <a:avLst/>
          </a:prstGeom>
          <a:noFill/>
          <a:ln/>
        </p:spPr>
        <p:txBody>
          <a:bodyPr wrap="square" rtlCol="0" anchor="ctr"/>
          <a:lstStyle/>
          <a:p>
            <a:pPr marL="0" indent="0">
              <a:lnSpc>
                <a:spcPts val="1300"/>
              </a:lnSpc>
              <a:buNone/>
            </a:pPr>
            <a:r>
              <a:rPr lang="en-US" sz="1100" dirty="0">
                <a:solidFill>
                  <a:srgbClr val="2F3C7E"/>
                </a:solidFill>
              </a:rPr>
              <a:t>• Reduced dimensionality to k components</a:t>
            </a:r>
            <a:endParaRPr lang="en-US" sz="1100" dirty="0"/>
          </a:p>
        </p:txBody>
      </p:sp>
      <p:sp>
        <p:nvSpPr>
          <p:cNvPr id="14" name="Text 11"/>
          <p:cNvSpPr/>
          <p:nvPr/>
        </p:nvSpPr>
        <p:spPr>
          <a:xfrm>
            <a:off x="914400" y="3831336"/>
            <a:ext cx="3383280" cy="228600"/>
          </a:xfrm>
          <a:prstGeom prst="rect">
            <a:avLst/>
          </a:prstGeom>
          <a:noFill/>
          <a:ln/>
        </p:spPr>
        <p:txBody>
          <a:bodyPr wrap="square" rtlCol="0" anchor="ctr"/>
          <a:lstStyle/>
          <a:p>
            <a:pPr marL="0" indent="0">
              <a:lnSpc>
                <a:spcPts val="1300"/>
              </a:lnSpc>
              <a:buNone/>
            </a:pPr>
            <a:r>
              <a:rPr lang="en-US" sz="1100" dirty="0">
                <a:solidFill>
                  <a:srgbClr val="2F3C7E"/>
                </a:solidFill>
              </a:rPr>
              <a:t>• Reconstructed matrix to predict ratings</a:t>
            </a:r>
            <a:endParaRPr lang="en-US" sz="1100" dirty="0"/>
          </a:p>
        </p:txBody>
      </p:sp>
      <p:sp>
        <p:nvSpPr>
          <p:cNvPr id="15" name="Text 12"/>
          <p:cNvSpPr/>
          <p:nvPr/>
        </p:nvSpPr>
        <p:spPr>
          <a:xfrm>
            <a:off x="914400" y="4087368"/>
            <a:ext cx="3383280" cy="228600"/>
          </a:xfrm>
          <a:prstGeom prst="rect">
            <a:avLst/>
          </a:prstGeom>
          <a:noFill/>
          <a:ln/>
        </p:spPr>
        <p:txBody>
          <a:bodyPr wrap="square" rtlCol="0" anchor="ctr"/>
          <a:lstStyle/>
          <a:p>
            <a:pPr marL="0" indent="0">
              <a:lnSpc>
                <a:spcPts val="1300"/>
              </a:lnSpc>
              <a:buNone/>
            </a:pPr>
            <a:r>
              <a:rPr lang="en-US" sz="1100" dirty="0">
                <a:solidFill>
                  <a:srgbClr val="2F3C7E"/>
                </a:solidFill>
              </a:rPr>
              <a:t>• Handled missing values effectively</a:t>
            </a:r>
            <a:endParaRPr lang="en-US" sz="1100" dirty="0"/>
          </a:p>
        </p:txBody>
      </p:sp>
      <p:sp>
        <p:nvSpPr>
          <p:cNvPr id="16" name="Shape 13"/>
          <p:cNvSpPr/>
          <p:nvPr/>
        </p:nvSpPr>
        <p:spPr>
          <a:xfrm>
            <a:off x="4663442" y="2735361"/>
            <a:ext cx="3840480" cy="1967267"/>
          </a:xfrm>
          <a:prstGeom prst="rect">
            <a:avLst/>
          </a:prstGeom>
          <a:solidFill>
            <a:srgbClr val="FFFFFF"/>
          </a:solidFill>
          <a:ln/>
          <a:effectLst>
            <a:outerShdw blurRad="50800" dist="25400" dir="8100000" algn="bl" rotWithShape="0">
              <a:srgbClr val="000000">
                <a:alpha val="8000"/>
              </a:srgbClr>
            </a:outerShdw>
          </a:effectLst>
        </p:spPr>
      </p:sp>
      <p:sp>
        <p:nvSpPr>
          <p:cNvPr id="17" name="Text 14"/>
          <p:cNvSpPr/>
          <p:nvPr/>
        </p:nvSpPr>
        <p:spPr>
          <a:xfrm>
            <a:off x="4846320" y="2926080"/>
            <a:ext cx="3474720" cy="274320"/>
          </a:xfrm>
          <a:prstGeom prst="rect">
            <a:avLst/>
          </a:prstGeom>
          <a:noFill/>
          <a:ln/>
        </p:spPr>
        <p:txBody>
          <a:bodyPr wrap="square" rtlCol="0" anchor="ctr"/>
          <a:lstStyle/>
          <a:p>
            <a:pPr marL="0" indent="0">
              <a:buNone/>
            </a:pPr>
            <a:r>
              <a:rPr lang="en-US" sz="1500" b="1" dirty="0">
                <a:solidFill>
                  <a:srgbClr val="028090"/>
                </a:solidFill>
              </a:rPr>
              <a:t>Key Benefits</a:t>
            </a:r>
            <a:endParaRPr lang="en-US" sz="1500" dirty="0"/>
          </a:p>
        </p:txBody>
      </p:sp>
      <p:sp>
        <p:nvSpPr>
          <p:cNvPr id="18" name="Text 15"/>
          <p:cNvSpPr/>
          <p:nvPr/>
        </p:nvSpPr>
        <p:spPr>
          <a:xfrm>
            <a:off x="4937760" y="3291840"/>
            <a:ext cx="3383280" cy="274320"/>
          </a:xfrm>
          <a:prstGeom prst="rect">
            <a:avLst/>
          </a:prstGeom>
          <a:noFill/>
          <a:ln/>
        </p:spPr>
        <p:txBody>
          <a:bodyPr wrap="square" rtlCol="0" anchor="ctr"/>
          <a:lstStyle/>
          <a:p>
            <a:pPr marL="0" indent="0">
              <a:lnSpc>
                <a:spcPts val="1400"/>
              </a:lnSpc>
              <a:buNone/>
            </a:pPr>
            <a:r>
              <a:rPr lang="en-US" sz="1000" b="1" dirty="0">
                <a:solidFill>
                  <a:srgbClr val="02C39A"/>
                </a:solidFill>
              </a:rPr>
              <a:t>Sparsity Handling: </a:t>
            </a:r>
            <a:r>
              <a:rPr lang="en-US" sz="1000" dirty="0">
                <a:solidFill>
                  <a:srgbClr val="666666"/>
                </a:solidFill>
              </a:rPr>
              <a:t>Works well with incomplete data</a:t>
            </a:r>
            <a:endParaRPr lang="en-US" sz="1000" dirty="0"/>
          </a:p>
        </p:txBody>
      </p:sp>
      <p:sp>
        <p:nvSpPr>
          <p:cNvPr id="19" name="Text 16"/>
          <p:cNvSpPr/>
          <p:nvPr/>
        </p:nvSpPr>
        <p:spPr>
          <a:xfrm>
            <a:off x="4937760" y="3639312"/>
            <a:ext cx="3383280" cy="274320"/>
          </a:xfrm>
          <a:prstGeom prst="rect">
            <a:avLst/>
          </a:prstGeom>
          <a:noFill/>
          <a:ln/>
        </p:spPr>
        <p:txBody>
          <a:bodyPr wrap="square" rtlCol="0" anchor="ctr"/>
          <a:lstStyle/>
          <a:p>
            <a:pPr marL="0" indent="0">
              <a:lnSpc>
                <a:spcPts val="1400"/>
              </a:lnSpc>
              <a:buNone/>
            </a:pPr>
            <a:r>
              <a:rPr lang="en-US" sz="1000" b="1" dirty="0">
                <a:solidFill>
                  <a:srgbClr val="02C39A"/>
                </a:solidFill>
              </a:rPr>
              <a:t>Latent Features: </a:t>
            </a:r>
            <a:r>
              <a:rPr lang="en-US" sz="1000" dirty="0">
                <a:solidFill>
                  <a:srgbClr val="666666"/>
                </a:solidFill>
              </a:rPr>
              <a:t>Discovers hidden patterns</a:t>
            </a:r>
            <a:endParaRPr lang="en-US" sz="1000" dirty="0"/>
          </a:p>
        </p:txBody>
      </p:sp>
      <p:sp>
        <p:nvSpPr>
          <p:cNvPr id="20" name="Text 17"/>
          <p:cNvSpPr/>
          <p:nvPr/>
        </p:nvSpPr>
        <p:spPr>
          <a:xfrm>
            <a:off x="4937760" y="3986784"/>
            <a:ext cx="3383280" cy="274320"/>
          </a:xfrm>
          <a:prstGeom prst="rect">
            <a:avLst/>
          </a:prstGeom>
          <a:noFill/>
          <a:ln/>
        </p:spPr>
        <p:txBody>
          <a:bodyPr wrap="square" rtlCol="0" anchor="ctr"/>
          <a:lstStyle/>
          <a:p>
            <a:pPr marL="0" indent="0">
              <a:lnSpc>
                <a:spcPts val="1400"/>
              </a:lnSpc>
              <a:buNone/>
            </a:pPr>
            <a:r>
              <a:rPr lang="en-US" sz="1000" b="1" dirty="0">
                <a:solidFill>
                  <a:srgbClr val="02C39A"/>
                </a:solidFill>
              </a:rPr>
              <a:t>Scalability: </a:t>
            </a:r>
            <a:r>
              <a:rPr lang="en-US" sz="1000" dirty="0">
                <a:solidFill>
                  <a:srgbClr val="666666"/>
                </a:solidFill>
              </a:rPr>
              <a:t>Efficient for large matrices</a:t>
            </a:r>
            <a:endParaRPr lang="en-US" sz="1000" dirty="0"/>
          </a:p>
        </p:txBody>
      </p:sp>
      <p:sp>
        <p:nvSpPr>
          <p:cNvPr id="21" name="Text 18"/>
          <p:cNvSpPr/>
          <p:nvPr/>
        </p:nvSpPr>
        <p:spPr>
          <a:xfrm>
            <a:off x="4937760" y="4334256"/>
            <a:ext cx="3383280" cy="274320"/>
          </a:xfrm>
          <a:prstGeom prst="rect">
            <a:avLst/>
          </a:prstGeom>
          <a:noFill/>
          <a:ln/>
        </p:spPr>
        <p:txBody>
          <a:bodyPr wrap="square" rtlCol="0" anchor="ctr"/>
          <a:lstStyle/>
          <a:p>
            <a:pPr marL="0" indent="0">
              <a:lnSpc>
                <a:spcPts val="1400"/>
              </a:lnSpc>
              <a:buNone/>
            </a:pPr>
            <a:r>
              <a:rPr lang="en-US" sz="1000" b="1" dirty="0">
                <a:solidFill>
                  <a:srgbClr val="02C39A"/>
                </a:solidFill>
              </a:rPr>
              <a:t>Predictions: </a:t>
            </a:r>
            <a:r>
              <a:rPr lang="en-US" sz="1000" dirty="0">
                <a:solidFill>
                  <a:srgbClr val="666666"/>
                </a:solidFill>
              </a:rPr>
              <a:t>Can estimate unknown ratings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buNone/>
            </a:pPr>
            <a:r>
              <a:rPr lang="en-US" sz="3600" b="1" dirty="0">
                <a:solidFill>
                  <a:srgbClr val="2F3C7E"/>
                </a:solidFill>
              </a:rPr>
              <a:t>MODEL 4: HYBRID APPROACH</a:t>
            </a:r>
            <a:endParaRPr lang="en-US" sz="3600" dirty="0"/>
          </a:p>
        </p:txBody>
      </p:sp>
      <p:sp>
        <p:nvSpPr>
          <p:cNvPr id="3" name="Shape 1"/>
          <p:cNvSpPr/>
          <p:nvPr/>
        </p:nvSpPr>
        <p:spPr>
          <a:xfrm>
            <a:off x="457200" y="973179"/>
            <a:ext cx="8229600" cy="914400"/>
          </a:xfrm>
          <a:prstGeom prst="rect">
            <a:avLst/>
          </a:prstGeom>
          <a:solidFill>
            <a:srgbClr val="FFFFFF"/>
          </a:solidFill>
          <a:ln/>
          <a:effectLst>
            <a:outerShdw blurRad="76200" dist="25400" dir="8100000" algn="bl" rotWithShape="0">
              <a:srgbClr val="000000">
                <a:alpha val="8000"/>
              </a:srgbClr>
            </a:outerShdw>
          </a:effectLst>
        </p:spPr>
      </p:sp>
      <p:sp>
        <p:nvSpPr>
          <p:cNvPr id="4" name="Shape 2"/>
          <p:cNvSpPr/>
          <p:nvPr/>
        </p:nvSpPr>
        <p:spPr>
          <a:xfrm>
            <a:off x="457200" y="973179"/>
            <a:ext cx="73152" cy="914400"/>
          </a:xfrm>
          <a:prstGeom prst="rect">
            <a:avLst/>
          </a:prstGeom>
          <a:solidFill>
            <a:srgbClr val="028090"/>
          </a:solidFill>
          <a:ln/>
        </p:spPr>
      </p:sp>
      <p:sp>
        <p:nvSpPr>
          <p:cNvPr id="5" name="Text 3"/>
          <p:cNvSpPr/>
          <p:nvPr/>
        </p:nvSpPr>
        <p:spPr>
          <a:xfrm>
            <a:off x="731520" y="1097280"/>
            <a:ext cx="7680960" cy="320040"/>
          </a:xfrm>
          <a:prstGeom prst="rect">
            <a:avLst/>
          </a:prstGeom>
          <a:noFill/>
          <a:ln/>
        </p:spPr>
        <p:txBody>
          <a:bodyPr wrap="square" rtlCol="0" anchor="ctr"/>
          <a:lstStyle/>
          <a:p>
            <a:pPr marL="0" indent="0" algn="ctr">
              <a:buNone/>
            </a:pPr>
            <a:r>
              <a:rPr lang="en-US" sz="1800" b="1" dirty="0">
                <a:solidFill>
                  <a:srgbClr val="028090"/>
                </a:solidFill>
              </a:rPr>
              <a:t>Combining Content-Based + Collaborative Filtering</a:t>
            </a:r>
            <a:endParaRPr lang="en-US" sz="1800" dirty="0"/>
          </a:p>
        </p:txBody>
      </p:sp>
      <p:sp>
        <p:nvSpPr>
          <p:cNvPr id="6" name="Text 4"/>
          <p:cNvSpPr/>
          <p:nvPr/>
        </p:nvSpPr>
        <p:spPr>
          <a:xfrm>
            <a:off x="731520" y="1463040"/>
            <a:ext cx="7680960" cy="274320"/>
          </a:xfrm>
          <a:prstGeom prst="rect">
            <a:avLst/>
          </a:prstGeom>
          <a:noFill/>
          <a:ln/>
        </p:spPr>
        <p:txBody>
          <a:bodyPr wrap="square" rtlCol="0" anchor="ctr"/>
          <a:lstStyle/>
          <a:p>
            <a:pPr marL="0" indent="0" algn="ctr">
              <a:lnSpc>
                <a:spcPts val="1600"/>
              </a:lnSpc>
              <a:buNone/>
            </a:pPr>
            <a:r>
              <a:rPr lang="en-US" sz="1200" dirty="0">
                <a:solidFill>
                  <a:srgbClr val="666666"/>
                </a:solidFill>
              </a:rPr>
              <a:t>The hybrid model leverages the strengths of both approaches: content similarity ensures relevant course attributes while collaborative patterns capture user behavior. This combination provides more robust and diverse recommendations.</a:t>
            </a:r>
            <a:endParaRPr lang="en-US" sz="1200" dirty="0"/>
          </a:p>
        </p:txBody>
      </p:sp>
      <p:sp>
        <p:nvSpPr>
          <p:cNvPr id="7" name="Shape 5"/>
          <p:cNvSpPr/>
          <p:nvPr/>
        </p:nvSpPr>
        <p:spPr>
          <a:xfrm>
            <a:off x="1097280" y="2103120"/>
            <a:ext cx="3017520" cy="1371600"/>
          </a:xfrm>
          <a:prstGeom prst="rect">
            <a:avLst/>
          </a:prstGeom>
          <a:solidFill>
            <a:srgbClr val="00A896">
              <a:alpha val="80000"/>
            </a:srgbClr>
          </a:solidFill>
          <a:ln/>
        </p:spPr>
      </p:sp>
      <p:sp>
        <p:nvSpPr>
          <p:cNvPr id="8" name="Text 6"/>
          <p:cNvSpPr/>
          <p:nvPr/>
        </p:nvSpPr>
        <p:spPr>
          <a:xfrm>
            <a:off x="1280160" y="2331720"/>
            <a:ext cx="2651760" cy="320040"/>
          </a:xfrm>
          <a:prstGeom prst="rect">
            <a:avLst/>
          </a:prstGeom>
          <a:noFill/>
          <a:ln/>
        </p:spPr>
        <p:txBody>
          <a:bodyPr wrap="square" rtlCol="0" anchor="ctr"/>
          <a:lstStyle/>
          <a:p>
            <a:pPr marL="0" indent="0" algn="ctr">
              <a:buNone/>
            </a:pPr>
            <a:r>
              <a:rPr lang="en-US" sz="1800" b="1" dirty="0">
                <a:solidFill>
                  <a:srgbClr val="2F3C7E"/>
                </a:solidFill>
              </a:rPr>
              <a:t>Content-Based</a:t>
            </a:r>
            <a:endParaRPr lang="en-US" sz="1800" dirty="0"/>
          </a:p>
        </p:txBody>
      </p:sp>
      <p:sp>
        <p:nvSpPr>
          <p:cNvPr id="9" name="Text 7"/>
          <p:cNvSpPr/>
          <p:nvPr/>
        </p:nvSpPr>
        <p:spPr>
          <a:xfrm>
            <a:off x="1280160" y="2743200"/>
            <a:ext cx="2651760" cy="548640"/>
          </a:xfrm>
          <a:prstGeom prst="rect">
            <a:avLst/>
          </a:prstGeom>
          <a:noFill/>
          <a:ln/>
        </p:spPr>
        <p:txBody>
          <a:bodyPr wrap="square" rtlCol="0" anchor="ctr"/>
          <a:lstStyle/>
          <a:p>
            <a:pPr marL="0" indent="0" algn="ctr">
              <a:lnSpc>
                <a:spcPts val="1800"/>
              </a:lnSpc>
              <a:buNone/>
            </a:pPr>
            <a:r>
              <a:rPr lang="en-US" sz="1200" dirty="0">
                <a:solidFill>
                  <a:srgbClr val="2F3C7E"/>
                </a:solidFill>
              </a:rPr>
              <a:t>TF-IDF similarity</a:t>
            </a:r>
            <a:endParaRPr lang="en-US" sz="1200" dirty="0"/>
          </a:p>
          <a:p>
            <a:pPr marL="0" indent="0" algn="ctr">
              <a:lnSpc>
                <a:spcPts val="1800"/>
              </a:lnSpc>
              <a:buNone/>
            </a:pPr>
            <a:r>
              <a:rPr lang="en-US" sz="1200" dirty="0">
                <a:solidFill>
                  <a:srgbClr val="2F3C7E"/>
                </a:solidFill>
              </a:rPr>
              <a:t>Course attributes</a:t>
            </a:r>
            <a:endParaRPr lang="en-US" sz="1200" dirty="0"/>
          </a:p>
          <a:p>
            <a:pPr marL="0" indent="0" algn="ctr">
              <a:lnSpc>
                <a:spcPts val="1800"/>
              </a:lnSpc>
              <a:buNone/>
            </a:pPr>
            <a:r>
              <a:rPr lang="en-US" sz="1200" dirty="0">
                <a:solidFill>
                  <a:srgbClr val="2F3C7E"/>
                </a:solidFill>
              </a:rPr>
              <a:t>Rating: 4.2</a:t>
            </a:r>
            <a:endParaRPr lang="en-US" sz="1200" dirty="0"/>
          </a:p>
        </p:txBody>
      </p:sp>
      <p:sp>
        <p:nvSpPr>
          <p:cNvPr id="10" name="Shape 8"/>
          <p:cNvSpPr/>
          <p:nvPr/>
        </p:nvSpPr>
        <p:spPr>
          <a:xfrm>
            <a:off x="5029200" y="2103120"/>
            <a:ext cx="3017520" cy="1371600"/>
          </a:xfrm>
          <a:prstGeom prst="rect">
            <a:avLst/>
          </a:prstGeom>
          <a:solidFill>
            <a:srgbClr val="02C39A">
              <a:alpha val="80000"/>
            </a:srgbClr>
          </a:solidFill>
          <a:ln/>
        </p:spPr>
      </p:sp>
      <p:sp>
        <p:nvSpPr>
          <p:cNvPr id="11" name="Text 9"/>
          <p:cNvSpPr/>
          <p:nvPr/>
        </p:nvSpPr>
        <p:spPr>
          <a:xfrm>
            <a:off x="5212080" y="2331720"/>
            <a:ext cx="2651760" cy="320040"/>
          </a:xfrm>
          <a:prstGeom prst="rect">
            <a:avLst/>
          </a:prstGeom>
          <a:noFill/>
          <a:ln/>
        </p:spPr>
        <p:txBody>
          <a:bodyPr wrap="square" rtlCol="0" anchor="ctr"/>
          <a:lstStyle/>
          <a:p>
            <a:pPr marL="0" indent="0" algn="ctr">
              <a:buNone/>
            </a:pPr>
            <a:r>
              <a:rPr lang="en-US" sz="1800" b="1" dirty="0">
                <a:solidFill>
                  <a:srgbClr val="2F3C7E"/>
                </a:solidFill>
              </a:rPr>
              <a:t>Collaborative</a:t>
            </a:r>
            <a:endParaRPr lang="en-US" sz="1800" dirty="0"/>
          </a:p>
        </p:txBody>
      </p:sp>
      <p:sp>
        <p:nvSpPr>
          <p:cNvPr id="12" name="Text 10"/>
          <p:cNvSpPr/>
          <p:nvPr/>
        </p:nvSpPr>
        <p:spPr>
          <a:xfrm>
            <a:off x="5212080" y="2743200"/>
            <a:ext cx="2651760" cy="548640"/>
          </a:xfrm>
          <a:prstGeom prst="rect">
            <a:avLst/>
          </a:prstGeom>
          <a:noFill/>
          <a:ln/>
        </p:spPr>
        <p:txBody>
          <a:bodyPr wrap="square" rtlCol="0" anchor="ctr"/>
          <a:lstStyle/>
          <a:p>
            <a:pPr marL="0" indent="0" algn="ctr">
              <a:lnSpc>
                <a:spcPts val="1800"/>
              </a:lnSpc>
              <a:buNone/>
            </a:pPr>
            <a:r>
              <a:rPr lang="en-US" sz="1200" dirty="0">
                <a:solidFill>
                  <a:srgbClr val="2F3C7E"/>
                </a:solidFill>
              </a:rPr>
              <a:t>User patterns</a:t>
            </a:r>
            <a:endParaRPr lang="en-US" sz="1200" dirty="0"/>
          </a:p>
          <a:p>
            <a:pPr marL="0" indent="0" algn="ctr">
              <a:lnSpc>
                <a:spcPts val="1800"/>
              </a:lnSpc>
              <a:buNone/>
            </a:pPr>
            <a:r>
              <a:rPr lang="en-US" sz="1200" dirty="0">
                <a:solidFill>
                  <a:srgbClr val="2F3C7E"/>
                </a:solidFill>
              </a:rPr>
              <a:t>Behavioral data</a:t>
            </a:r>
            <a:endParaRPr lang="en-US" sz="1200" dirty="0"/>
          </a:p>
          <a:p>
            <a:pPr marL="0" indent="0" algn="ctr">
              <a:lnSpc>
                <a:spcPts val="1800"/>
              </a:lnSpc>
              <a:buNone/>
            </a:pPr>
            <a:r>
              <a:rPr lang="en-US" sz="1200" dirty="0">
                <a:solidFill>
                  <a:srgbClr val="2F3C7E"/>
                </a:solidFill>
              </a:rPr>
              <a:t>Rating: 4.1</a:t>
            </a:r>
            <a:endParaRPr lang="en-US" sz="1200" dirty="0"/>
          </a:p>
        </p:txBody>
      </p:sp>
      <p:sp>
        <p:nvSpPr>
          <p:cNvPr id="13" name="Text 11"/>
          <p:cNvSpPr/>
          <p:nvPr/>
        </p:nvSpPr>
        <p:spPr>
          <a:xfrm>
            <a:off x="4206240" y="2468880"/>
            <a:ext cx="731520" cy="731520"/>
          </a:xfrm>
          <a:prstGeom prst="rect">
            <a:avLst/>
          </a:prstGeom>
          <a:noFill/>
          <a:ln/>
        </p:spPr>
        <p:txBody>
          <a:bodyPr wrap="square" rtlCol="0" anchor="ctr"/>
          <a:lstStyle/>
          <a:p>
            <a:pPr marL="0" indent="0" algn="ctr">
              <a:buNone/>
            </a:pPr>
            <a:r>
              <a:rPr lang="en-US" sz="4800" b="1" dirty="0">
                <a:solidFill>
                  <a:srgbClr val="028090"/>
                </a:solidFill>
              </a:rPr>
              <a:t>+</a:t>
            </a:r>
            <a:endParaRPr lang="en-US" sz="4800" dirty="0"/>
          </a:p>
        </p:txBody>
      </p:sp>
      <p:sp>
        <p:nvSpPr>
          <p:cNvPr id="14" name="Shape 12"/>
          <p:cNvSpPr/>
          <p:nvPr/>
        </p:nvSpPr>
        <p:spPr>
          <a:xfrm>
            <a:off x="2468880" y="3657600"/>
            <a:ext cx="4206240" cy="914400"/>
          </a:xfrm>
          <a:prstGeom prst="rect">
            <a:avLst/>
          </a:prstGeom>
          <a:solidFill>
            <a:srgbClr val="028090"/>
          </a:solidFill>
          <a:ln/>
          <a:effectLst>
            <a:outerShdw blurRad="101600" dist="38100" dir="8100000" algn="bl" rotWithShape="0">
              <a:srgbClr val="000000">
                <a:alpha val="15000"/>
              </a:srgbClr>
            </a:outerShdw>
          </a:effectLst>
        </p:spPr>
      </p:sp>
      <p:sp>
        <p:nvSpPr>
          <p:cNvPr id="15" name="Text 13"/>
          <p:cNvSpPr/>
          <p:nvPr/>
        </p:nvSpPr>
        <p:spPr>
          <a:xfrm>
            <a:off x="2651760" y="3794760"/>
            <a:ext cx="3840480" cy="274320"/>
          </a:xfrm>
          <a:prstGeom prst="rect">
            <a:avLst/>
          </a:prstGeom>
          <a:noFill/>
          <a:ln/>
        </p:spPr>
        <p:txBody>
          <a:bodyPr wrap="square" rtlCol="0" anchor="ctr"/>
          <a:lstStyle/>
          <a:p>
            <a:pPr marL="0" indent="0" algn="ctr">
              <a:buNone/>
            </a:pPr>
            <a:r>
              <a:rPr lang="en-US" sz="1800" b="1" dirty="0">
                <a:solidFill>
                  <a:srgbClr val="FFFFFF"/>
                </a:solidFill>
              </a:rPr>
              <a:t>HYBRID MODEL</a:t>
            </a:r>
            <a:endParaRPr lang="en-US" sz="1800" dirty="0"/>
          </a:p>
        </p:txBody>
      </p:sp>
      <p:sp>
        <p:nvSpPr>
          <p:cNvPr id="16" name="Text 14"/>
          <p:cNvSpPr/>
          <p:nvPr/>
        </p:nvSpPr>
        <p:spPr>
          <a:xfrm>
            <a:off x="2651760" y="4096512"/>
            <a:ext cx="3840480" cy="228600"/>
          </a:xfrm>
          <a:prstGeom prst="rect">
            <a:avLst/>
          </a:prstGeom>
          <a:noFill/>
          <a:ln/>
        </p:spPr>
        <p:txBody>
          <a:bodyPr wrap="square" rtlCol="0" anchor="ctr"/>
          <a:lstStyle/>
          <a:p>
            <a:pPr marL="0" indent="0" algn="ctr">
              <a:buNone/>
            </a:pPr>
            <a:r>
              <a:rPr lang="en-US" sz="1100" dirty="0">
                <a:solidFill>
                  <a:srgbClr val="CADCFC"/>
                </a:solidFill>
              </a:rPr>
              <a:t>Weighted combination (0.6 × Content + 0.4 × Collaborative)</a:t>
            </a:r>
            <a:endParaRPr lang="en-US" sz="1100" dirty="0"/>
          </a:p>
        </p:txBody>
      </p:sp>
      <p:sp>
        <p:nvSpPr>
          <p:cNvPr id="17" name="Text 15"/>
          <p:cNvSpPr/>
          <p:nvPr/>
        </p:nvSpPr>
        <p:spPr>
          <a:xfrm>
            <a:off x="2651760" y="4297680"/>
            <a:ext cx="3840480" cy="137160"/>
          </a:xfrm>
          <a:prstGeom prst="rect">
            <a:avLst/>
          </a:prstGeom>
          <a:noFill/>
          <a:ln/>
        </p:spPr>
        <p:txBody>
          <a:bodyPr wrap="square" rtlCol="0" anchor="ctr"/>
          <a:lstStyle/>
          <a:p>
            <a:pPr marL="0" indent="0" algn="ctr">
              <a:buNone/>
            </a:pPr>
            <a:r>
              <a:rPr lang="en-US" sz="1000" i="1" dirty="0">
                <a:solidFill>
                  <a:srgbClr val="FFFFFF"/>
                </a:solidFill>
              </a:rPr>
              <a:t>Final Rating: 4.16 | Enhanced accuracy and coverage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F5F5F5"/>
        </a:solidFill>
        <a:effectLst/>
      </p:bgPr>
    </p:bg>
    <p:spTree>
      <p:nvGrpSpPr>
        <p:cNvPr id="1" name=""/>
        <p:cNvGrpSpPr/>
        <p:nvPr/>
      </p:nvGrpSpPr>
      <p:grpSpPr>
        <a:xfrm>
          <a:off x="0" y="0"/>
          <a:ext cx="0" cy="0"/>
          <a:chOff x="0" y="0"/>
          <a:chExt cx="0" cy="0"/>
        </a:xfrm>
      </p:grpSpPr>
      <p:sp>
        <p:nvSpPr>
          <p:cNvPr id="5" name="Shape 3"/>
          <p:cNvSpPr/>
          <p:nvPr/>
        </p:nvSpPr>
        <p:spPr>
          <a:xfrm>
            <a:off x="640080" y="1463040"/>
            <a:ext cx="6250577" cy="3291840"/>
          </a:xfrm>
          <a:prstGeom prst="rect">
            <a:avLst/>
          </a:prstGeom>
          <a:solidFill>
            <a:srgbClr val="FFFFFF"/>
          </a:solidFill>
          <a:ln/>
          <a:effectLst>
            <a:outerShdw blurRad="76200" dist="25400" dir="8100000" algn="bl" rotWithShape="0">
              <a:srgbClr val="000000">
                <a:alpha val="8000"/>
              </a:srgbClr>
            </a:outerShdw>
          </a:effectLst>
        </p:spPr>
      </p:sp>
      <p:sp>
        <p:nvSpPr>
          <p:cNvPr id="2" name="Text 0"/>
          <p:cNvSpPr/>
          <p:nvPr/>
        </p:nvSpPr>
        <p:spPr>
          <a:xfrm>
            <a:off x="457200" y="274320"/>
            <a:ext cx="8229600" cy="365760"/>
          </a:xfrm>
          <a:prstGeom prst="rect">
            <a:avLst/>
          </a:prstGeom>
          <a:noFill/>
          <a:ln/>
        </p:spPr>
        <p:txBody>
          <a:bodyPr wrap="square" lIns="0" tIns="0" rIns="0" bIns="0" rtlCol="0" anchor="ctr"/>
          <a:lstStyle/>
          <a:p>
            <a:pPr marL="0" indent="0">
              <a:buNone/>
            </a:pPr>
            <a:r>
              <a:rPr lang="en-US" sz="3200" b="1" dirty="0">
                <a:solidFill>
                  <a:srgbClr val="2F3C7E"/>
                </a:solidFill>
              </a:rPr>
              <a:t>MODEL 5: CONTENT-BASED</a:t>
            </a:r>
            <a:endParaRPr lang="en-US" sz="3200" dirty="0"/>
          </a:p>
        </p:txBody>
      </p:sp>
      <p:sp>
        <p:nvSpPr>
          <p:cNvPr id="3" name="Text 1"/>
          <p:cNvSpPr/>
          <p:nvPr/>
        </p:nvSpPr>
        <p:spPr>
          <a:xfrm>
            <a:off x="457200" y="640080"/>
            <a:ext cx="8229600" cy="365760"/>
          </a:xfrm>
          <a:prstGeom prst="rect">
            <a:avLst/>
          </a:prstGeom>
          <a:noFill/>
          <a:ln/>
        </p:spPr>
        <p:txBody>
          <a:bodyPr wrap="square" lIns="0" tIns="0" rIns="0" bIns="0" rtlCol="0" anchor="ctr"/>
          <a:lstStyle/>
          <a:p>
            <a:pPr marL="0" indent="0">
              <a:buNone/>
            </a:pPr>
            <a:r>
              <a:rPr lang="en-US" sz="3200" b="1" dirty="0">
                <a:solidFill>
                  <a:srgbClr val="2F3C7E"/>
                </a:solidFill>
              </a:rPr>
              <a:t>FILTERING WITH TF-IDF</a:t>
            </a:r>
            <a:endParaRPr lang="en-US" sz="3200" dirty="0"/>
          </a:p>
        </p:txBody>
      </p:sp>
      <p:sp>
        <p:nvSpPr>
          <p:cNvPr id="4" name="Text 2"/>
          <p:cNvSpPr/>
          <p:nvPr/>
        </p:nvSpPr>
        <p:spPr>
          <a:xfrm>
            <a:off x="457200" y="1097280"/>
            <a:ext cx="8229600" cy="228600"/>
          </a:xfrm>
          <a:prstGeom prst="rect">
            <a:avLst/>
          </a:prstGeom>
          <a:noFill/>
          <a:ln/>
        </p:spPr>
        <p:txBody>
          <a:bodyPr wrap="square" rtlCol="0" anchor="ctr"/>
          <a:lstStyle/>
          <a:p>
            <a:pPr marL="0" indent="0">
              <a:buNone/>
            </a:pPr>
            <a:r>
              <a:rPr lang="en-US" sz="1400" i="1" dirty="0">
                <a:solidFill>
                  <a:srgbClr val="02C39A"/>
                </a:solidFill>
              </a:rPr>
              <a:t>Text-Based Similarity Using TF-IDF</a:t>
            </a:r>
            <a:endParaRPr lang="en-US" sz="1400" dirty="0"/>
          </a:p>
        </p:txBody>
      </p:sp>
      <p:pic>
        <p:nvPicPr>
          <p:cNvPr id="6" name="Image 0" descr="preencoded.png"/>
          <p:cNvPicPr>
            <a:picLocks noChangeAspect="1"/>
          </p:cNvPicPr>
          <p:nvPr/>
        </p:nvPicPr>
        <p:blipFill>
          <a:blip r:embed="rId3"/>
          <a:stretch>
            <a:fillRect/>
          </a:stretch>
        </p:blipFill>
        <p:spPr>
          <a:xfrm>
            <a:off x="1005840" y="1691640"/>
            <a:ext cx="548640" cy="548640"/>
          </a:xfrm>
          <a:prstGeom prst="rect">
            <a:avLst/>
          </a:prstGeom>
        </p:spPr>
      </p:pic>
      <p:sp>
        <p:nvSpPr>
          <p:cNvPr id="7" name="Text 4"/>
          <p:cNvSpPr/>
          <p:nvPr/>
        </p:nvSpPr>
        <p:spPr>
          <a:xfrm>
            <a:off x="1737360" y="1783080"/>
            <a:ext cx="2560320" cy="365760"/>
          </a:xfrm>
          <a:prstGeom prst="rect">
            <a:avLst/>
          </a:prstGeom>
          <a:noFill/>
          <a:ln/>
        </p:spPr>
        <p:txBody>
          <a:bodyPr wrap="square" rtlCol="0" anchor="ctr"/>
          <a:lstStyle/>
          <a:p>
            <a:pPr marL="0" indent="0">
              <a:buNone/>
            </a:pPr>
            <a:r>
              <a:rPr lang="en-US" sz="1600" b="1" dirty="0">
                <a:solidFill>
                  <a:srgbClr val="028090"/>
                </a:solidFill>
              </a:rPr>
              <a:t>TF-IDF Works</a:t>
            </a:r>
            <a:endParaRPr lang="en-US" sz="1600" dirty="0"/>
          </a:p>
        </p:txBody>
      </p:sp>
      <p:sp>
        <p:nvSpPr>
          <p:cNvPr id="8" name="Text 5"/>
          <p:cNvSpPr/>
          <p:nvPr/>
        </p:nvSpPr>
        <p:spPr>
          <a:xfrm>
            <a:off x="1737360" y="2219597"/>
            <a:ext cx="3383280" cy="201168"/>
          </a:xfrm>
          <a:prstGeom prst="rect">
            <a:avLst/>
          </a:prstGeom>
          <a:noFill/>
          <a:ln/>
        </p:spPr>
        <p:txBody>
          <a:bodyPr wrap="square" rtlCol="0" anchor="ctr"/>
          <a:lstStyle/>
          <a:p>
            <a:pPr marL="0" indent="0">
              <a:lnSpc>
                <a:spcPts val="1200"/>
              </a:lnSpc>
              <a:buNone/>
            </a:pPr>
            <a:r>
              <a:rPr lang="en-US" sz="1000" dirty="0">
                <a:solidFill>
                  <a:srgbClr val="2F3C7E"/>
                </a:solidFill>
              </a:rPr>
              <a:t>1. Created course_text by combining:</a:t>
            </a:r>
            <a:endParaRPr lang="en-US" sz="1000" dirty="0"/>
          </a:p>
        </p:txBody>
      </p:sp>
      <p:sp>
        <p:nvSpPr>
          <p:cNvPr id="9" name="Text 6"/>
          <p:cNvSpPr/>
          <p:nvPr/>
        </p:nvSpPr>
        <p:spPr>
          <a:xfrm>
            <a:off x="1737360" y="2420765"/>
            <a:ext cx="3383280" cy="201168"/>
          </a:xfrm>
          <a:prstGeom prst="rect">
            <a:avLst/>
          </a:prstGeom>
          <a:noFill/>
          <a:ln/>
        </p:spPr>
        <p:txBody>
          <a:bodyPr wrap="square" rtlCol="0" anchor="ctr"/>
          <a:lstStyle/>
          <a:p>
            <a:pPr marL="0" indent="0">
              <a:lnSpc>
                <a:spcPts val="1200"/>
              </a:lnSpc>
              <a:buNone/>
            </a:pPr>
            <a:r>
              <a:rPr lang="en-US" sz="1000" dirty="0">
                <a:solidFill>
                  <a:srgbClr val="666666"/>
                </a:solidFill>
              </a:rPr>
              <a:t>   • Course name + difficulty level</a:t>
            </a:r>
            <a:endParaRPr lang="en-US" sz="1000" dirty="0"/>
          </a:p>
        </p:txBody>
      </p:sp>
      <p:sp>
        <p:nvSpPr>
          <p:cNvPr id="10" name="Text 7"/>
          <p:cNvSpPr/>
          <p:nvPr/>
        </p:nvSpPr>
        <p:spPr>
          <a:xfrm>
            <a:off x="1737360" y="2621933"/>
            <a:ext cx="3383280" cy="201168"/>
          </a:xfrm>
          <a:prstGeom prst="rect">
            <a:avLst/>
          </a:prstGeom>
          <a:noFill/>
          <a:ln/>
        </p:spPr>
        <p:txBody>
          <a:bodyPr wrap="square" rtlCol="0" anchor="ctr"/>
          <a:lstStyle/>
          <a:p>
            <a:pPr marL="0" indent="0">
              <a:lnSpc>
                <a:spcPts val="1200"/>
              </a:lnSpc>
              <a:buNone/>
            </a:pPr>
            <a:r>
              <a:rPr lang="en-US" sz="1000" dirty="0">
                <a:solidFill>
                  <a:srgbClr val="666666"/>
                </a:solidFill>
              </a:rPr>
              <a:t>   • Certification offered + experience</a:t>
            </a:r>
            <a:endParaRPr lang="en-US" sz="1000" dirty="0"/>
          </a:p>
        </p:txBody>
      </p:sp>
      <p:sp>
        <p:nvSpPr>
          <p:cNvPr id="11" name="Text 8"/>
          <p:cNvSpPr/>
          <p:nvPr/>
        </p:nvSpPr>
        <p:spPr>
          <a:xfrm>
            <a:off x="1737360" y="2823101"/>
            <a:ext cx="3383280" cy="201168"/>
          </a:xfrm>
          <a:prstGeom prst="rect">
            <a:avLst/>
          </a:prstGeom>
          <a:noFill/>
          <a:ln/>
        </p:spPr>
        <p:txBody>
          <a:bodyPr wrap="square" rtlCol="0" anchor="ctr"/>
          <a:lstStyle/>
          <a:p>
            <a:pPr marL="0" indent="0">
              <a:lnSpc>
                <a:spcPts val="1200"/>
              </a:lnSpc>
              <a:buNone/>
            </a:pPr>
            <a:endParaRPr lang="en-US" sz="1000" dirty="0"/>
          </a:p>
        </p:txBody>
      </p:sp>
      <p:sp>
        <p:nvSpPr>
          <p:cNvPr id="12" name="Text 9"/>
          <p:cNvSpPr/>
          <p:nvPr/>
        </p:nvSpPr>
        <p:spPr>
          <a:xfrm>
            <a:off x="1737360" y="3024269"/>
            <a:ext cx="3383280" cy="201168"/>
          </a:xfrm>
          <a:prstGeom prst="rect">
            <a:avLst/>
          </a:prstGeom>
          <a:noFill/>
          <a:ln/>
        </p:spPr>
        <p:txBody>
          <a:bodyPr wrap="square" rtlCol="0" anchor="ctr"/>
          <a:lstStyle/>
          <a:p>
            <a:pPr marL="0" indent="0">
              <a:lnSpc>
                <a:spcPts val="1200"/>
              </a:lnSpc>
              <a:buNone/>
            </a:pPr>
            <a:r>
              <a:rPr lang="en-US" sz="1000" dirty="0">
                <a:solidFill>
                  <a:srgbClr val="2F3C7E"/>
                </a:solidFill>
              </a:rPr>
              <a:t>2. Applied TF-IDF vectorization</a:t>
            </a:r>
            <a:endParaRPr lang="en-US" sz="1000" dirty="0"/>
          </a:p>
        </p:txBody>
      </p:sp>
      <p:sp>
        <p:nvSpPr>
          <p:cNvPr id="13" name="Text 10"/>
          <p:cNvSpPr/>
          <p:nvPr/>
        </p:nvSpPr>
        <p:spPr>
          <a:xfrm>
            <a:off x="1737360" y="3225437"/>
            <a:ext cx="3383280" cy="201168"/>
          </a:xfrm>
          <a:prstGeom prst="rect">
            <a:avLst/>
          </a:prstGeom>
          <a:noFill/>
          <a:ln/>
        </p:spPr>
        <p:txBody>
          <a:bodyPr wrap="square" rtlCol="0" anchor="ctr"/>
          <a:lstStyle/>
          <a:p>
            <a:pPr marL="0" indent="0">
              <a:lnSpc>
                <a:spcPts val="1200"/>
              </a:lnSpc>
              <a:buNone/>
            </a:pPr>
            <a:r>
              <a:rPr lang="en-US" sz="1000" dirty="0">
                <a:solidFill>
                  <a:srgbClr val="666666"/>
                </a:solidFill>
              </a:rPr>
              <a:t>   • 2000 max features, stop words removed</a:t>
            </a:r>
            <a:endParaRPr lang="en-US" sz="1000" dirty="0"/>
          </a:p>
        </p:txBody>
      </p:sp>
      <p:sp>
        <p:nvSpPr>
          <p:cNvPr id="14" name="Text 11"/>
          <p:cNvSpPr/>
          <p:nvPr/>
        </p:nvSpPr>
        <p:spPr>
          <a:xfrm>
            <a:off x="1737360" y="3426605"/>
            <a:ext cx="3383280" cy="201168"/>
          </a:xfrm>
          <a:prstGeom prst="rect">
            <a:avLst/>
          </a:prstGeom>
          <a:noFill/>
          <a:ln/>
        </p:spPr>
        <p:txBody>
          <a:bodyPr wrap="square" rtlCol="0" anchor="ctr"/>
          <a:lstStyle/>
          <a:p>
            <a:pPr marL="0" indent="0">
              <a:lnSpc>
                <a:spcPts val="1200"/>
              </a:lnSpc>
              <a:buNone/>
            </a:pPr>
            <a:endParaRPr lang="en-US" sz="1000" dirty="0"/>
          </a:p>
        </p:txBody>
      </p:sp>
      <p:sp>
        <p:nvSpPr>
          <p:cNvPr id="15" name="Text 12"/>
          <p:cNvSpPr/>
          <p:nvPr/>
        </p:nvSpPr>
        <p:spPr>
          <a:xfrm>
            <a:off x="1737360" y="3627773"/>
            <a:ext cx="3383280" cy="201168"/>
          </a:xfrm>
          <a:prstGeom prst="rect">
            <a:avLst/>
          </a:prstGeom>
          <a:noFill/>
          <a:ln/>
        </p:spPr>
        <p:txBody>
          <a:bodyPr wrap="square" rtlCol="0" anchor="ctr"/>
          <a:lstStyle/>
          <a:p>
            <a:pPr marL="0" indent="0">
              <a:lnSpc>
                <a:spcPts val="1200"/>
              </a:lnSpc>
              <a:buNone/>
            </a:pPr>
            <a:r>
              <a:rPr lang="en-US" sz="1000" dirty="0">
                <a:solidFill>
                  <a:srgbClr val="2F3C7E"/>
                </a:solidFill>
              </a:rPr>
              <a:t>3. Calculated cosine similarity</a:t>
            </a:r>
            <a:endParaRPr lang="en-US" sz="1000" dirty="0"/>
          </a:p>
        </p:txBody>
      </p:sp>
      <p:sp>
        <p:nvSpPr>
          <p:cNvPr id="16" name="Text 13"/>
          <p:cNvSpPr/>
          <p:nvPr/>
        </p:nvSpPr>
        <p:spPr>
          <a:xfrm>
            <a:off x="1737360" y="3828941"/>
            <a:ext cx="3383280" cy="201168"/>
          </a:xfrm>
          <a:prstGeom prst="rect">
            <a:avLst/>
          </a:prstGeom>
          <a:noFill/>
          <a:ln/>
        </p:spPr>
        <p:txBody>
          <a:bodyPr wrap="square" rtlCol="0" anchor="ctr"/>
          <a:lstStyle/>
          <a:p>
            <a:pPr marL="0" indent="0">
              <a:lnSpc>
                <a:spcPts val="1200"/>
              </a:lnSpc>
              <a:buNone/>
            </a:pPr>
            <a:r>
              <a:rPr lang="en-US" sz="1000" dirty="0">
                <a:solidFill>
                  <a:srgbClr val="666666"/>
                </a:solidFill>
              </a:rPr>
              <a:t>   • Compare TF-IDF vectors</a:t>
            </a:r>
            <a:endParaRPr lang="en-US" sz="1000" dirty="0"/>
          </a:p>
        </p:txBody>
      </p:sp>
      <p:sp>
        <p:nvSpPr>
          <p:cNvPr id="17" name="Text 14"/>
          <p:cNvSpPr/>
          <p:nvPr/>
        </p:nvSpPr>
        <p:spPr>
          <a:xfrm>
            <a:off x="1737360" y="4030109"/>
            <a:ext cx="3383280" cy="201168"/>
          </a:xfrm>
          <a:prstGeom prst="rect">
            <a:avLst/>
          </a:prstGeom>
          <a:noFill/>
          <a:ln/>
        </p:spPr>
        <p:txBody>
          <a:bodyPr wrap="square" rtlCol="0" anchor="ctr"/>
          <a:lstStyle/>
          <a:p>
            <a:pPr marL="0" indent="0">
              <a:lnSpc>
                <a:spcPts val="1200"/>
              </a:lnSpc>
              <a:buNone/>
            </a:pPr>
            <a:endParaRPr lang="en-US" sz="1000" dirty="0"/>
          </a:p>
        </p:txBody>
      </p:sp>
      <p:sp>
        <p:nvSpPr>
          <p:cNvPr id="18" name="Text 15"/>
          <p:cNvSpPr/>
          <p:nvPr/>
        </p:nvSpPr>
        <p:spPr>
          <a:xfrm>
            <a:off x="1737360" y="4231277"/>
            <a:ext cx="3383280" cy="201168"/>
          </a:xfrm>
          <a:prstGeom prst="rect">
            <a:avLst/>
          </a:prstGeom>
          <a:noFill/>
          <a:ln/>
        </p:spPr>
        <p:txBody>
          <a:bodyPr wrap="square" rtlCol="0" anchor="ctr"/>
          <a:lstStyle/>
          <a:p>
            <a:pPr marL="0" indent="0">
              <a:lnSpc>
                <a:spcPts val="1200"/>
              </a:lnSpc>
              <a:buNone/>
            </a:pPr>
            <a:r>
              <a:rPr lang="en-US" sz="1000" dirty="0">
                <a:solidFill>
                  <a:srgbClr val="2F3C7E"/>
                </a:solidFill>
              </a:rPr>
              <a:t>4. Recommended top N similar courses</a:t>
            </a:r>
            <a:endParaRPr lang="en-US" sz="1000" dirty="0"/>
          </a:p>
        </p:txBody>
      </p:sp>
      <p:sp>
        <p:nvSpPr>
          <p:cNvPr id="28" name="Shape 25"/>
          <p:cNvSpPr/>
          <p:nvPr/>
        </p:nvSpPr>
        <p:spPr>
          <a:xfrm>
            <a:off x="4937760" y="3124853"/>
            <a:ext cx="3566160" cy="411480"/>
          </a:xfrm>
          <a:prstGeom prst="rect">
            <a:avLst/>
          </a:prstGeom>
          <a:solidFill>
            <a:srgbClr val="F5F5F5"/>
          </a:solidFill>
          <a:ln/>
        </p:spPr>
      </p:sp>
      <p:sp>
        <p:nvSpPr>
          <p:cNvPr id="34" name="Shape 31"/>
          <p:cNvSpPr/>
          <p:nvPr/>
        </p:nvSpPr>
        <p:spPr>
          <a:xfrm>
            <a:off x="4937760" y="3918857"/>
            <a:ext cx="3566160" cy="411480"/>
          </a:xfrm>
          <a:prstGeom prst="rect">
            <a:avLst/>
          </a:prstGeom>
          <a:solidFill>
            <a:srgbClr val="F5F5F5"/>
          </a:solidFill>
          <a:ln/>
        </p:spPr>
      </p:sp>
      <p:sp>
        <p:nvSpPr>
          <p:cNvPr id="38" name="Shape 25">
            <a:extLst>
              <a:ext uri="{FF2B5EF4-FFF2-40B4-BE49-F238E27FC236}">
                <a16:creationId xmlns:a16="http://schemas.microsoft.com/office/drawing/2014/main" id="{A5828A7E-5BE6-FFFE-4465-717BE5E5E6AA}"/>
              </a:ext>
            </a:extLst>
          </p:cNvPr>
          <p:cNvSpPr/>
          <p:nvPr/>
        </p:nvSpPr>
        <p:spPr>
          <a:xfrm>
            <a:off x="4937760" y="2299498"/>
            <a:ext cx="3566160" cy="411480"/>
          </a:xfrm>
          <a:prstGeom prst="rect">
            <a:avLst/>
          </a:prstGeom>
          <a:solidFill>
            <a:srgbClr val="F5F5F5"/>
          </a:solidFill>
          <a:ln/>
        </p:spPr>
      </p:sp>
      <p:sp>
        <p:nvSpPr>
          <p:cNvPr id="39" name="Shape 25">
            <a:extLst>
              <a:ext uri="{FF2B5EF4-FFF2-40B4-BE49-F238E27FC236}">
                <a16:creationId xmlns:a16="http://schemas.microsoft.com/office/drawing/2014/main" id="{C52E0C66-BBAD-173A-042E-53DDC41285CD}"/>
              </a:ext>
            </a:extLst>
          </p:cNvPr>
          <p:cNvSpPr/>
          <p:nvPr/>
        </p:nvSpPr>
        <p:spPr>
          <a:xfrm>
            <a:off x="4937760" y="1429951"/>
            <a:ext cx="3566160" cy="411480"/>
          </a:xfrm>
          <a:prstGeom prst="rect">
            <a:avLst/>
          </a:prstGeom>
          <a:solidFill>
            <a:srgbClr val="F5F5F5"/>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3600" b="1" dirty="0">
                <a:solidFill>
                  <a:srgbClr val="2F3C7E"/>
                </a:solidFill>
              </a:rPr>
              <a:t>MODEL EVALUATION METRICS</a:t>
            </a:r>
            <a:endParaRPr lang="en-US" sz="3600" dirty="0"/>
          </a:p>
        </p:txBody>
      </p:sp>
      <p:graphicFrame>
        <p:nvGraphicFramePr>
          <p:cNvPr id="3" name="Chart 0"/>
          <p:cNvGraphicFramePr/>
          <p:nvPr>
            <p:extLst>
              <p:ext uri="{D42A27DB-BD31-4B8C-83A1-F6EECF244321}">
                <p14:modId xmlns:p14="http://schemas.microsoft.com/office/powerpoint/2010/main" val="901034764"/>
              </p:ext>
            </p:extLst>
          </p:nvPr>
        </p:nvGraphicFramePr>
        <p:xfrm>
          <a:off x="457199" y="1005840"/>
          <a:ext cx="8229599" cy="2671354"/>
        </p:xfrm>
        <a:graphic>
          <a:graphicData uri="http://schemas.openxmlformats.org/drawingml/2006/chart">
            <c:chart xmlns:c="http://schemas.openxmlformats.org/drawingml/2006/chart" xmlns:r="http://schemas.openxmlformats.org/officeDocument/2006/relationships" r:id="rId3"/>
          </a:graphicData>
        </a:graphic>
      </p:graphicFrame>
      <p:sp>
        <p:nvSpPr>
          <p:cNvPr id="18" name="Shape 15"/>
          <p:cNvSpPr/>
          <p:nvPr/>
        </p:nvSpPr>
        <p:spPr>
          <a:xfrm>
            <a:off x="457200" y="3879664"/>
            <a:ext cx="8229600" cy="292608"/>
          </a:xfrm>
          <a:prstGeom prst="rect">
            <a:avLst/>
          </a:prstGeom>
          <a:solidFill>
            <a:srgbClr val="028090">
              <a:alpha val="85000"/>
            </a:srgbClr>
          </a:solidFill>
          <a:ln/>
        </p:spPr>
      </p:sp>
      <p:sp>
        <p:nvSpPr>
          <p:cNvPr id="19" name="Text 16"/>
          <p:cNvSpPr/>
          <p:nvPr/>
        </p:nvSpPr>
        <p:spPr>
          <a:xfrm>
            <a:off x="640080" y="3916240"/>
            <a:ext cx="7863840" cy="219456"/>
          </a:xfrm>
          <a:prstGeom prst="rect">
            <a:avLst/>
          </a:prstGeom>
          <a:noFill/>
          <a:ln/>
        </p:spPr>
        <p:txBody>
          <a:bodyPr wrap="square" rtlCol="0" anchor="ctr"/>
          <a:lstStyle/>
          <a:p>
            <a:pPr marL="0" indent="0">
              <a:buNone/>
            </a:pPr>
            <a:r>
              <a:rPr lang="en-US" sz="1100" b="1" dirty="0"/>
              <a:t>Hybrid: </a:t>
            </a:r>
            <a:r>
              <a:rPr lang="en-US" sz="1100" dirty="0"/>
              <a:t>Best overall performance with balanced content-behavior approach</a:t>
            </a:r>
          </a:p>
        </p:txBody>
      </p:sp>
      <p:sp>
        <p:nvSpPr>
          <p:cNvPr id="20" name="Shape 17"/>
          <p:cNvSpPr/>
          <p:nvPr/>
        </p:nvSpPr>
        <p:spPr>
          <a:xfrm>
            <a:off x="457200" y="4227136"/>
            <a:ext cx="8229600" cy="292608"/>
          </a:xfrm>
          <a:prstGeom prst="rect">
            <a:avLst/>
          </a:prstGeom>
          <a:solidFill>
            <a:srgbClr val="00A896">
              <a:alpha val="85000"/>
            </a:srgbClr>
          </a:solidFill>
          <a:ln/>
        </p:spPr>
      </p:sp>
      <p:sp>
        <p:nvSpPr>
          <p:cNvPr id="21" name="Text 18"/>
          <p:cNvSpPr/>
          <p:nvPr/>
        </p:nvSpPr>
        <p:spPr>
          <a:xfrm>
            <a:off x="640080" y="4263712"/>
            <a:ext cx="7863840" cy="219456"/>
          </a:xfrm>
          <a:prstGeom prst="rect">
            <a:avLst/>
          </a:prstGeom>
          <a:noFill/>
          <a:ln/>
        </p:spPr>
        <p:txBody>
          <a:bodyPr wrap="square" rtlCol="0" anchor="ctr"/>
          <a:lstStyle/>
          <a:p>
            <a:pPr marL="0" indent="0">
              <a:buNone/>
            </a:pPr>
            <a:r>
              <a:rPr lang="en-US" sz="1100" b="1" dirty="0"/>
              <a:t>Content-Based: </a:t>
            </a:r>
            <a:r>
              <a:rPr lang="en-US" sz="1100" dirty="0"/>
              <a:t>Strong relevance but limited diversity</a:t>
            </a:r>
          </a:p>
        </p:txBody>
      </p:sp>
      <p:sp>
        <p:nvSpPr>
          <p:cNvPr id="22" name="Shape 19"/>
          <p:cNvSpPr/>
          <p:nvPr/>
        </p:nvSpPr>
        <p:spPr>
          <a:xfrm>
            <a:off x="457200" y="4574608"/>
            <a:ext cx="8229600" cy="292608"/>
          </a:xfrm>
          <a:prstGeom prst="rect">
            <a:avLst/>
          </a:prstGeom>
          <a:solidFill>
            <a:srgbClr val="02C39A">
              <a:alpha val="85000"/>
            </a:srgbClr>
          </a:solidFill>
          <a:ln/>
        </p:spPr>
      </p:sp>
      <p:sp>
        <p:nvSpPr>
          <p:cNvPr id="23" name="Text 20"/>
          <p:cNvSpPr/>
          <p:nvPr/>
        </p:nvSpPr>
        <p:spPr>
          <a:xfrm>
            <a:off x="640080" y="4611184"/>
            <a:ext cx="7863840" cy="219456"/>
          </a:xfrm>
          <a:prstGeom prst="rect">
            <a:avLst/>
          </a:prstGeom>
          <a:noFill/>
          <a:ln/>
        </p:spPr>
        <p:txBody>
          <a:bodyPr wrap="square" rtlCol="0" anchor="ctr"/>
          <a:lstStyle/>
          <a:p>
            <a:pPr marL="0" indent="0">
              <a:buNone/>
            </a:pPr>
            <a:r>
              <a:rPr lang="en-US" sz="1100" b="1" dirty="0"/>
              <a:t>K-Means: </a:t>
            </a:r>
            <a:r>
              <a:rPr lang="en-US" sz="1100" dirty="0"/>
              <a:t>Fast execution, good for initial segmentation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14400" y="-914400"/>
            <a:ext cx="2743200" cy="2743200"/>
          </a:xfrm>
          <a:prstGeom prst="ellipse">
            <a:avLst/>
          </a:prstGeom>
          <a:solidFill>
            <a:srgbClr val="028090">
              <a:alpha val="20000"/>
            </a:srgbClr>
          </a:solidFill>
          <a:ln/>
        </p:spPr>
      </p:sp>
      <p:sp>
        <p:nvSpPr>
          <p:cNvPr id="3" name="Shape 1"/>
          <p:cNvSpPr/>
          <p:nvPr/>
        </p:nvSpPr>
        <p:spPr>
          <a:xfrm>
            <a:off x="7772400" y="3657600"/>
            <a:ext cx="2286000" cy="2286000"/>
          </a:xfrm>
          <a:prstGeom prst="ellipse">
            <a:avLst/>
          </a:prstGeom>
          <a:solidFill>
            <a:srgbClr val="02C39A">
              <a:alpha val="20000"/>
            </a:srgbClr>
          </a:solidFill>
          <a:ln/>
        </p:spPr>
      </p:sp>
      <p:sp>
        <p:nvSpPr>
          <p:cNvPr id="4" name="Text 2"/>
          <p:cNvSpPr/>
          <p:nvPr/>
        </p:nvSpPr>
        <p:spPr>
          <a:xfrm>
            <a:off x="457200" y="707311"/>
            <a:ext cx="8229600" cy="457200"/>
          </a:xfrm>
          <a:prstGeom prst="rect">
            <a:avLst/>
          </a:prstGeom>
          <a:noFill/>
          <a:ln/>
        </p:spPr>
        <p:txBody>
          <a:bodyPr wrap="square" rtlCol="0" anchor="ctr"/>
          <a:lstStyle/>
          <a:p>
            <a:pPr marL="0" indent="0" algn="ctr">
              <a:buNone/>
            </a:pPr>
            <a:r>
              <a:rPr lang="en-US" sz="2800" b="1" kern="0" spc="300" dirty="0">
                <a:solidFill>
                  <a:srgbClr val="CADCFC"/>
                </a:solidFill>
              </a:rPr>
              <a:t>FINALIZED MODEL</a:t>
            </a:r>
            <a:endParaRPr lang="en-US" sz="2800" dirty="0"/>
          </a:p>
        </p:txBody>
      </p:sp>
      <p:pic>
        <p:nvPicPr>
          <p:cNvPr id="5" name="Image 0" descr="preencoded.png"/>
          <p:cNvPicPr>
            <a:picLocks noChangeAspect="1"/>
          </p:cNvPicPr>
          <p:nvPr/>
        </p:nvPicPr>
        <p:blipFill>
          <a:blip r:embed="rId3"/>
          <a:stretch>
            <a:fillRect/>
          </a:stretch>
        </p:blipFill>
        <p:spPr>
          <a:xfrm>
            <a:off x="4206240" y="1301671"/>
            <a:ext cx="731520" cy="731520"/>
          </a:xfrm>
          <a:prstGeom prst="rect">
            <a:avLst/>
          </a:prstGeom>
        </p:spPr>
      </p:pic>
      <p:sp>
        <p:nvSpPr>
          <p:cNvPr id="6" name="Text 3"/>
          <p:cNvSpPr/>
          <p:nvPr/>
        </p:nvSpPr>
        <p:spPr>
          <a:xfrm>
            <a:off x="1371600" y="2170351"/>
            <a:ext cx="6400800" cy="731520"/>
          </a:xfrm>
          <a:prstGeom prst="rect">
            <a:avLst/>
          </a:prstGeom>
          <a:noFill/>
          <a:ln/>
        </p:spPr>
        <p:txBody>
          <a:bodyPr wrap="square" rtlCol="0" anchor="ctr"/>
          <a:lstStyle/>
          <a:p>
            <a:pPr marL="0" indent="0" algn="ctr">
              <a:buNone/>
            </a:pPr>
            <a:r>
              <a:rPr lang="en-US" sz="5600" b="1" kern="0" spc="400" dirty="0">
                <a:solidFill>
                  <a:srgbClr val="FFFFFF"/>
                </a:solidFill>
              </a:rPr>
              <a:t>HYBRID MODEL</a:t>
            </a:r>
            <a:endParaRPr lang="en-US" sz="5600" dirty="0"/>
          </a:p>
        </p:txBody>
      </p:sp>
      <p:sp>
        <p:nvSpPr>
          <p:cNvPr id="7" name="Shape 4"/>
          <p:cNvSpPr/>
          <p:nvPr/>
        </p:nvSpPr>
        <p:spPr>
          <a:xfrm>
            <a:off x="3200400" y="2993311"/>
            <a:ext cx="2743200" cy="45720"/>
          </a:xfrm>
          <a:prstGeom prst="rect">
            <a:avLst/>
          </a:prstGeom>
          <a:solidFill>
            <a:srgbClr val="02C39A"/>
          </a:solidFill>
          <a:ln/>
        </p:spPr>
      </p:sp>
      <p:sp>
        <p:nvSpPr>
          <p:cNvPr id="8" name="Text 5"/>
          <p:cNvSpPr/>
          <p:nvPr/>
        </p:nvSpPr>
        <p:spPr>
          <a:xfrm>
            <a:off x="1371600" y="3176191"/>
            <a:ext cx="6400800" cy="365760"/>
          </a:xfrm>
          <a:prstGeom prst="rect">
            <a:avLst/>
          </a:prstGeom>
          <a:noFill/>
          <a:ln/>
        </p:spPr>
        <p:txBody>
          <a:bodyPr wrap="square" rtlCol="0" anchor="ctr"/>
          <a:lstStyle/>
          <a:p>
            <a:pPr marL="0" indent="0" algn="ctr">
              <a:buNone/>
            </a:pPr>
            <a:r>
              <a:rPr lang="en-US" sz="2000" i="1" dirty="0">
                <a:solidFill>
                  <a:srgbClr val="02C39A"/>
                </a:solidFill>
              </a:rPr>
              <a:t>Selected for Production Deployment</a:t>
            </a:r>
            <a:endParaRPr lang="en-US" sz="2000" dirty="0"/>
          </a:p>
        </p:txBody>
      </p:sp>
      <p:sp>
        <p:nvSpPr>
          <p:cNvPr id="9" name="Shape 6"/>
          <p:cNvSpPr/>
          <p:nvPr/>
        </p:nvSpPr>
        <p:spPr>
          <a:xfrm>
            <a:off x="2286000" y="3771895"/>
            <a:ext cx="4572000" cy="728831"/>
          </a:xfrm>
          <a:prstGeom prst="rect">
            <a:avLst/>
          </a:prstGeom>
          <a:solidFill>
            <a:srgbClr val="028090"/>
          </a:solidFill>
          <a:ln/>
        </p:spPr>
      </p:sp>
      <p:pic>
        <p:nvPicPr>
          <p:cNvPr id="10" name="Image 1" descr="preencoded.png"/>
          <p:cNvPicPr>
            <a:picLocks noChangeAspect="1"/>
          </p:cNvPicPr>
          <p:nvPr/>
        </p:nvPicPr>
        <p:blipFill>
          <a:blip r:embed="rId4"/>
          <a:stretch>
            <a:fillRect/>
          </a:stretch>
        </p:blipFill>
        <p:spPr>
          <a:xfrm>
            <a:off x="2514600" y="3953431"/>
            <a:ext cx="274320" cy="274320"/>
          </a:xfrm>
          <a:prstGeom prst="rect">
            <a:avLst/>
          </a:prstGeom>
        </p:spPr>
      </p:pic>
      <p:sp>
        <p:nvSpPr>
          <p:cNvPr id="11" name="Text 7"/>
          <p:cNvSpPr/>
          <p:nvPr/>
        </p:nvSpPr>
        <p:spPr>
          <a:xfrm>
            <a:off x="2880360" y="3907711"/>
            <a:ext cx="3749040" cy="457200"/>
          </a:xfrm>
          <a:prstGeom prst="rect">
            <a:avLst/>
          </a:prstGeom>
          <a:noFill/>
          <a:ln/>
        </p:spPr>
        <p:txBody>
          <a:bodyPr wrap="square" rtlCol="0" anchor="ctr"/>
          <a:lstStyle/>
          <a:p>
            <a:pPr marL="0" indent="0" algn="ctr">
              <a:buNone/>
            </a:pPr>
            <a:r>
              <a:rPr lang="en-US" sz="1600" b="1" dirty="0">
                <a:solidFill>
                  <a:srgbClr val="FFFFFF"/>
                </a:solidFill>
              </a:rPr>
              <a:t>60% Content-Based (TF-IDF) + 40% Collaborative Filtering</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3600" b="1" dirty="0">
                <a:solidFill>
                  <a:srgbClr val="2F3C7E"/>
                </a:solidFill>
              </a:rPr>
              <a:t>DEPLOYMENT ARCHITECTURE</a:t>
            </a:r>
            <a:endParaRPr lang="en-US" sz="3600" dirty="0"/>
          </a:p>
        </p:txBody>
      </p:sp>
      <p:pic>
        <p:nvPicPr>
          <p:cNvPr id="3" name="Image 0" descr="preencoded.png"/>
          <p:cNvPicPr>
            <a:picLocks noChangeAspect="1"/>
          </p:cNvPicPr>
          <p:nvPr/>
        </p:nvPicPr>
        <p:blipFill>
          <a:blip r:embed="rId3"/>
          <a:stretch>
            <a:fillRect/>
          </a:stretch>
        </p:blipFill>
        <p:spPr>
          <a:xfrm>
            <a:off x="640080" y="914400"/>
            <a:ext cx="457200" cy="457200"/>
          </a:xfrm>
          <a:prstGeom prst="rect">
            <a:avLst/>
          </a:prstGeom>
        </p:spPr>
      </p:pic>
      <p:sp>
        <p:nvSpPr>
          <p:cNvPr id="4" name="Text 1"/>
          <p:cNvSpPr/>
          <p:nvPr/>
        </p:nvSpPr>
        <p:spPr>
          <a:xfrm>
            <a:off x="1234440" y="1005840"/>
            <a:ext cx="7223760" cy="320040"/>
          </a:xfrm>
          <a:prstGeom prst="rect">
            <a:avLst/>
          </a:prstGeom>
          <a:noFill/>
          <a:ln/>
        </p:spPr>
        <p:txBody>
          <a:bodyPr wrap="square" rtlCol="0" anchor="ctr"/>
          <a:lstStyle/>
          <a:p>
            <a:pPr marL="0" indent="0">
              <a:buNone/>
            </a:pPr>
            <a:r>
              <a:rPr lang="en-US" sz="2000" b="1" dirty="0">
                <a:solidFill>
                  <a:srgbClr val="2F3C7E"/>
                </a:solidFill>
              </a:rPr>
              <a:t>System Components</a:t>
            </a:r>
            <a:endParaRPr lang="en-US" sz="2000" dirty="0"/>
          </a:p>
        </p:txBody>
      </p:sp>
      <p:sp>
        <p:nvSpPr>
          <p:cNvPr id="5" name="Shape 2"/>
          <p:cNvSpPr/>
          <p:nvPr/>
        </p:nvSpPr>
        <p:spPr>
          <a:xfrm>
            <a:off x="640080" y="1554480"/>
            <a:ext cx="7863840" cy="640080"/>
          </a:xfrm>
          <a:prstGeom prst="rect">
            <a:avLst/>
          </a:prstGeom>
          <a:solidFill>
            <a:srgbClr val="FFFFFF"/>
          </a:solidFill>
          <a:ln/>
          <a:effectLst>
            <a:outerShdw blurRad="50800" dist="25400" dir="8100000" algn="bl" rotWithShape="0">
              <a:srgbClr val="000000">
                <a:alpha val="6000"/>
              </a:srgbClr>
            </a:outerShdw>
          </a:effectLst>
        </p:spPr>
      </p:sp>
      <p:sp>
        <p:nvSpPr>
          <p:cNvPr id="6" name="Shape 3"/>
          <p:cNvSpPr/>
          <p:nvPr/>
        </p:nvSpPr>
        <p:spPr>
          <a:xfrm>
            <a:off x="640080" y="1554480"/>
            <a:ext cx="73152" cy="640080"/>
          </a:xfrm>
          <a:prstGeom prst="rect">
            <a:avLst/>
          </a:prstGeom>
          <a:solidFill>
            <a:srgbClr val="028090"/>
          </a:solidFill>
          <a:ln/>
        </p:spPr>
      </p:sp>
      <p:sp>
        <p:nvSpPr>
          <p:cNvPr id="7" name="Text 4"/>
          <p:cNvSpPr/>
          <p:nvPr/>
        </p:nvSpPr>
        <p:spPr>
          <a:xfrm>
            <a:off x="868680" y="1743887"/>
            <a:ext cx="1645920" cy="228600"/>
          </a:xfrm>
          <a:prstGeom prst="rect">
            <a:avLst/>
          </a:prstGeom>
          <a:noFill/>
          <a:ln/>
        </p:spPr>
        <p:txBody>
          <a:bodyPr wrap="square" rtlCol="0" anchor="ctr"/>
          <a:lstStyle/>
          <a:p>
            <a:pPr marL="0" indent="0">
              <a:buNone/>
            </a:pPr>
            <a:r>
              <a:rPr lang="en-US" sz="1300" b="1" dirty="0">
                <a:solidFill>
                  <a:srgbClr val="2F3C7E"/>
                </a:solidFill>
              </a:rPr>
              <a:t>Data Layer</a:t>
            </a:r>
            <a:endParaRPr lang="en-US" sz="1300" dirty="0"/>
          </a:p>
        </p:txBody>
      </p:sp>
      <p:sp>
        <p:nvSpPr>
          <p:cNvPr id="8" name="Text 5"/>
          <p:cNvSpPr/>
          <p:nvPr/>
        </p:nvSpPr>
        <p:spPr>
          <a:xfrm>
            <a:off x="2606040" y="1645920"/>
            <a:ext cx="5715000" cy="457200"/>
          </a:xfrm>
          <a:prstGeom prst="rect">
            <a:avLst/>
          </a:prstGeom>
          <a:noFill/>
          <a:ln/>
        </p:spPr>
        <p:txBody>
          <a:bodyPr wrap="square" rtlCol="0" anchor="ctr"/>
          <a:lstStyle/>
          <a:p>
            <a:pPr marL="0" indent="0">
              <a:lnSpc>
                <a:spcPts val="1400"/>
              </a:lnSpc>
              <a:buNone/>
            </a:pPr>
            <a:r>
              <a:rPr lang="en-US" sz="1100" dirty="0">
                <a:solidFill>
                  <a:srgbClr val="666666"/>
                </a:solidFill>
              </a:rPr>
              <a:t>Excel data source → Pandas DataFrame → Feature preprocessing pipeline</a:t>
            </a:r>
            <a:endParaRPr lang="en-US" sz="1100" dirty="0"/>
          </a:p>
        </p:txBody>
      </p:sp>
      <p:sp>
        <p:nvSpPr>
          <p:cNvPr id="9" name="Shape 6"/>
          <p:cNvSpPr/>
          <p:nvPr/>
        </p:nvSpPr>
        <p:spPr>
          <a:xfrm>
            <a:off x="640080" y="2304288"/>
            <a:ext cx="7863840" cy="640080"/>
          </a:xfrm>
          <a:prstGeom prst="rect">
            <a:avLst/>
          </a:prstGeom>
          <a:solidFill>
            <a:srgbClr val="FFFFFF"/>
          </a:solidFill>
          <a:ln/>
          <a:effectLst>
            <a:outerShdw blurRad="50800" dist="25400" dir="8100000" algn="bl" rotWithShape="0">
              <a:srgbClr val="000000">
                <a:alpha val="6000"/>
              </a:srgbClr>
            </a:outerShdw>
          </a:effectLst>
        </p:spPr>
      </p:sp>
      <p:sp>
        <p:nvSpPr>
          <p:cNvPr id="10" name="Shape 7"/>
          <p:cNvSpPr/>
          <p:nvPr/>
        </p:nvSpPr>
        <p:spPr>
          <a:xfrm>
            <a:off x="640080" y="2304288"/>
            <a:ext cx="73152" cy="640080"/>
          </a:xfrm>
          <a:prstGeom prst="rect">
            <a:avLst/>
          </a:prstGeom>
          <a:solidFill>
            <a:srgbClr val="00A896"/>
          </a:solidFill>
          <a:ln/>
        </p:spPr>
      </p:sp>
      <p:sp>
        <p:nvSpPr>
          <p:cNvPr id="11" name="Text 8"/>
          <p:cNvSpPr/>
          <p:nvPr/>
        </p:nvSpPr>
        <p:spPr>
          <a:xfrm>
            <a:off x="868680" y="2506756"/>
            <a:ext cx="1645920" cy="228600"/>
          </a:xfrm>
          <a:prstGeom prst="rect">
            <a:avLst/>
          </a:prstGeom>
          <a:noFill/>
          <a:ln/>
        </p:spPr>
        <p:txBody>
          <a:bodyPr wrap="square" rtlCol="0" anchor="ctr"/>
          <a:lstStyle/>
          <a:p>
            <a:pPr marL="0" indent="0">
              <a:buNone/>
            </a:pPr>
            <a:r>
              <a:rPr lang="en-US" sz="1300" b="1" dirty="0">
                <a:solidFill>
                  <a:srgbClr val="2F3C7E"/>
                </a:solidFill>
              </a:rPr>
              <a:t>Model Layer</a:t>
            </a:r>
            <a:endParaRPr lang="en-US" sz="1300" dirty="0"/>
          </a:p>
        </p:txBody>
      </p:sp>
      <p:sp>
        <p:nvSpPr>
          <p:cNvPr id="12" name="Text 9"/>
          <p:cNvSpPr/>
          <p:nvPr/>
        </p:nvSpPr>
        <p:spPr>
          <a:xfrm>
            <a:off x="2606040" y="2395728"/>
            <a:ext cx="5715000" cy="457200"/>
          </a:xfrm>
          <a:prstGeom prst="rect">
            <a:avLst/>
          </a:prstGeom>
          <a:noFill/>
          <a:ln/>
        </p:spPr>
        <p:txBody>
          <a:bodyPr wrap="square" rtlCol="0" anchor="ctr"/>
          <a:lstStyle/>
          <a:p>
            <a:pPr marL="0" indent="0">
              <a:lnSpc>
                <a:spcPts val="1400"/>
              </a:lnSpc>
              <a:buNone/>
            </a:pPr>
            <a:r>
              <a:rPr lang="en-US" sz="1100" dirty="0">
                <a:solidFill>
                  <a:srgbClr val="666666"/>
                </a:solidFill>
              </a:rPr>
              <a:t>5 trained models (KMeans, TF-IDF, Collaborative, Hybrid, PCA) stored as pickled objects</a:t>
            </a:r>
            <a:endParaRPr lang="en-US" sz="1100" dirty="0"/>
          </a:p>
        </p:txBody>
      </p:sp>
      <p:sp>
        <p:nvSpPr>
          <p:cNvPr id="13" name="Shape 10"/>
          <p:cNvSpPr/>
          <p:nvPr/>
        </p:nvSpPr>
        <p:spPr>
          <a:xfrm>
            <a:off x="640080" y="3054096"/>
            <a:ext cx="7863840" cy="640080"/>
          </a:xfrm>
          <a:prstGeom prst="rect">
            <a:avLst/>
          </a:prstGeom>
          <a:solidFill>
            <a:srgbClr val="FFFFFF"/>
          </a:solidFill>
          <a:ln/>
          <a:effectLst>
            <a:outerShdw blurRad="50800" dist="25400" dir="8100000" algn="bl" rotWithShape="0">
              <a:srgbClr val="000000">
                <a:alpha val="6000"/>
              </a:srgbClr>
            </a:outerShdw>
          </a:effectLst>
        </p:spPr>
      </p:sp>
      <p:sp>
        <p:nvSpPr>
          <p:cNvPr id="14" name="Shape 11"/>
          <p:cNvSpPr/>
          <p:nvPr/>
        </p:nvSpPr>
        <p:spPr>
          <a:xfrm>
            <a:off x="640080" y="3054096"/>
            <a:ext cx="73152" cy="640080"/>
          </a:xfrm>
          <a:prstGeom prst="rect">
            <a:avLst/>
          </a:prstGeom>
          <a:solidFill>
            <a:srgbClr val="02C39A"/>
          </a:solidFill>
          <a:ln/>
        </p:spPr>
      </p:sp>
      <p:sp>
        <p:nvSpPr>
          <p:cNvPr id="15" name="Text 12"/>
          <p:cNvSpPr/>
          <p:nvPr/>
        </p:nvSpPr>
        <p:spPr>
          <a:xfrm>
            <a:off x="868680" y="3250038"/>
            <a:ext cx="1645920" cy="228600"/>
          </a:xfrm>
          <a:prstGeom prst="rect">
            <a:avLst/>
          </a:prstGeom>
          <a:noFill/>
          <a:ln/>
        </p:spPr>
        <p:txBody>
          <a:bodyPr wrap="square" rtlCol="0" anchor="ctr"/>
          <a:lstStyle/>
          <a:p>
            <a:pPr marL="0" indent="0">
              <a:buNone/>
            </a:pPr>
            <a:r>
              <a:rPr lang="en-US" sz="1300" b="1" dirty="0">
                <a:solidFill>
                  <a:srgbClr val="2F3C7E"/>
                </a:solidFill>
              </a:rPr>
              <a:t>API Layer</a:t>
            </a:r>
            <a:endParaRPr lang="en-US" sz="1300" dirty="0"/>
          </a:p>
        </p:txBody>
      </p:sp>
      <p:sp>
        <p:nvSpPr>
          <p:cNvPr id="16" name="Text 13"/>
          <p:cNvSpPr/>
          <p:nvPr/>
        </p:nvSpPr>
        <p:spPr>
          <a:xfrm>
            <a:off x="2606040" y="3145536"/>
            <a:ext cx="5715000" cy="457200"/>
          </a:xfrm>
          <a:prstGeom prst="rect">
            <a:avLst/>
          </a:prstGeom>
          <a:noFill/>
          <a:ln/>
        </p:spPr>
        <p:txBody>
          <a:bodyPr wrap="square" rtlCol="0" anchor="ctr"/>
          <a:lstStyle/>
          <a:p>
            <a:pPr marL="0" indent="0">
              <a:lnSpc>
                <a:spcPts val="1400"/>
              </a:lnSpc>
              <a:buNone/>
            </a:pPr>
            <a:r>
              <a:rPr lang="en-US" sz="1100" dirty="0" err="1">
                <a:solidFill>
                  <a:srgbClr val="666666"/>
                </a:solidFill>
              </a:rPr>
              <a:t>Streamlit</a:t>
            </a:r>
            <a:r>
              <a:rPr lang="en-US" sz="1100" dirty="0">
                <a:solidFill>
                  <a:srgbClr val="666666"/>
                </a:solidFill>
              </a:rPr>
              <a:t> endpoints exposing recommendation functions</a:t>
            </a:r>
            <a:endParaRPr lang="en-US" sz="1100" dirty="0"/>
          </a:p>
        </p:txBody>
      </p:sp>
      <p:sp>
        <p:nvSpPr>
          <p:cNvPr id="17" name="Shape 14"/>
          <p:cNvSpPr/>
          <p:nvPr/>
        </p:nvSpPr>
        <p:spPr>
          <a:xfrm>
            <a:off x="640080" y="3803904"/>
            <a:ext cx="7863840" cy="640080"/>
          </a:xfrm>
          <a:prstGeom prst="rect">
            <a:avLst/>
          </a:prstGeom>
          <a:solidFill>
            <a:srgbClr val="FFFFFF"/>
          </a:solidFill>
          <a:ln/>
          <a:effectLst>
            <a:outerShdw blurRad="50800" dist="25400" dir="8100000" algn="bl" rotWithShape="0">
              <a:srgbClr val="000000">
                <a:alpha val="6000"/>
              </a:srgbClr>
            </a:outerShdw>
          </a:effectLst>
        </p:spPr>
      </p:sp>
      <p:sp>
        <p:nvSpPr>
          <p:cNvPr id="18" name="Shape 15"/>
          <p:cNvSpPr/>
          <p:nvPr/>
        </p:nvSpPr>
        <p:spPr>
          <a:xfrm>
            <a:off x="640080" y="3803904"/>
            <a:ext cx="73152" cy="640080"/>
          </a:xfrm>
          <a:prstGeom prst="rect">
            <a:avLst/>
          </a:prstGeom>
          <a:solidFill>
            <a:srgbClr val="028090"/>
          </a:solidFill>
          <a:ln/>
        </p:spPr>
      </p:sp>
      <p:sp>
        <p:nvSpPr>
          <p:cNvPr id="19" name="Text 16"/>
          <p:cNvSpPr/>
          <p:nvPr/>
        </p:nvSpPr>
        <p:spPr>
          <a:xfrm>
            <a:off x="868680" y="4012902"/>
            <a:ext cx="1645920" cy="228600"/>
          </a:xfrm>
          <a:prstGeom prst="rect">
            <a:avLst/>
          </a:prstGeom>
          <a:noFill/>
          <a:ln/>
        </p:spPr>
        <p:txBody>
          <a:bodyPr wrap="square" rtlCol="0" anchor="ctr"/>
          <a:lstStyle/>
          <a:p>
            <a:pPr marL="0" indent="0">
              <a:buNone/>
            </a:pPr>
            <a:r>
              <a:rPr lang="en-US" sz="1300" b="1" dirty="0">
                <a:solidFill>
                  <a:srgbClr val="2F3C7E"/>
                </a:solidFill>
              </a:rPr>
              <a:t>Frontend Layer</a:t>
            </a:r>
            <a:endParaRPr lang="en-US" sz="1300" dirty="0"/>
          </a:p>
        </p:txBody>
      </p:sp>
      <p:sp>
        <p:nvSpPr>
          <p:cNvPr id="20" name="Text 17"/>
          <p:cNvSpPr/>
          <p:nvPr/>
        </p:nvSpPr>
        <p:spPr>
          <a:xfrm>
            <a:off x="2606040" y="3908406"/>
            <a:ext cx="5715000" cy="457200"/>
          </a:xfrm>
          <a:prstGeom prst="rect">
            <a:avLst/>
          </a:prstGeom>
          <a:noFill/>
          <a:ln/>
        </p:spPr>
        <p:txBody>
          <a:bodyPr wrap="square" rtlCol="0" anchor="ctr"/>
          <a:lstStyle/>
          <a:p>
            <a:pPr marL="0" indent="0">
              <a:lnSpc>
                <a:spcPts val="1400"/>
              </a:lnSpc>
              <a:buNone/>
            </a:pPr>
            <a:r>
              <a:rPr lang="en-US" sz="1100" dirty="0">
                <a:solidFill>
                  <a:srgbClr val="666666"/>
                </a:solidFill>
              </a:rPr>
              <a:t>Web interface for course browsing and personalized recommendations</a:t>
            </a:r>
            <a:endParaRPr lang="en-US" sz="1100" dirty="0"/>
          </a:p>
        </p:txBody>
      </p:sp>
      <p:sp>
        <p:nvSpPr>
          <p:cNvPr id="21" name="Shape 18"/>
          <p:cNvSpPr/>
          <p:nvPr/>
        </p:nvSpPr>
        <p:spPr>
          <a:xfrm>
            <a:off x="640080" y="4415232"/>
            <a:ext cx="7863840" cy="274320"/>
          </a:xfrm>
          <a:prstGeom prst="rect">
            <a:avLst/>
          </a:prstGeom>
          <a:solidFill>
            <a:srgbClr val="1E2761"/>
          </a:solidFill>
          <a:ln/>
        </p:spPr>
      </p:sp>
      <p:sp>
        <p:nvSpPr>
          <p:cNvPr id="22" name="Text 19"/>
          <p:cNvSpPr/>
          <p:nvPr/>
        </p:nvSpPr>
        <p:spPr>
          <a:xfrm>
            <a:off x="822960" y="4451808"/>
            <a:ext cx="7498080" cy="201168"/>
          </a:xfrm>
          <a:prstGeom prst="rect">
            <a:avLst/>
          </a:prstGeom>
          <a:noFill/>
          <a:ln/>
        </p:spPr>
        <p:txBody>
          <a:bodyPr wrap="square" rtlCol="0" anchor="ctr"/>
          <a:lstStyle/>
          <a:p>
            <a:pPr marL="0" indent="0" algn="ctr">
              <a:buNone/>
            </a:pPr>
            <a:r>
              <a:rPr lang="en-US" sz="1100" dirty="0">
                <a:solidFill>
                  <a:srgbClr val="FFFFFF"/>
                </a:solidFill>
              </a:rPr>
              <a:t>Tech Stack: Python | Scikit-learn | Pandas | NumPy | </a:t>
            </a:r>
            <a:r>
              <a:rPr lang="en-US" sz="1100" dirty="0" err="1">
                <a:solidFill>
                  <a:srgbClr val="FFFFFF"/>
                </a:solidFill>
              </a:rPr>
              <a:t>Streamlit</a:t>
            </a:r>
            <a:r>
              <a:rPr lang="en-US" sz="1100">
                <a:solidFill>
                  <a:srgbClr val="FFFFFF"/>
                </a:solidFill>
              </a:rPr>
              <a:t> </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48A812F-AE6D-8A75-8309-BE929C845E7E}"/>
              </a:ext>
            </a:extLst>
          </p:cNvPr>
          <p:cNvSpPr/>
          <p:nvPr/>
        </p:nvSpPr>
        <p:spPr>
          <a:xfrm>
            <a:off x="457200" y="274320"/>
            <a:ext cx="8229600" cy="457200"/>
          </a:xfrm>
          <a:prstGeom prst="rect">
            <a:avLst/>
          </a:prstGeom>
          <a:noFill/>
          <a:ln/>
        </p:spPr>
        <p:txBody>
          <a:bodyPr wrap="square" lIns="0" tIns="0" rIns="0" bIns="0" rtlCol="0" anchor="ctr"/>
          <a:lstStyle/>
          <a:p>
            <a:pPr marL="0" indent="0">
              <a:buNone/>
            </a:pPr>
            <a:r>
              <a:rPr lang="en-US" sz="3600" b="1" dirty="0">
                <a:solidFill>
                  <a:srgbClr val="2F3C7E"/>
                </a:solidFill>
              </a:rPr>
              <a:t>Dashboard</a:t>
            </a:r>
            <a:endParaRPr lang="en-US" sz="3600" dirty="0"/>
          </a:p>
        </p:txBody>
      </p:sp>
      <p:pic>
        <p:nvPicPr>
          <p:cNvPr id="4" name="Picture 3">
            <a:extLst>
              <a:ext uri="{FF2B5EF4-FFF2-40B4-BE49-F238E27FC236}">
                <a16:creationId xmlns:a16="http://schemas.microsoft.com/office/drawing/2014/main" id="{F1320901-1D92-7B13-1EDB-6E68D99D5D10}"/>
              </a:ext>
            </a:extLst>
          </p:cNvPr>
          <p:cNvPicPr>
            <a:picLocks noChangeAspect="1"/>
          </p:cNvPicPr>
          <p:nvPr/>
        </p:nvPicPr>
        <p:blipFill>
          <a:blip r:embed="rId2"/>
          <a:stretch>
            <a:fillRect/>
          </a:stretch>
        </p:blipFill>
        <p:spPr>
          <a:xfrm>
            <a:off x="176351" y="921919"/>
            <a:ext cx="8654140" cy="38894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757833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3600" b="1" dirty="0">
                <a:solidFill>
                  <a:srgbClr val="2F3C7E"/>
                </a:solidFill>
              </a:rPr>
              <a:t>CHALLENGES &amp; SOLUTIONS</a:t>
            </a:r>
            <a:endParaRPr lang="en-US" sz="3600" dirty="0"/>
          </a:p>
        </p:txBody>
      </p:sp>
      <p:sp>
        <p:nvSpPr>
          <p:cNvPr id="3" name="Shape 1"/>
          <p:cNvSpPr/>
          <p:nvPr/>
        </p:nvSpPr>
        <p:spPr>
          <a:xfrm>
            <a:off x="457200" y="1005840"/>
            <a:ext cx="3931920" cy="1554480"/>
          </a:xfrm>
          <a:prstGeom prst="rect">
            <a:avLst/>
          </a:prstGeom>
          <a:solidFill>
            <a:srgbClr val="FFFFFF"/>
          </a:solidFill>
          <a:ln/>
          <a:effectLst>
            <a:outerShdw blurRad="76200" dist="25400" dir="8100000" algn="bl" rotWithShape="0">
              <a:srgbClr val="000000">
                <a:alpha val="8000"/>
              </a:srgbClr>
            </a:outerShdw>
          </a:effectLst>
        </p:spPr>
      </p:sp>
      <p:pic>
        <p:nvPicPr>
          <p:cNvPr id="4" name="Image 0" descr="preencoded.png"/>
          <p:cNvPicPr>
            <a:picLocks noChangeAspect="1"/>
          </p:cNvPicPr>
          <p:nvPr/>
        </p:nvPicPr>
        <p:blipFill>
          <a:blip r:embed="rId3"/>
          <a:stretch>
            <a:fillRect/>
          </a:stretch>
        </p:blipFill>
        <p:spPr>
          <a:xfrm>
            <a:off x="685800" y="1188720"/>
            <a:ext cx="365760" cy="365760"/>
          </a:xfrm>
          <a:prstGeom prst="rect">
            <a:avLst/>
          </a:prstGeom>
        </p:spPr>
      </p:pic>
      <p:sp>
        <p:nvSpPr>
          <p:cNvPr id="5" name="Text 2"/>
          <p:cNvSpPr/>
          <p:nvPr/>
        </p:nvSpPr>
        <p:spPr>
          <a:xfrm>
            <a:off x="1143000" y="1225296"/>
            <a:ext cx="3017520" cy="292608"/>
          </a:xfrm>
          <a:prstGeom prst="rect">
            <a:avLst/>
          </a:prstGeom>
          <a:noFill/>
          <a:ln/>
        </p:spPr>
        <p:txBody>
          <a:bodyPr wrap="square" rtlCol="0" anchor="ctr"/>
          <a:lstStyle/>
          <a:p>
            <a:pPr marL="0" indent="0">
              <a:buNone/>
            </a:pPr>
            <a:r>
              <a:rPr lang="en-US" sz="1400" b="1" dirty="0">
                <a:solidFill>
                  <a:srgbClr val="028090"/>
                </a:solidFill>
              </a:rPr>
              <a:t>Cold Start Problem</a:t>
            </a:r>
            <a:endParaRPr lang="en-US" sz="1400" dirty="0"/>
          </a:p>
        </p:txBody>
      </p:sp>
      <p:sp>
        <p:nvSpPr>
          <p:cNvPr id="6" name="Shape 3"/>
          <p:cNvSpPr/>
          <p:nvPr/>
        </p:nvSpPr>
        <p:spPr>
          <a:xfrm>
            <a:off x="685800" y="1627632"/>
            <a:ext cx="3474720" cy="18288"/>
          </a:xfrm>
          <a:prstGeom prst="rect">
            <a:avLst/>
          </a:prstGeom>
          <a:solidFill>
            <a:srgbClr val="E2E8F0"/>
          </a:solidFill>
          <a:ln/>
        </p:spPr>
      </p:sp>
      <p:sp>
        <p:nvSpPr>
          <p:cNvPr id="7" name="Text 4"/>
          <p:cNvSpPr/>
          <p:nvPr/>
        </p:nvSpPr>
        <p:spPr>
          <a:xfrm>
            <a:off x="685800" y="1719072"/>
            <a:ext cx="3474720" cy="320040"/>
          </a:xfrm>
          <a:prstGeom prst="rect">
            <a:avLst/>
          </a:prstGeom>
          <a:noFill/>
          <a:ln/>
        </p:spPr>
        <p:txBody>
          <a:bodyPr wrap="square" rtlCol="0" anchor="ctr"/>
          <a:lstStyle/>
          <a:p>
            <a:pPr marL="0" indent="0">
              <a:lnSpc>
                <a:spcPts val="1300"/>
              </a:lnSpc>
              <a:buNone/>
            </a:pPr>
            <a:r>
              <a:rPr lang="en-US" sz="1000" dirty="0">
                <a:solidFill>
                  <a:srgbClr val="666666"/>
                </a:solidFill>
              </a:rPr>
              <a:t>New users with no interaction history received generic recommendations</a:t>
            </a:r>
            <a:endParaRPr lang="en-US" sz="1000" dirty="0"/>
          </a:p>
        </p:txBody>
      </p:sp>
      <p:sp>
        <p:nvSpPr>
          <p:cNvPr id="8" name="Text 5"/>
          <p:cNvSpPr/>
          <p:nvPr/>
        </p:nvSpPr>
        <p:spPr>
          <a:xfrm>
            <a:off x="685800" y="2084832"/>
            <a:ext cx="3474720" cy="384048"/>
          </a:xfrm>
          <a:prstGeom prst="rect">
            <a:avLst/>
          </a:prstGeom>
          <a:noFill/>
          <a:ln/>
        </p:spPr>
        <p:txBody>
          <a:bodyPr wrap="square" rtlCol="0" anchor="ctr"/>
          <a:lstStyle/>
          <a:p>
            <a:pPr marL="0" indent="0">
              <a:lnSpc>
                <a:spcPts val="1300"/>
              </a:lnSpc>
              <a:buNone/>
            </a:pPr>
            <a:r>
              <a:rPr lang="en-US" sz="1000" b="1" dirty="0">
                <a:solidFill>
                  <a:srgbClr val="00A896"/>
                </a:solidFill>
              </a:rPr>
              <a:t>Solution: </a:t>
            </a:r>
            <a:r>
              <a:rPr lang="en-US" sz="1000" dirty="0">
                <a:solidFill>
                  <a:srgbClr val="2F3C7E"/>
                </a:solidFill>
              </a:rPr>
              <a:t>Implemented content-based filtering as fallback for new users, leveraging course attributes</a:t>
            </a:r>
            <a:endParaRPr lang="en-US" sz="1000" dirty="0"/>
          </a:p>
        </p:txBody>
      </p:sp>
      <p:sp>
        <p:nvSpPr>
          <p:cNvPr id="9" name="Shape 6"/>
          <p:cNvSpPr/>
          <p:nvPr/>
        </p:nvSpPr>
        <p:spPr>
          <a:xfrm>
            <a:off x="4754880" y="1005840"/>
            <a:ext cx="3931920" cy="1554480"/>
          </a:xfrm>
          <a:prstGeom prst="rect">
            <a:avLst/>
          </a:prstGeom>
          <a:solidFill>
            <a:srgbClr val="FFFFFF"/>
          </a:solidFill>
          <a:ln/>
          <a:effectLst>
            <a:outerShdw blurRad="76200" dist="25400" dir="8100000" algn="bl" rotWithShape="0">
              <a:srgbClr val="000000">
                <a:alpha val="8000"/>
              </a:srgbClr>
            </a:outerShdw>
          </a:effectLst>
        </p:spPr>
      </p:sp>
      <p:pic>
        <p:nvPicPr>
          <p:cNvPr id="10" name="Image 1" descr="preencoded.png"/>
          <p:cNvPicPr>
            <a:picLocks noChangeAspect="1"/>
          </p:cNvPicPr>
          <p:nvPr/>
        </p:nvPicPr>
        <p:blipFill>
          <a:blip r:embed="rId4"/>
          <a:stretch>
            <a:fillRect/>
          </a:stretch>
        </p:blipFill>
        <p:spPr>
          <a:xfrm>
            <a:off x="4983480" y="1188720"/>
            <a:ext cx="365760" cy="365760"/>
          </a:xfrm>
          <a:prstGeom prst="rect">
            <a:avLst/>
          </a:prstGeom>
        </p:spPr>
      </p:pic>
      <p:sp>
        <p:nvSpPr>
          <p:cNvPr id="11" name="Text 7"/>
          <p:cNvSpPr/>
          <p:nvPr/>
        </p:nvSpPr>
        <p:spPr>
          <a:xfrm>
            <a:off x="5440680" y="1225296"/>
            <a:ext cx="3017520" cy="292608"/>
          </a:xfrm>
          <a:prstGeom prst="rect">
            <a:avLst/>
          </a:prstGeom>
          <a:noFill/>
          <a:ln/>
        </p:spPr>
        <p:txBody>
          <a:bodyPr wrap="square" rtlCol="0" anchor="ctr"/>
          <a:lstStyle/>
          <a:p>
            <a:pPr marL="0" indent="0">
              <a:buNone/>
            </a:pPr>
            <a:r>
              <a:rPr lang="en-US" sz="1400" b="1" dirty="0">
                <a:solidFill>
                  <a:srgbClr val="028090"/>
                </a:solidFill>
              </a:rPr>
              <a:t>Data Imbalance</a:t>
            </a:r>
            <a:endParaRPr lang="en-US" sz="1400" dirty="0"/>
          </a:p>
        </p:txBody>
      </p:sp>
      <p:sp>
        <p:nvSpPr>
          <p:cNvPr id="12" name="Shape 8"/>
          <p:cNvSpPr/>
          <p:nvPr/>
        </p:nvSpPr>
        <p:spPr>
          <a:xfrm>
            <a:off x="4983480" y="1627632"/>
            <a:ext cx="3474720" cy="18288"/>
          </a:xfrm>
          <a:prstGeom prst="rect">
            <a:avLst/>
          </a:prstGeom>
          <a:solidFill>
            <a:srgbClr val="E2E8F0"/>
          </a:solidFill>
          <a:ln/>
        </p:spPr>
      </p:sp>
      <p:sp>
        <p:nvSpPr>
          <p:cNvPr id="13" name="Text 9"/>
          <p:cNvSpPr/>
          <p:nvPr/>
        </p:nvSpPr>
        <p:spPr>
          <a:xfrm>
            <a:off x="4983480" y="1719072"/>
            <a:ext cx="3474720" cy="320040"/>
          </a:xfrm>
          <a:prstGeom prst="rect">
            <a:avLst/>
          </a:prstGeom>
          <a:noFill/>
          <a:ln/>
        </p:spPr>
        <p:txBody>
          <a:bodyPr wrap="square" rtlCol="0" anchor="ctr"/>
          <a:lstStyle/>
          <a:p>
            <a:pPr marL="0" indent="0">
              <a:lnSpc>
                <a:spcPts val="1300"/>
              </a:lnSpc>
              <a:buNone/>
            </a:pPr>
            <a:r>
              <a:rPr lang="en-US" sz="1000" dirty="0">
                <a:solidFill>
                  <a:srgbClr val="666666"/>
                </a:solidFill>
              </a:rPr>
              <a:t>Some difficulty levels had more courses than others affecting clustering</a:t>
            </a:r>
            <a:endParaRPr lang="en-US" sz="1000" dirty="0"/>
          </a:p>
        </p:txBody>
      </p:sp>
      <p:sp>
        <p:nvSpPr>
          <p:cNvPr id="14" name="Text 10"/>
          <p:cNvSpPr/>
          <p:nvPr/>
        </p:nvSpPr>
        <p:spPr>
          <a:xfrm>
            <a:off x="4983480" y="2084832"/>
            <a:ext cx="3474720" cy="384048"/>
          </a:xfrm>
          <a:prstGeom prst="rect">
            <a:avLst/>
          </a:prstGeom>
          <a:noFill/>
          <a:ln/>
        </p:spPr>
        <p:txBody>
          <a:bodyPr wrap="square" rtlCol="0" anchor="ctr"/>
          <a:lstStyle/>
          <a:p>
            <a:pPr marL="0" indent="0">
              <a:lnSpc>
                <a:spcPts val="1300"/>
              </a:lnSpc>
              <a:buNone/>
            </a:pPr>
            <a:r>
              <a:rPr lang="en-US" sz="1000" b="1" dirty="0">
                <a:solidFill>
                  <a:srgbClr val="00A896"/>
                </a:solidFill>
              </a:rPr>
              <a:t>Solution: </a:t>
            </a:r>
            <a:r>
              <a:rPr lang="en-US" sz="1000" dirty="0">
                <a:solidFill>
                  <a:srgbClr val="2F3C7E"/>
                </a:solidFill>
              </a:rPr>
              <a:t>Applied stratified sampling and weighted features during model training</a:t>
            </a:r>
            <a:endParaRPr lang="en-US" sz="1000" dirty="0"/>
          </a:p>
        </p:txBody>
      </p:sp>
      <p:sp>
        <p:nvSpPr>
          <p:cNvPr id="15" name="Shape 11"/>
          <p:cNvSpPr/>
          <p:nvPr/>
        </p:nvSpPr>
        <p:spPr>
          <a:xfrm>
            <a:off x="457200" y="2788920"/>
            <a:ext cx="3931920" cy="1554480"/>
          </a:xfrm>
          <a:prstGeom prst="rect">
            <a:avLst/>
          </a:prstGeom>
          <a:solidFill>
            <a:srgbClr val="FFFFFF"/>
          </a:solidFill>
          <a:ln/>
          <a:effectLst>
            <a:outerShdw blurRad="76200" dist="25400" dir="8100000" algn="bl" rotWithShape="0">
              <a:srgbClr val="000000">
                <a:alpha val="8000"/>
              </a:srgbClr>
            </a:outerShdw>
          </a:effectLst>
        </p:spPr>
      </p:sp>
      <p:pic>
        <p:nvPicPr>
          <p:cNvPr id="16" name="Image 2" descr="preencoded.png"/>
          <p:cNvPicPr>
            <a:picLocks noChangeAspect="1"/>
          </p:cNvPicPr>
          <p:nvPr/>
        </p:nvPicPr>
        <p:blipFill>
          <a:blip r:embed="rId5"/>
          <a:stretch>
            <a:fillRect/>
          </a:stretch>
        </p:blipFill>
        <p:spPr>
          <a:xfrm>
            <a:off x="685800" y="2971800"/>
            <a:ext cx="365760" cy="365760"/>
          </a:xfrm>
          <a:prstGeom prst="rect">
            <a:avLst/>
          </a:prstGeom>
        </p:spPr>
      </p:pic>
      <p:sp>
        <p:nvSpPr>
          <p:cNvPr id="17" name="Text 12"/>
          <p:cNvSpPr/>
          <p:nvPr/>
        </p:nvSpPr>
        <p:spPr>
          <a:xfrm>
            <a:off x="1143000" y="3008376"/>
            <a:ext cx="3017520" cy="292608"/>
          </a:xfrm>
          <a:prstGeom prst="rect">
            <a:avLst/>
          </a:prstGeom>
          <a:noFill/>
          <a:ln/>
        </p:spPr>
        <p:txBody>
          <a:bodyPr wrap="square" rtlCol="0" anchor="ctr"/>
          <a:lstStyle/>
          <a:p>
            <a:pPr marL="0" indent="0">
              <a:buNone/>
            </a:pPr>
            <a:r>
              <a:rPr lang="en-US" sz="1400" b="1" dirty="0">
                <a:solidFill>
                  <a:srgbClr val="028090"/>
                </a:solidFill>
              </a:rPr>
              <a:t>Computational Efficiency</a:t>
            </a:r>
            <a:endParaRPr lang="en-US" sz="1400" dirty="0"/>
          </a:p>
        </p:txBody>
      </p:sp>
      <p:sp>
        <p:nvSpPr>
          <p:cNvPr id="18" name="Shape 13"/>
          <p:cNvSpPr/>
          <p:nvPr/>
        </p:nvSpPr>
        <p:spPr>
          <a:xfrm>
            <a:off x="685800" y="3410712"/>
            <a:ext cx="3474720" cy="18288"/>
          </a:xfrm>
          <a:prstGeom prst="rect">
            <a:avLst/>
          </a:prstGeom>
          <a:solidFill>
            <a:srgbClr val="E2E8F0"/>
          </a:solidFill>
          <a:ln/>
        </p:spPr>
      </p:sp>
      <p:sp>
        <p:nvSpPr>
          <p:cNvPr id="19" name="Text 14"/>
          <p:cNvSpPr/>
          <p:nvPr/>
        </p:nvSpPr>
        <p:spPr>
          <a:xfrm>
            <a:off x="685800" y="3502152"/>
            <a:ext cx="3474720" cy="320040"/>
          </a:xfrm>
          <a:prstGeom prst="rect">
            <a:avLst/>
          </a:prstGeom>
          <a:noFill/>
          <a:ln/>
        </p:spPr>
        <p:txBody>
          <a:bodyPr wrap="square" rtlCol="0" anchor="ctr"/>
          <a:lstStyle/>
          <a:p>
            <a:pPr marL="0" indent="0">
              <a:lnSpc>
                <a:spcPts val="1300"/>
              </a:lnSpc>
              <a:buNone/>
            </a:pPr>
            <a:r>
              <a:rPr lang="en-US" sz="1000" dirty="0">
                <a:solidFill>
                  <a:srgbClr val="666666"/>
                </a:solidFill>
              </a:rPr>
              <a:t>TF-IDF similarity calculations were slow for large course catalogs</a:t>
            </a:r>
            <a:endParaRPr lang="en-US" sz="1000" dirty="0"/>
          </a:p>
        </p:txBody>
      </p:sp>
      <p:sp>
        <p:nvSpPr>
          <p:cNvPr id="20" name="Text 15"/>
          <p:cNvSpPr/>
          <p:nvPr/>
        </p:nvSpPr>
        <p:spPr>
          <a:xfrm>
            <a:off x="685800" y="3867912"/>
            <a:ext cx="3474720" cy="384048"/>
          </a:xfrm>
          <a:prstGeom prst="rect">
            <a:avLst/>
          </a:prstGeom>
          <a:noFill/>
          <a:ln/>
        </p:spPr>
        <p:txBody>
          <a:bodyPr wrap="square" rtlCol="0" anchor="ctr"/>
          <a:lstStyle/>
          <a:p>
            <a:pPr marL="0" indent="0">
              <a:lnSpc>
                <a:spcPts val="1300"/>
              </a:lnSpc>
              <a:buNone/>
            </a:pPr>
            <a:r>
              <a:rPr lang="en-US" sz="1000" b="1" dirty="0">
                <a:solidFill>
                  <a:srgbClr val="00A896"/>
                </a:solidFill>
              </a:rPr>
              <a:t>Solution: </a:t>
            </a:r>
            <a:r>
              <a:rPr lang="en-US" sz="1000" dirty="0">
                <a:solidFill>
                  <a:srgbClr val="2F3C7E"/>
                </a:solidFill>
              </a:rPr>
              <a:t>Pre-computed similarity matrices and implemented caching mechanisms</a:t>
            </a:r>
            <a:endParaRPr lang="en-US" sz="1000" dirty="0"/>
          </a:p>
        </p:txBody>
      </p:sp>
      <p:sp>
        <p:nvSpPr>
          <p:cNvPr id="21" name="Shape 16"/>
          <p:cNvSpPr/>
          <p:nvPr/>
        </p:nvSpPr>
        <p:spPr>
          <a:xfrm>
            <a:off x="4754880" y="2788920"/>
            <a:ext cx="3931920" cy="1554480"/>
          </a:xfrm>
          <a:prstGeom prst="rect">
            <a:avLst/>
          </a:prstGeom>
          <a:solidFill>
            <a:srgbClr val="FFFFFF"/>
          </a:solidFill>
          <a:ln/>
          <a:effectLst>
            <a:outerShdw blurRad="76200" dist="25400" dir="8100000" algn="bl" rotWithShape="0">
              <a:srgbClr val="000000">
                <a:alpha val="8000"/>
              </a:srgbClr>
            </a:outerShdw>
          </a:effectLst>
        </p:spPr>
      </p:sp>
      <p:pic>
        <p:nvPicPr>
          <p:cNvPr id="22" name="Image 3" descr="preencoded.png"/>
          <p:cNvPicPr>
            <a:picLocks noChangeAspect="1"/>
          </p:cNvPicPr>
          <p:nvPr/>
        </p:nvPicPr>
        <p:blipFill>
          <a:blip r:embed="rId6"/>
          <a:stretch>
            <a:fillRect/>
          </a:stretch>
        </p:blipFill>
        <p:spPr>
          <a:xfrm>
            <a:off x="4983480" y="2971800"/>
            <a:ext cx="365760" cy="365760"/>
          </a:xfrm>
          <a:prstGeom prst="rect">
            <a:avLst/>
          </a:prstGeom>
        </p:spPr>
      </p:pic>
      <p:sp>
        <p:nvSpPr>
          <p:cNvPr id="23" name="Text 17"/>
          <p:cNvSpPr/>
          <p:nvPr/>
        </p:nvSpPr>
        <p:spPr>
          <a:xfrm>
            <a:off x="5440680" y="3008376"/>
            <a:ext cx="3017520" cy="292608"/>
          </a:xfrm>
          <a:prstGeom prst="rect">
            <a:avLst/>
          </a:prstGeom>
          <a:noFill/>
          <a:ln/>
        </p:spPr>
        <p:txBody>
          <a:bodyPr wrap="square" rtlCol="0" anchor="ctr"/>
          <a:lstStyle/>
          <a:p>
            <a:pPr marL="0" indent="0">
              <a:buNone/>
            </a:pPr>
            <a:r>
              <a:rPr lang="en-US" sz="1400" b="1" dirty="0">
                <a:solidFill>
                  <a:srgbClr val="028090"/>
                </a:solidFill>
              </a:rPr>
              <a:t>Model Selection Uncertainty</a:t>
            </a:r>
            <a:endParaRPr lang="en-US" sz="1400" dirty="0"/>
          </a:p>
        </p:txBody>
      </p:sp>
      <p:sp>
        <p:nvSpPr>
          <p:cNvPr id="24" name="Shape 18"/>
          <p:cNvSpPr/>
          <p:nvPr/>
        </p:nvSpPr>
        <p:spPr>
          <a:xfrm>
            <a:off x="4983480" y="3410712"/>
            <a:ext cx="3474720" cy="18288"/>
          </a:xfrm>
          <a:prstGeom prst="rect">
            <a:avLst/>
          </a:prstGeom>
          <a:solidFill>
            <a:srgbClr val="E2E8F0"/>
          </a:solidFill>
          <a:ln/>
        </p:spPr>
      </p:sp>
      <p:sp>
        <p:nvSpPr>
          <p:cNvPr id="25" name="Text 19"/>
          <p:cNvSpPr/>
          <p:nvPr/>
        </p:nvSpPr>
        <p:spPr>
          <a:xfrm>
            <a:off x="4983480" y="3502152"/>
            <a:ext cx="3474720" cy="320040"/>
          </a:xfrm>
          <a:prstGeom prst="rect">
            <a:avLst/>
          </a:prstGeom>
          <a:noFill/>
          <a:ln/>
        </p:spPr>
        <p:txBody>
          <a:bodyPr wrap="square" rtlCol="0" anchor="ctr"/>
          <a:lstStyle/>
          <a:p>
            <a:pPr marL="0" indent="0">
              <a:lnSpc>
                <a:spcPts val="1300"/>
              </a:lnSpc>
              <a:buNone/>
            </a:pPr>
            <a:r>
              <a:rPr lang="en-US" sz="1000" dirty="0">
                <a:solidFill>
                  <a:srgbClr val="666666"/>
                </a:solidFill>
              </a:rPr>
              <a:t>Difficulty determining which algorithm performs best for different scenarios</a:t>
            </a:r>
            <a:endParaRPr lang="en-US" sz="1000" dirty="0"/>
          </a:p>
        </p:txBody>
      </p:sp>
      <p:sp>
        <p:nvSpPr>
          <p:cNvPr id="26" name="Text 20"/>
          <p:cNvSpPr/>
          <p:nvPr/>
        </p:nvSpPr>
        <p:spPr>
          <a:xfrm>
            <a:off x="4983480" y="3867912"/>
            <a:ext cx="3474720" cy="384048"/>
          </a:xfrm>
          <a:prstGeom prst="rect">
            <a:avLst/>
          </a:prstGeom>
          <a:noFill/>
          <a:ln/>
        </p:spPr>
        <p:txBody>
          <a:bodyPr wrap="square" rtlCol="0" anchor="ctr"/>
          <a:lstStyle/>
          <a:p>
            <a:pPr marL="0" indent="0">
              <a:lnSpc>
                <a:spcPts val="1300"/>
              </a:lnSpc>
              <a:buNone/>
            </a:pPr>
            <a:r>
              <a:rPr lang="en-US" sz="1000" b="1" dirty="0">
                <a:solidFill>
                  <a:srgbClr val="00A896"/>
                </a:solidFill>
              </a:rPr>
              <a:t>Solution: </a:t>
            </a:r>
            <a:r>
              <a:rPr lang="en-US" sz="1000" dirty="0">
                <a:solidFill>
                  <a:srgbClr val="2F3C7E"/>
                </a:solidFill>
              </a:rPr>
              <a:t>Created hybrid approach and comparative evaluation framework</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3600" b="1" dirty="0">
                <a:solidFill>
                  <a:srgbClr val="2F3C7E"/>
                </a:solidFill>
              </a:rPr>
              <a:t>KEY LEARNINGS</a:t>
            </a:r>
            <a:endParaRPr lang="en-US" sz="3600" dirty="0"/>
          </a:p>
        </p:txBody>
      </p:sp>
      <p:pic>
        <p:nvPicPr>
          <p:cNvPr id="3" name="Image 0" descr="preencoded.png"/>
          <p:cNvPicPr>
            <a:picLocks noChangeAspect="1"/>
          </p:cNvPicPr>
          <p:nvPr/>
        </p:nvPicPr>
        <p:blipFill>
          <a:blip r:embed="rId3"/>
          <a:stretch>
            <a:fillRect/>
          </a:stretch>
        </p:blipFill>
        <p:spPr>
          <a:xfrm>
            <a:off x="640080" y="914400"/>
            <a:ext cx="457200" cy="457200"/>
          </a:xfrm>
          <a:prstGeom prst="rect">
            <a:avLst/>
          </a:prstGeom>
        </p:spPr>
      </p:pic>
      <p:sp>
        <p:nvSpPr>
          <p:cNvPr id="4" name="Text 1"/>
          <p:cNvSpPr/>
          <p:nvPr/>
        </p:nvSpPr>
        <p:spPr>
          <a:xfrm>
            <a:off x="1234440" y="1005840"/>
            <a:ext cx="7223760" cy="320040"/>
          </a:xfrm>
          <a:prstGeom prst="rect">
            <a:avLst/>
          </a:prstGeom>
          <a:noFill/>
          <a:ln/>
        </p:spPr>
        <p:txBody>
          <a:bodyPr wrap="square" rtlCol="0" anchor="ctr"/>
          <a:lstStyle/>
          <a:p>
            <a:pPr marL="0" indent="0">
              <a:buNone/>
            </a:pPr>
            <a:r>
              <a:rPr lang="en-US" sz="2000" b="1" dirty="0">
                <a:solidFill>
                  <a:srgbClr val="2F3C7E"/>
                </a:solidFill>
              </a:rPr>
              <a:t>Insights from the Project</a:t>
            </a:r>
            <a:endParaRPr lang="en-US" sz="2000" dirty="0"/>
          </a:p>
        </p:txBody>
      </p:sp>
      <p:sp>
        <p:nvSpPr>
          <p:cNvPr id="5" name="Shape 2"/>
          <p:cNvSpPr/>
          <p:nvPr/>
        </p:nvSpPr>
        <p:spPr>
          <a:xfrm>
            <a:off x="731520" y="1609344"/>
            <a:ext cx="256032" cy="256032"/>
          </a:xfrm>
          <a:prstGeom prst="ellipse">
            <a:avLst/>
          </a:prstGeom>
          <a:solidFill>
            <a:srgbClr val="028090"/>
          </a:solidFill>
          <a:ln/>
        </p:spPr>
      </p:sp>
      <p:sp>
        <p:nvSpPr>
          <p:cNvPr id="6" name="Text 3"/>
          <p:cNvSpPr/>
          <p:nvPr/>
        </p:nvSpPr>
        <p:spPr>
          <a:xfrm>
            <a:off x="731520" y="1609344"/>
            <a:ext cx="256032" cy="256032"/>
          </a:xfrm>
          <a:prstGeom prst="rect">
            <a:avLst/>
          </a:prstGeom>
          <a:noFill/>
          <a:ln/>
        </p:spPr>
        <p:txBody>
          <a:bodyPr wrap="square" rtlCol="0" anchor="ctr"/>
          <a:lstStyle/>
          <a:p>
            <a:pPr marL="0" indent="0" algn="ctr">
              <a:buNone/>
            </a:pPr>
            <a:r>
              <a:rPr lang="en-US" sz="1200" b="1" dirty="0">
                <a:solidFill>
                  <a:srgbClr val="FFFFFF"/>
                </a:solidFill>
              </a:rPr>
              <a:t>1</a:t>
            </a:r>
            <a:endParaRPr lang="en-US" sz="1200" dirty="0"/>
          </a:p>
        </p:txBody>
      </p:sp>
      <p:sp>
        <p:nvSpPr>
          <p:cNvPr id="7" name="Text 4"/>
          <p:cNvSpPr/>
          <p:nvPr/>
        </p:nvSpPr>
        <p:spPr>
          <a:xfrm>
            <a:off x="1097280" y="1554480"/>
            <a:ext cx="7406640" cy="365760"/>
          </a:xfrm>
          <a:prstGeom prst="rect">
            <a:avLst/>
          </a:prstGeom>
          <a:noFill/>
          <a:ln/>
        </p:spPr>
        <p:txBody>
          <a:bodyPr wrap="square" rtlCol="0" anchor="ctr"/>
          <a:lstStyle/>
          <a:p>
            <a:pPr marL="0" indent="0">
              <a:lnSpc>
                <a:spcPts val="1600"/>
              </a:lnSpc>
              <a:buNone/>
            </a:pPr>
            <a:r>
              <a:rPr lang="en-US" sz="1200" dirty="0">
                <a:solidFill>
                  <a:srgbClr val="2F3C7E"/>
                </a:solidFill>
              </a:rPr>
              <a:t>No single algorithm fits all scenarios - hybrid approaches provide best results</a:t>
            </a:r>
            <a:endParaRPr lang="en-US" sz="1200" dirty="0"/>
          </a:p>
        </p:txBody>
      </p:sp>
      <p:sp>
        <p:nvSpPr>
          <p:cNvPr id="8" name="Shape 5"/>
          <p:cNvSpPr/>
          <p:nvPr/>
        </p:nvSpPr>
        <p:spPr>
          <a:xfrm>
            <a:off x="731520" y="2020824"/>
            <a:ext cx="256032" cy="256032"/>
          </a:xfrm>
          <a:prstGeom prst="ellipse">
            <a:avLst/>
          </a:prstGeom>
          <a:solidFill>
            <a:srgbClr val="028090"/>
          </a:solidFill>
          <a:ln/>
        </p:spPr>
      </p:sp>
      <p:sp>
        <p:nvSpPr>
          <p:cNvPr id="9" name="Text 6"/>
          <p:cNvSpPr/>
          <p:nvPr/>
        </p:nvSpPr>
        <p:spPr>
          <a:xfrm>
            <a:off x="731520" y="2020824"/>
            <a:ext cx="256032" cy="256032"/>
          </a:xfrm>
          <a:prstGeom prst="rect">
            <a:avLst/>
          </a:prstGeom>
          <a:noFill/>
          <a:ln/>
        </p:spPr>
        <p:txBody>
          <a:bodyPr wrap="square" rtlCol="0" anchor="ctr"/>
          <a:lstStyle/>
          <a:p>
            <a:pPr marL="0" indent="0" algn="ctr">
              <a:buNone/>
            </a:pPr>
            <a:r>
              <a:rPr lang="en-US" sz="1200" b="1" dirty="0">
                <a:solidFill>
                  <a:srgbClr val="FFFFFF"/>
                </a:solidFill>
              </a:rPr>
              <a:t>2</a:t>
            </a:r>
            <a:endParaRPr lang="en-US" sz="1200" dirty="0"/>
          </a:p>
        </p:txBody>
      </p:sp>
      <p:sp>
        <p:nvSpPr>
          <p:cNvPr id="10" name="Text 7"/>
          <p:cNvSpPr/>
          <p:nvPr/>
        </p:nvSpPr>
        <p:spPr>
          <a:xfrm>
            <a:off x="1097280" y="1965960"/>
            <a:ext cx="7406640" cy="365760"/>
          </a:xfrm>
          <a:prstGeom prst="rect">
            <a:avLst/>
          </a:prstGeom>
          <a:noFill/>
          <a:ln/>
        </p:spPr>
        <p:txBody>
          <a:bodyPr wrap="square" rtlCol="0" anchor="ctr"/>
          <a:lstStyle/>
          <a:p>
            <a:pPr marL="0" indent="0">
              <a:lnSpc>
                <a:spcPts val="1600"/>
              </a:lnSpc>
              <a:buNone/>
            </a:pPr>
            <a:r>
              <a:rPr lang="en-US" sz="1200" dirty="0">
                <a:solidFill>
                  <a:srgbClr val="2F3C7E"/>
                </a:solidFill>
              </a:rPr>
              <a:t>Feature engineering significantly impacts recommendation quality</a:t>
            </a:r>
            <a:endParaRPr lang="en-US" sz="1200" dirty="0"/>
          </a:p>
        </p:txBody>
      </p:sp>
      <p:sp>
        <p:nvSpPr>
          <p:cNvPr id="11" name="Shape 8"/>
          <p:cNvSpPr/>
          <p:nvPr/>
        </p:nvSpPr>
        <p:spPr>
          <a:xfrm>
            <a:off x="731520" y="2432304"/>
            <a:ext cx="256032" cy="256032"/>
          </a:xfrm>
          <a:prstGeom prst="ellipse">
            <a:avLst/>
          </a:prstGeom>
          <a:solidFill>
            <a:srgbClr val="028090"/>
          </a:solidFill>
          <a:ln/>
        </p:spPr>
      </p:sp>
      <p:sp>
        <p:nvSpPr>
          <p:cNvPr id="12" name="Text 9"/>
          <p:cNvSpPr/>
          <p:nvPr/>
        </p:nvSpPr>
        <p:spPr>
          <a:xfrm>
            <a:off x="731520" y="2432304"/>
            <a:ext cx="256032" cy="256032"/>
          </a:xfrm>
          <a:prstGeom prst="rect">
            <a:avLst/>
          </a:prstGeom>
          <a:noFill/>
          <a:ln/>
        </p:spPr>
        <p:txBody>
          <a:bodyPr wrap="square" rtlCol="0" anchor="ctr"/>
          <a:lstStyle/>
          <a:p>
            <a:pPr marL="0" indent="0" algn="ctr">
              <a:buNone/>
            </a:pPr>
            <a:r>
              <a:rPr lang="en-US" sz="1200" b="1" dirty="0">
                <a:solidFill>
                  <a:srgbClr val="FFFFFF"/>
                </a:solidFill>
              </a:rPr>
              <a:t>3</a:t>
            </a:r>
            <a:endParaRPr lang="en-US" sz="1200" dirty="0"/>
          </a:p>
        </p:txBody>
      </p:sp>
      <p:sp>
        <p:nvSpPr>
          <p:cNvPr id="13" name="Text 10"/>
          <p:cNvSpPr/>
          <p:nvPr/>
        </p:nvSpPr>
        <p:spPr>
          <a:xfrm>
            <a:off x="1097280" y="2377440"/>
            <a:ext cx="7406640" cy="365760"/>
          </a:xfrm>
          <a:prstGeom prst="rect">
            <a:avLst/>
          </a:prstGeom>
          <a:noFill/>
          <a:ln/>
        </p:spPr>
        <p:txBody>
          <a:bodyPr wrap="square" rtlCol="0" anchor="ctr"/>
          <a:lstStyle/>
          <a:p>
            <a:pPr marL="0" indent="0">
              <a:lnSpc>
                <a:spcPts val="1600"/>
              </a:lnSpc>
              <a:buNone/>
            </a:pPr>
            <a:r>
              <a:rPr lang="en-US" sz="1200" dirty="0">
                <a:solidFill>
                  <a:srgbClr val="2F3C7E"/>
                </a:solidFill>
              </a:rPr>
              <a:t>Data quality is more important than algorithm complexity</a:t>
            </a:r>
            <a:endParaRPr lang="en-US" sz="1200" dirty="0"/>
          </a:p>
        </p:txBody>
      </p:sp>
      <p:sp>
        <p:nvSpPr>
          <p:cNvPr id="14" name="Shape 11"/>
          <p:cNvSpPr/>
          <p:nvPr/>
        </p:nvSpPr>
        <p:spPr>
          <a:xfrm>
            <a:off x="731520" y="2843784"/>
            <a:ext cx="256032" cy="256032"/>
          </a:xfrm>
          <a:prstGeom prst="ellipse">
            <a:avLst/>
          </a:prstGeom>
          <a:solidFill>
            <a:srgbClr val="00A896"/>
          </a:solidFill>
          <a:ln/>
        </p:spPr>
      </p:sp>
      <p:sp>
        <p:nvSpPr>
          <p:cNvPr id="15" name="Text 12"/>
          <p:cNvSpPr/>
          <p:nvPr/>
        </p:nvSpPr>
        <p:spPr>
          <a:xfrm>
            <a:off x="731520" y="2843784"/>
            <a:ext cx="256032" cy="256032"/>
          </a:xfrm>
          <a:prstGeom prst="rect">
            <a:avLst/>
          </a:prstGeom>
          <a:noFill/>
          <a:ln/>
        </p:spPr>
        <p:txBody>
          <a:bodyPr wrap="square" rtlCol="0" anchor="ctr"/>
          <a:lstStyle/>
          <a:p>
            <a:pPr marL="0" indent="0" algn="ctr">
              <a:buNone/>
            </a:pPr>
            <a:r>
              <a:rPr lang="en-US" sz="1200" b="1" dirty="0">
                <a:solidFill>
                  <a:srgbClr val="FFFFFF"/>
                </a:solidFill>
              </a:rPr>
              <a:t>4</a:t>
            </a:r>
            <a:endParaRPr lang="en-US" sz="1200" dirty="0"/>
          </a:p>
        </p:txBody>
      </p:sp>
      <p:sp>
        <p:nvSpPr>
          <p:cNvPr id="16" name="Text 13"/>
          <p:cNvSpPr/>
          <p:nvPr/>
        </p:nvSpPr>
        <p:spPr>
          <a:xfrm>
            <a:off x="1097280" y="2788920"/>
            <a:ext cx="7406640" cy="365760"/>
          </a:xfrm>
          <a:prstGeom prst="rect">
            <a:avLst/>
          </a:prstGeom>
          <a:noFill/>
          <a:ln/>
        </p:spPr>
        <p:txBody>
          <a:bodyPr wrap="square" rtlCol="0" anchor="ctr"/>
          <a:lstStyle/>
          <a:p>
            <a:pPr marL="0" indent="0">
              <a:lnSpc>
                <a:spcPts val="1600"/>
              </a:lnSpc>
              <a:buNone/>
            </a:pPr>
            <a:r>
              <a:rPr lang="en-US" sz="1200" dirty="0">
                <a:solidFill>
                  <a:srgbClr val="2F3C7E"/>
                </a:solidFill>
              </a:rPr>
              <a:t>User feedback loops are essential for continuous improvement</a:t>
            </a:r>
            <a:endParaRPr lang="en-US" sz="1200" dirty="0"/>
          </a:p>
        </p:txBody>
      </p:sp>
      <p:sp>
        <p:nvSpPr>
          <p:cNvPr id="17" name="Shape 14"/>
          <p:cNvSpPr/>
          <p:nvPr/>
        </p:nvSpPr>
        <p:spPr>
          <a:xfrm>
            <a:off x="731520" y="3255264"/>
            <a:ext cx="256032" cy="256032"/>
          </a:xfrm>
          <a:prstGeom prst="ellipse">
            <a:avLst/>
          </a:prstGeom>
          <a:solidFill>
            <a:srgbClr val="00A896"/>
          </a:solidFill>
          <a:ln/>
        </p:spPr>
      </p:sp>
      <p:sp>
        <p:nvSpPr>
          <p:cNvPr id="18" name="Text 15"/>
          <p:cNvSpPr/>
          <p:nvPr/>
        </p:nvSpPr>
        <p:spPr>
          <a:xfrm>
            <a:off x="731520" y="3255264"/>
            <a:ext cx="256032" cy="256032"/>
          </a:xfrm>
          <a:prstGeom prst="rect">
            <a:avLst/>
          </a:prstGeom>
          <a:noFill/>
          <a:ln/>
        </p:spPr>
        <p:txBody>
          <a:bodyPr wrap="square" rtlCol="0" anchor="ctr"/>
          <a:lstStyle/>
          <a:p>
            <a:pPr marL="0" indent="0" algn="ctr">
              <a:buNone/>
            </a:pPr>
            <a:r>
              <a:rPr lang="en-US" sz="1200" b="1" dirty="0">
                <a:solidFill>
                  <a:srgbClr val="FFFFFF"/>
                </a:solidFill>
              </a:rPr>
              <a:t>5</a:t>
            </a:r>
            <a:endParaRPr lang="en-US" sz="1200" dirty="0"/>
          </a:p>
        </p:txBody>
      </p:sp>
      <p:sp>
        <p:nvSpPr>
          <p:cNvPr id="19" name="Text 16"/>
          <p:cNvSpPr/>
          <p:nvPr/>
        </p:nvSpPr>
        <p:spPr>
          <a:xfrm>
            <a:off x="1097280" y="3200400"/>
            <a:ext cx="7406640" cy="365760"/>
          </a:xfrm>
          <a:prstGeom prst="rect">
            <a:avLst/>
          </a:prstGeom>
          <a:noFill/>
          <a:ln/>
        </p:spPr>
        <p:txBody>
          <a:bodyPr wrap="square" rtlCol="0" anchor="ctr"/>
          <a:lstStyle/>
          <a:p>
            <a:pPr marL="0" indent="0">
              <a:lnSpc>
                <a:spcPts val="1600"/>
              </a:lnSpc>
              <a:buNone/>
            </a:pPr>
            <a:r>
              <a:rPr lang="en-US" sz="1200" dirty="0">
                <a:solidFill>
                  <a:srgbClr val="2F3C7E"/>
                </a:solidFill>
              </a:rPr>
              <a:t>Balancing accuracy with computational efficiency is crucial for scalability</a:t>
            </a:r>
            <a:endParaRPr lang="en-US" sz="1200" dirty="0"/>
          </a:p>
        </p:txBody>
      </p:sp>
      <p:sp>
        <p:nvSpPr>
          <p:cNvPr id="20" name="Shape 17"/>
          <p:cNvSpPr/>
          <p:nvPr/>
        </p:nvSpPr>
        <p:spPr>
          <a:xfrm>
            <a:off x="731520" y="3666744"/>
            <a:ext cx="256032" cy="256032"/>
          </a:xfrm>
          <a:prstGeom prst="ellipse">
            <a:avLst/>
          </a:prstGeom>
          <a:solidFill>
            <a:srgbClr val="00A896"/>
          </a:solidFill>
          <a:ln/>
        </p:spPr>
      </p:sp>
      <p:sp>
        <p:nvSpPr>
          <p:cNvPr id="21" name="Text 18"/>
          <p:cNvSpPr/>
          <p:nvPr/>
        </p:nvSpPr>
        <p:spPr>
          <a:xfrm>
            <a:off x="731520" y="3666744"/>
            <a:ext cx="256032" cy="256032"/>
          </a:xfrm>
          <a:prstGeom prst="rect">
            <a:avLst/>
          </a:prstGeom>
          <a:noFill/>
          <a:ln/>
        </p:spPr>
        <p:txBody>
          <a:bodyPr wrap="square" rtlCol="0" anchor="ctr"/>
          <a:lstStyle/>
          <a:p>
            <a:pPr marL="0" indent="0" algn="ctr">
              <a:buNone/>
            </a:pPr>
            <a:r>
              <a:rPr lang="en-US" sz="1200" b="1" dirty="0">
                <a:solidFill>
                  <a:srgbClr val="FFFFFF"/>
                </a:solidFill>
              </a:rPr>
              <a:t>6</a:t>
            </a:r>
            <a:endParaRPr lang="en-US" sz="1200" dirty="0"/>
          </a:p>
        </p:txBody>
      </p:sp>
      <p:sp>
        <p:nvSpPr>
          <p:cNvPr id="22" name="Text 19"/>
          <p:cNvSpPr/>
          <p:nvPr/>
        </p:nvSpPr>
        <p:spPr>
          <a:xfrm>
            <a:off x="1097280" y="3611880"/>
            <a:ext cx="7406640" cy="365760"/>
          </a:xfrm>
          <a:prstGeom prst="rect">
            <a:avLst/>
          </a:prstGeom>
          <a:noFill/>
          <a:ln/>
        </p:spPr>
        <p:txBody>
          <a:bodyPr wrap="square" rtlCol="0" anchor="ctr"/>
          <a:lstStyle/>
          <a:p>
            <a:pPr marL="0" indent="0">
              <a:lnSpc>
                <a:spcPts val="1600"/>
              </a:lnSpc>
              <a:buNone/>
            </a:pPr>
            <a:r>
              <a:rPr lang="en-US" sz="1200" dirty="0">
                <a:solidFill>
                  <a:srgbClr val="2F3C7E"/>
                </a:solidFill>
              </a:rPr>
              <a:t>Visual validation (PCA) helps identify model issues early</a:t>
            </a:r>
            <a:endParaRPr lang="en-US" sz="1200" dirty="0"/>
          </a:p>
        </p:txBody>
      </p:sp>
      <p:sp>
        <p:nvSpPr>
          <p:cNvPr id="23" name="Shape 20"/>
          <p:cNvSpPr/>
          <p:nvPr/>
        </p:nvSpPr>
        <p:spPr>
          <a:xfrm>
            <a:off x="731520" y="4078224"/>
            <a:ext cx="256032" cy="256032"/>
          </a:xfrm>
          <a:prstGeom prst="ellipse">
            <a:avLst/>
          </a:prstGeom>
          <a:solidFill>
            <a:srgbClr val="02C39A"/>
          </a:solidFill>
          <a:ln/>
        </p:spPr>
      </p:sp>
      <p:sp>
        <p:nvSpPr>
          <p:cNvPr id="24" name="Text 21"/>
          <p:cNvSpPr/>
          <p:nvPr/>
        </p:nvSpPr>
        <p:spPr>
          <a:xfrm>
            <a:off x="731520" y="4078224"/>
            <a:ext cx="256032" cy="256032"/>
          </a:xfrm>
          <a:prstGeom prst="rect">
            <a:avLst/>
          </a:prstGeom>
          <a:noFill/>
          <a:ln/>
        </p:spPr>
        <p:txBody>
          <a:bodyPr wrap="square" rtlCol="0" anchor="ctr"/>
          <a:lstStyle/>
          <a:p>
            <a:pPr marL="0" indent="0" algn="ctr">
              <a:buNone/>
            </a:pPr>
            <a:r>
              <a:rPr lang="en-US" sz="1200" b="1" dirty="0">
                <a:solidFill>
                  <a:srgbClr val="FFFFFF"/>
                </a:solidFill>
              </a:rPr>
              <a:t>7</a:t>
            </a:r>
            <a:endParaRPr lang="en-US" sz="1200" dirty="0"/>
          </a:p>
        </p:txBody>
      </p:sp>
      <p:sp>
        <p:nvSpPr>
          <p:cNvPr id="25" name="Text 22"/>
          <p:cNvSpPr/>
          <p:nvPr/>
        </p:nvSpPr>
        <p:spPr>
          <a:xfrm>
            <a:off x="1097280" y="4023360"/>
            <a:ext cx="7406640" cy="365760"/>
          </a:xfrm>
          <a:prstGeom prst="rect">
            <a:avLst/>
          </a:prstGeom>
          <a:noFill/>
          <a:ln/>
        </p:spPr>
        <p:txBody>
          <a:bodyPr wrap="square" rtlCol="0" anchor="ctr"/>
          <a:lstStyle/>
          <a:p>
            <a:pPr marL="0" indent="0">
              <a:lnSpc>
                <a:spcPts val="1600"/>
              </a:lnSpc>
              <a:buNone/>
            </a:pPr>
            <a:r>
              <a:rPr lang="en-US" sz="1200" dirty="0">
                <a:solidFill>
                  <a:srgbClr val="2F3C7E"/>
                </a:solidFill>
              </a:rPr>
              <a:t>Cold start handling should be built in from the beginning</a:t>
            </a:r>
            <a:endParaRPr lang="en-US" sz="1200" dirty="0"/>
          </a:p>
        </p:txBody>
      </p:sp>
      <p:sp>
        <p:nvSpPr>
          <p:cNvPr id="26" name="Shape 23"/>
          <p:cNvSpPr/>
          <p:nvPr/>
        </p:nvSpPr>
        <p:spPr>
          <a:xfrm>
            <a:off x="731520" y="4489704"/>
            <a:ext cx="256032" cy="256032"/>
          </a:xfrm>
          <a:prstGeom prst="ellipse">
            <a:avLst/>
          </a:prstGeom>
          <a:solidFill>
            <a:srgbClr val="02C39A"/>
          </a:solidFill>
          <a:ln/>
        </p:spPr>
      </p:sp>
      <p:sp>
        <p:nvSpPr>
          <p:cNvPr id="27" name="Text 24"/>
          <p:cNvSpPr/>
          <p:nvPr/>
        </p:nvSpPr>
        <p:spPr>
          <a:xfrm>
            <a:off x="731520" y="4489704"/>
            <a:ext cx="256032" cy="256032"/>
          </a:xfrm>
          <a:prstGeom prst="rect">
            <a:avLst/>
          </a:prstGeom>
          <a:noFill/>
          <a:ln/>
        </p:spPr>
        <p:txBody>
          <a:bodyPr wrap="square" rtlCol="0" anchor="ctr"/>
          <a:lstStyle/>
          <a:p>
            <a:pPr marL="0" indent="0" algn="ctr">
              <a:buNone/>
            </a:pPr>
            <a:r>
              <a:rPr lang="en-US" sz="1200" b="1" dirty="0">
                <a:solidFill>
                  <a:srgbClr val="FFFFFF"/>
                </a:solidFill>
              </a:rPr>
              <a:t>8</a:t>
            </a:r>
            <a:endParaRPr lang="en-US" sz="1200" dirty="0"/>
          </a:p>
        </p:txBody>
      </p:sp>
      <p:sp>
        <p:nvSpPr>
          <p:cNvPr id="28" name="Text 25"/>
          <p:cNvSpPr/>
          <p:nvPr/>
        </p:nvSpPr>
        <p:spPr>
          <a:xfrm>
            <a:off x="1097280" y="4434840"/>
            <a:ext cx="7406640" cy="365760"/>
          </a:xfrm>
          <a:prstGeom prst="rect">
            <a:avLst/>
          </a:prstGeom>
          <a:noFill/>
          <a:ln/>
        </p:spPr>
        <p:txBody>
          <a:bodyPr wrap="square" rtlCol="0" anchor="ctr"/>
          <a:lstStyle/>
          <a:p>
            <a:pPr marL="0" indent="0">
              <a:lnSpc>
                <a:spcPts val="1600"/>
              </a:lnSpc>
              <a:buNone/>
            </a:pPr>
            <a:r>
              <a:rPr lang="en-US" sz="1200" dirty="0">
                <a:solidFill>
                  <a:srgbClr val="2F3C7E"/>
                </a:solidFill>
              </a:rPr>
              <a:t>Regular model retraining with new data maintains relevance</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3600" b="1" dirty="0">
                <a:solidFill>
                  <a:srgbClr val="2F3C7E"/>
                </a:solidFill>
              </a:rPr>
              <a:t>FUTURE ENHANCEMENTS</a:t>
            </a:r>
            <a:endParaRPr lang="en-US" sz="3600" dirty="0"/>
          </a:p>
        </p:txBody>
      </p:sp>
      <p:sp>
        <p:nvSpPr>
          <p:cNvPr id="3" name="Shape 1"/>
          <p:cNvSpPr/>
          <p:nvPr/>
        </p:nvSpPr>
        <p:spPr>
          <a:xfrm>
            <a:off x="457200" y="1097280"/>
            <a:ext cx="3931920" cy="1508760"/>
          </a:xfrm>
          <a:prstGeom prst="rect">
            <a:avLst/>
          </a:prstGeom>
          <a:solidFill>
            <a:srgbClr val="FFFFFF"/>
          </a:solidFill>
          <a:ln/>
          <a:effectLst>
            <a:outerShdw blurRad="76200" dist="25400" dir="8100000" algn="bl" rotWithShape="0">
              <a:srgbClr val="000000">
                <a:alpha val="8000"/>
              </a:srgbClr>
            </a:outerShdw>
          </a:effectLst>
        </p:spPr>
      </p:sp>
      <p:sp>
        <p:nvSpPr>
          <p:cNvPr id="4" name="Shape 2"/>
          <p:cNvSpPr/>
          <p:nvPr/>
        </p:nvSpPr>
        <p:spPr>
          <a:xfrm>
            <a:off x="457200" y="1097280"/>
            <a:ext cx="3931920" cy="411480"/>
          </a:xfrm>
          <a:prstGeom prst="rect">
            <a:avLst/>
          </a:prstGeom>
          <a:solidFill>
            <a:srgbClr val="028090">
              <a:alpha val="85000"/>
            </a:srgbClr>
          </a:solidFill>
          <a:ln/>
        </p:spPr>
      </p:sp>
      <p:sp>
        <p:nvSpPr>
          <p:cNvPr id="5" name="Text 3"/>
          <p:cNvSpPr/>
          <p:nvPr/>
        </p:nvSpPr>
        <p:spPr>
          <a:xfrm>
            <a:off x="640080" y="1188720"/>
            <a:ext cx="3566160" cy="228600"/>
          </a:xfrm>
          <a:prstGeom prst="rect">
            <a:avLst/>
          </a:prstGeom>
          <a:noFill/>
          <a:ln/>
        </p:spPr>
        <p:txBody>
          <a:bodyPr wrap="square" rtlCol="0" anchor="ctr"/>
          <a:lstStyle/>
          <a:p>
            <a:pPr marL="0" indent="0">
              <a:buNone/>
            </a:pPr>
            <a:r>
              <a:rPr lang="en-US" sz="1400" b="1" dirty="0">
                <a:solidFill>
                  <a:srgbClr val="2F3C7E"/>
                </a:solidFill>
              </a:rPr>
              <a:t>Deep Learning Integration</a:t>
            </a:r>
            <a:endParaRPr lang="en-US" sz="1400" dirty="0"/>
          </a:p>
        </p:txBody>
      </p:sp>
      <p:sp>
        <p:nvSpPr>
          <p:cNvPr id="6" name="Text 4"/>
          <p:cNvSpPr/>
          <p:nvPr/>
        </p:nvSpPr>
        <p:spPr>
          <a:xfrm>
            <a:off x="685800" y="1645920"/>
            <a:ext cx="228600" cy="228600"/>
          </a:xfrm>
          <a:prstGeom prst="rect">
            <a:avLst/>
          </a:prstGeom>
          <a:noFill/>
          <a:ln/>
        </p:spPr>
        <p:txBody>
          <a:bodyPr wrap="square" rtlCol="0" anchor="ctr"/>
          <a:lstStyle/>
          <a:p>
            <a:pPr marL="0" indent="0">
              <a:buNone/>
            </a:pPr>
            <a:r>
              <a:rPr lang="en-US" sz="1200" b="1" dirty="0">
                <a:solidFill>
                  <a:srgbClr val="028090"/>
                </a:solidFill>
              </a:rPr>
              <a:t>→</a:t>
            </a:r>
            <a:endParaRPr lang="en-US" sz="1200" dirty="0"/>
          </a:p>
        </p:txBody>
      </p:sp>
      <p:sp>
        <p:nvSpPr>
          <p:cNvPr id="7" name="Text 5"/>
          <p:cNvSpPr/>
          <p:nvPr/>
        </p:nvSpPr>
        <p:spPr>
          <a:xfrm>
            <a:off x="960120" y="1645920"/>
            <a:ext cx="3200400" cy="228600"/>
          </a:xfrm>
          <a:prstGeom prst="rect">
            <a:avLst/>
          </a:prstGeom>
          <a:noFill/>
          <a:ln/>
        </p:spPr>
        <p:txBody>
          <a:bodyPr wrap="square" rtlCol="0" anchor="ctr"/>
          <a:lstStyle/>
          <a:p>
            <a:pPr marL="0" indent="0">
              <a:buNone/>
            </a:pPr>
            <a:r>
              <a:rPr lang="en-US" sz="1100" dirty="0">
                <a:solidFill>
                  <a:srgbClr val="666666"/>
                </a:solidFill>
              </a:rPr>
              <a:t>Neural collaborative filtering</a:t>
            </a:r>
            <a:endParaRPr lang="en-US" sz="1100" dirty="0"/>
          </a:p>
        </p:txBody>
      </p:sp>
      <p:sp>
        <p:nvSpPr>
          <p:cNvPr id="8" name="Text 6"/>
          <p:cNvSpPr/>
          <p:nvPr/>
        </p:nvSpPr>
        <p:spPr>
          <a:xfrm>
            <a:off x="685800" y="1938528"/>
            <a:ext cx="228600" cy="228600"/>
          </a:xfrm>
          <a:prstGeom prst="rect">
            <a:avLst/>
          </a:prstGeom>
          <a:noFill/>
          <a:ln/>
        </p:spPr>
        <p:txBody>
          <a:bodyPr wrap="square" rtlCol="0" anchor="ctr"/>
          <a:lstStyle/>
          <a:p>
            <a:pPr marL="0" indent="0">
              <a:buNone/>
            </a:pPr>
            <a:r>
              <a:rPr lang="en-US" sz="1200" b="1" dirty="0">
                <a:solidFill>
                  <a:srgbClr val="028090"/>
                </a:solidFill>
              </a:rPr>
              <a:t>→</a:t>
            </a:r>
            <a:endParaRPr lang="en-US" sz="1200" dirty="0"/>
          </a:p>
        </p:txBody>
      </p:sp>
      <p:sp>
        <p:nvSpPr>
          <p:cNvPr id="9" name="Text 7"/>
          <p:cNvSpPr/>
          <p:nvPr/>
        </p:nvSpPr>
        <p:spPr>
          <a:xfrm>
            <a:off x="960120" y="1938528"/>
            <a:ext cx="3200400" cy="228600"/>
          </a:xfrm>
          <a:prstGeom prst="rect">
            <a:avLst/>
          </a:prstGeom>
          <a:noFill/>
          <a:ln/>
        </p:spPr>
        <p:txBody>
          <a:bodyPr wrap="square" rtlCol="0" anchor="ctr"/>
          <a:lstStyle/>
          <a:p>
            <a:pPr marL="0" indent="0">
              <a:buNone/>
            </a:pPr>
            <a:r>
              <a:rPr lang="en-US" sz="1100" dirty="0">
                <a:solidFill>
                  <a:srgbClr val="666666"/>
                </a:solidFill>
              </a:rPr>
              <a:t>Transformer-based content embeddings</a:t>
            </a:r>
            <a:endParaRPr lang="en-US" sz="1100" dirty="0"/>
          </a:p>
        </p:txBody>
      </p:sp>
      <p:sp>
        <p:nvSpPr>
          <p:cNvPr id="10" name="Text 8"/>
          <p:cNvSpPr/>
          <p:nvPr/>
        </p:nvSpPr>
        <p:spPr>
          <a:xfrm>
            <a:off x="685800" y="2231136"/>
            <a:ext cx="228600" cy="228600"/>
          </a:xfrm>
          <a:prstGeom prst="rect">
            <a:avLst/>
          </a:prstGeom>
          <a:noFill/>
          <a:ln/>
        </p:spPr>
        <p:txBody>
          <a:bodyPr wrap="square" rtlCol="0" anchor="ctr"/>
          <a:lstStyle/>
          <a:p>
            <a:pPr marL="0" indent="0">
              <a:buNone/>
            </a:pPr>
            <a:r>
              <a:rPr lang="en-US" sz="1200" b="1" dirty="0">
                <a:solidFill>
                  <a:srgbClr val="028090"/>
                </a:solidFill>
              </a:rPr>
              <a:t>→</a:t>
            </a:r>
            <a:endParaRPr lang="en-US" sz="1200" dirty="0"/>
          </a:p>
        </p:txBody>
      </p:sp>
      <p:sp>
        <p:nvSpPr>
          <p:cNvPr id="11" name="Text 9"/>
          <p:cNvSpPr/>
          <p:nvPr/>
        </p:nvSpPr>
        <p:spPr>
          <a:xfrm>
            <a:off x="960120" y="2231136"/>
            <a:ext cx="3200400" cy="228600"/>
          </a:xfrm>
          <a:prstGeom prst="rect">
            <a:avLst/>
          </a:prstGeom>
          <a:noFill/>
          <a:ln/>
        </p:spPr>
        <p:txBody>
          <a:bodyPr wrap="square" rtlCol="0" anchor="ctr"/>
          <a:lstStyle/>
          <a:p>
            <a:pPr marL="0" indent="0">
              <a:buNone/>
            </a:pPr>
            <a:r>
              <a:rPr lang="en-US" sz="1100" dirty="0">
                <a:solidFill>
                  <a:srgbClr val="666666"/>
                </a:solidFill>
              </a:rPr>
              <a:t>Sequence modeling for learning paths</a:t>
            </a:r>
            <a:endParaRPr lang="en-US" sz="1100" dirty="0"/>
          </a:p>
        </p:txBody>
      </p:sp>
      <p:sp>
        <p:nvSpPr>
          <p:cNvPr id="12" name="Shape 10"/>
          <p:cNvSpPr/>
          <p:nvPr/>
        </p:nvSpPr>
        <p:spPr>
          <a:xfrm>
            <a:off x="4754880" y="1097280"/>
            <a:ext cx="3931920" cy="1508760"/>
          </a:xfrm>
          <a:prstGeom prst="rect">
            <a:avLst/>
          </a:prstGeom>
          <a:solidFill>
            <a:srgbClr val="FFFFFF"/>
          </a:solidFill>
          <a:ln/>
          <a:effectLst>
            <a:outerShdw blurRad="76200" dist="25400" dir="8100000" algn="bl" rotWithShape="0">
              <a:srgbClr val="000000">
                <a:alpha val="8000"/>
              </a:srgbClr>
            </a:outerShdw>
          </a:effectLst>
        </p:spPr>
      </p:sp>
      <p:sp>
        <p:nvSpPr>
          <p:cNvPr id="13" name="Shape 11"/>
          <p:cNvSpPr/>
          <p:nvPr/>
        </p:nvSpPr>
        <p:spPr>
          <a:xfrm>
            <a:off x="4754880" y="1097280"/>
            <a:ext cx="3931920" cy="411480"/>
          </a:xfrm>
          <a:prstGeom prst="rect">
            <a:avLst/>
          </a:prstGeom>
          <a:solidFill>
            <a:srgbClr val="00A896">
              <a:alpha val="85000"/>
            </a:srgbClr>
          </a:solidFill>
          <a:ln/>
        </p:spPr>
      </p:sp>
      <p:sp>
        <p:nvSpPr>
          <p:cNvPr id="14" name="Text 12"/>
          <p:cNvSpPr/>
          <p:nvPr/>
        </p:nvSpPr>
        <p:spPr>
          <a:xfrm>
            <a:off x="4937760" y="1188720"/>
            <a:ext cx="3566160" cy="228600"/>
          </a:xfrm>
          <a:prstGeom prst="rect">
            <a:avLst/>
          </a:prstGeom>
          <a:noFill/>
          <a:ln/>
        </p:spPr>
        <p:txBody>
          <a:bodyPr wrap="square" rtlCol="0" anchor="ctr"/>
          <a:lstStyle/>
          <a:p>
            <a:pPr marL="0" indent="0">
              <a:buNone/>
            </a:pPr>
            <a:r>
              <a:rPr lang="en-US" sz="1400" b="1" dirty="0">
                <a:solidFill>
                  <a:srgbClr val="2F3C7E"/>
                </a:solidFill>
              </a:rPr>
              <a:t>Real-Time Personalization</a:t>
            </a:r>
            <a:endParaRPr lang="en-US" sz="1400" dirty="0"/>
          </a:p>
        </p:txBody>
      </p:sp>
      <p:sp>
        <p:nvSpPr>
          <p:cNvPr id="15" name="Text 13"/>
          <p:cNvSpPr/>
          <p:nvPr/>
        </p:nvSpPr>
        <p:spPr>
          <a:xfrm>
            <a:off x="4983480" y="1645920"/>
            <a:ext cx="228600" cy="228600"/>
          </a:xfrm>
          <a:prstGeom prst="rect">
            <a:avLst/>
          </a:prstGeom>
          <a:noFill/>
          <a:ln/>
        </p:spPr>
        <p:txBody>
          <a:bodyPr wrap="square" rtlCol="0" anchor="ctr"/>
          <a:lstStyle/>
          <a:p>
            <a:pPr marL="0" indent="0">
              <a:buNone/>
            </a:pPr>
            <a:r>
              <a:rPr lang="en-US" sz="1200" b="1" dirty="0">
                <a:solidFill>
                  <a:srgbClr val="00A896"/>
                </a:solidFill>
              </a:rPr>
              <a:t>→</a:t>
            </a:r>
            <a:endParaRPr lang="en-US" sz="1200" dirty="0"/>
          </a:p>
        </p:txBody>
      </p:sp>
      <p:sp>
        <p:nvSpPr>
          <p:cNvPr id="16" name="Text 14"/>
          <p:cNvSpPr/>
          <p:nvPr/>
        </p:nvSpPr>
        <p:spPr>
          <a:xfrm>
            <a:off x="5257800" y="1645920"/>
            <a:ext cx="3200400" cy="228600"/>
          </a:xfrm>
          <a:prstGeom prst="rect">
            <a:avLst/>
          </a:prstGeom>
          <a:noFill/>
          <a:ln/>
        </p:spPr>
        <p:txBody>
          <a:bodyPr wrap="square" rtlCol="0" anchor="ctr"/>
          <a:lstStyle/>
          <a:p>
            <a:pPr marL="0" indent="0">
              <a:buNone/>
            </a:pPr>
            <a:r>
              <a:rPr lang="en-US" sz="1100" dirty="0">
                <a:solidFill>
                  <a:srgbClr val="666666"/>
                </a:solidFill>
              </a:rPr>
              <a:t>Live user behavior tracking</a:t>
            </a:r>
            <a:endParaRPr lang="en-US" sz="1100" dirty="0"/>
          </a:p>
        </p:txBody>
      </p:sp>
      <p:sp>
        <p:nvSpPr>
          <p:cNvPr id="17" name="Text 15"/>
          <p:cNvSpPr/>
          <p:nvPr/>
        </p:nvSpPr>
        <p:spPr>
          <a:xfrm>
            <a:off x="4983480" y="1938528"/>
            <a:ext cx="228600" cy="228600"/>
          </a:xfrm>
          <a:prstGeom prst="rect">
            <a:avLst/>
          </a:prstGeom>
          <a:noFill/>
          <a:ln/>
        </p:spPr>
        <p:txBody>
          <a:bodyPr wrap="square" rtlCol="0" anchor="ctr"/>
          <a:lstStyle/>
          <a:p>
            <a:pPr marL="0" indent="0">
              <a:buNone/>
            </a:pPr>
            <a:r>
              <a:rPr lang="en-US" sz="1200" b="1" dirty="0">
                <a:solidFill>
                  <a:srgbClr val="00A896"/>
                </a:solidFill>
              </a:rPr>
              <a:t>→</a:t>
            </a:r>
            <a:endParaRPr lang="en-US" sz="1200" dirty="0"/>
          </a:p>
        </p:txBody>
      </p:sp>
      <p:sp>
        <p:nvSpPr>
          <p:cNvPr id="18" name="Text 16"/>
          <p:cNvSpPr/>
          <p:nvPr/>
        </p:nvSpPr>
        <p:spPr>
          <a:xfrm>
            <a:off x="5257800" y="1938528"/>
            <a:ext cx="3200400" cy="228600"/>
          </a:xfrm>
          <a:prstGeom prst="rect">
            <a:avLst/>
          </a:prstGeom>
          <a:noFill/>
          <a:ln/>
        </p:spPr>
        <p:txBody>
          <a:bodyPr wrap="square" rtlCol="0" anchor="ctr"/>
          <a:lstStyle/>
          <a:p>
            <a:pPr marL="0" indent="0">
              <a:buNone/>
            </a:pPr>
            <a:r>
              <a:rPr lang="en-US" sz="1100" dirty="0">
                <a:solidFill>
                  <a:srgbClr val="666666"/>
                </a:solidFill>
              </a:rPr>
              <a:t>Dynamic preference updates</a:t>
            </a:r>
            <a:endParaRPr lang="en-US" sz="1100" dirty="0"/>
          </a:p>
        </p:txBody>
      </p:sp>
      <p:sp>
        <p:nvSpPr>
          <p:cNvPr id="19" name="Text 17"/>
          <p:cNvSpPr/>
          <p:nvPr/>
        </p:nvSpPr>
        <p:spPr>
          <a:xfrm>
            <a:off x="4983480" y="2231136"/>
            <a:ext cx="228600" cy="228600"/>
          </a:xfrm>
          <a:prstGeom prst="rect">
            <a:avLst/>
          </a:prstGeom>
          <a:noFill/>
          <a:ln/>
        </p:spPr>
        <p:txBody>
          <a:bodyPr wrap="square" rtlCol="0" anchor="ctr"/>
          <a:lstStyle/>
          <a:p>
            <a:pPr marL="0" indent="0">
              <a:buNone/>
            </a:pPr>
            <a:r>
              <a:rPr lang="en-US" sz="1200" b="1" dirty="0">
                <a:solidFill>
                  <a:srgbClr val="00A896"/>
                </a:solidFill>
              </a:rPr>
              <a:t>→</a:t>
            </a:r>
            <a:endParaRPr lang="en-US" sz="1200" dirty="0"/>
          </a:p>
        </p:txBody>
      </p:sp>
      <p:sp>
        <p:nvSpPr>
          <p:cNvPr id="20" name="Text 18"/>
          <p:cNvSpPr/>
          <p:nvPr/>
        </p:nvSpPr>
        <p:spPr>
          <a:xfrm>
            <a:off x="5257800" y="2231136"/>
            <a:ext cx="3200400" cy="228600"/>
          </a:xfrm>
          <a:prstGeom prst="rect">
            <a:avLst/>
          </a:prstGeom>
          <a:noFill/>
          <a:ln/>
        </p:spPr>
        <p:txBody>
          <a:bodyPr wrap="square" rtlCol="0" anchor="ctr"/>
          <a:lstStyle/>
          <a:p>
            <a:pPr marL="0" indent="0">
              <a:buNone/>
            </a:pPr>
            <a:r>
              <a:rPr lang="en-US" sz="1100" dirty="0">
                <a:solidFill>
                  <a:srgbClr val="666666"/>
                </a:solidFill>
              </a:rPr>
              <a:t>A/B testing framework</a:t>
            </a:r>
            <a:endParaRPr lang="en-US" sz="1100" dirty="0"/>
          </a:p>
        </p:txBody>
      </p:sp>
      <p:sp>
        <p:nvSpPr>
          <p:cNvPr id="21" name="Shape 19"/>
          <p:cNvSpPr/>
          <p:nvPr/>
        </p:nvSpPr>
        <p:spPr>
          <a:xfrm>
            <a:off x="457200" y="2834640"/>
            <a:ext cx="3931920" cy="1508760"/>
          </a:xfrm>
          <a:prstGeom prst="rect">
            <a:avLst/>
          </a:prstGeom>
          <a:solidFill>
            <a:srgbClr val="FFFFFF"/>
          </a:solidFill>
          <a:ln/>
          <a:effectLst>
            <a:outerShdw blurRad="76200" dist="25400" dir="8100000" algn="bl" rotWithShape="0">
              <a:srgbClr val="000000">
                <a:alpha val="8000"/>
              </a:srgbClr>
            </a:outerShdw>
          </a:effectLst>
        </p:spPr>
      </p:sp>
      <p:sp>
        <p:nvSpPr>
          <p:cNvPr id="22" name="Shape 20"/>
          <p:cNvSpPr/>
          <p:nvPr/>
        </p:nvSpPr>
        <p:spPr>
          <a:xfrm>
            <a:off x="457200" y="2834640"/>
            <a:ext cx="3931920" cy="411480"/>
          </a:xfrm>
          <a:prstGeom prst="rect">
            <a:avLst/>
          </a:prstGeom>
          <a:solidFill>
            <a:srgbClr val="02C39A">
              <a:alpha val="85000"/>
            </a:srgbClr>
          </a:solidFill>
          <a:ln/>
        </p:spPr>
      </p:sp>
      <p:sp>
        <p:nvSpPr>
          <p:cNvPr id="23" name="Text 21"/>
          <p:cNvSpPr/>
          <p:nvPr/>
        </p:nvSpPr>
        <p:spPr>
          <a:xfrm>
            <a:off x="640080" y="2926080"/>
            <a:ext cx="3566160" cy="228600"/>
          </a:xfrm>
          <a:prstGeom prst="rect">
            <a:avLst/>
          </a:prstGeom>
          <a:noFill/>
          <a:ln/>
        </p:spPr>
        <p:txBody>
          <a:bodyPr wrap="square" rtlCol="0" anchor="ctr"/>
          <a:lstStyle/>
          <a:p>
            <a:pPr marL="0" indent="0">
              <a:buNone/>
            </a:pPr>
            <a:r>
              <a:rPr lang="en-US" sz="1400" b="1" dirty="0">
                <a:solidFill>
                  <a:srgbClr val="2F3C7E"/>
                </a:solidFill>
              </a:rPr>
              <a:t>Enhanced Features</a:t>
            </a:r>
            <a:endParaRPr lang="en-US" sz="1400" dirty="0"/>
          </a:p>
        </p:txBody>
      </p:sp>
      <p:sp>
        <p:nvSpPr>
          <p:cNvPr id="24" name="Text 22"/>
          <p:cNvSpPr/>
          <p:nvPr/>
        </p:nvSpPr>
        <p:spPr>
          <a:xfrm>
            <a:off x="685800" y="3383280"/>
            <a:ext cx="228600" cy="228600"/>
          </a:xfrm>
          <a:prstGeom prst="rect">
            <a:avLst/>
          </a:prstGeom>
          <a:noFill/>
          <a:ln/>
        </p:spPr>
        <p:txBody>
          <a:bodyPr wrap="square" rtlCol="0" anchor="ctr"/>
          <a:lstStyle/>
          <a:p>
            <a:pPr marL="0" indent="0">
              <a:buNone/>
            </a:pPr>
            <a:r>
              <a:rPr lang="en-US" sz="1200" b="1" dirty="0">
                <a:solidFill>
                  <a:srgbClr val="02C39A"/>
                </a:solidFill>
              </a:rPr>
              <a:t>→</a:t>
            </a:r>
            <a:endParaRPr lang="en-US" sz="1200" dirty="0"/>
          </a:p>
        </p:txBody>
      </p:sp>
      <p:sp>
        <p:nvSpPr>
          <p:cNvPr id="25" name="Text 23"/>
          <p:cNvSpPr/>
          <p:nvPr/>
        </p:nvSpPr>
        <p:spPr>
          <a:xfrm>
            <a:off x="960120" y="3383280"/>
            <a:ext cx="3200400" cy="228600"/>
          </a:xfrm>
          <a:prstGeom prst="rect">
            <a:avLst/>
          </a:prstGeom>
          <a:noFill/>
          <a:ln/>
        </p:spPr>
        <p:txBody>
          <a:bodyPr wrap="square" rtlCol="0" anchor="ctr"/>
          <a:lstStyle/>
          <a:p>
            <a:pPr marL="0" indent="0">
              <a:buNone/>
            </a:pPr>
            <a:r>
              <a:rPr lang="en-US" sz="1100" dirty="0">
                <a:solidFill>
                  <a:srgbClr val="666666"/>
                </a:solidFill>
              </a:rPr>
              <a:t>Multi-modal data (video, audio)</a:t>
            </a:r>
            <a:endParaRPr lang="en-US" sz="1100" dirty="0"/>
          </a:p>
        </p:txBody>
      </p:sp>
      <p:sp>
        <p:nvSpPr>
          <p:cNvPr id="26" name="Text 24"/>
          <p:cNvSpPr/>
          <p:nvPr/>
        </p:nvSpPr>
        <p:spPr>
          <a:xfrm>
            <a:off x="685800" y="3675888"/>
            <a:ext cx="228600" cy="228600"/>
          </a:xfrm>
          <a:prstGeom prst="rect">
            <a:avLst/>
          </a:prstGeom>
          <a:noFill/>
          <a:ln/>
        </p:spPr>
        <p:txBody>
          <a:bodyPr wrap="square" rtlCol="0" anchor="ctr"/>
          <a:lstStyle/>
          <a:p>
            <a:pPr marL="0" indent="0">
              <a:buNone/>
            </a:pPr>
            <a:r>
              <a:rPr lang="en-US" sz="1200" b="1" dirty="0">
                <a:solidFill>
                  <a:srgbClr val="02C39A"/>
                </a:solidFill>
              </a:rPr>
              <a:t>→</a:t>
            </a:r>
            <a:endParaRPr lang="en-US" sz="1200" dirty="0"/>
          </a:p>
        </p:txBody>
      </p:sp>
      <p:sp>
        <p:nvSpPr>
          <p:cNvPr id="27" name="Text 25"/>
          <p:cNvSpPr/>
          <p:nvPr/>
        </p:nvSpPr>
        <p:spPr>
          <a:xfrm>
            <a:off x="960120" y="3675888"/>
            <a:ext cx="3200400" cy="228600"/>
          </a:xfrm>
          <a:prstGeom prst="rect">
            <a:avLst/>
          </a:prstGeom>
          <a:noFill/>
          <a:ln/>
        </p:spPr>
        <p:txBody>
          <a:bodyPr wrap="square" rtlCol="0" anchor="ctr"/>
          <a:lstStyle/>
          <a:p>
            <a:pPr marL="0" indent="0">
              <a:buNone/>
            </a:pPr>
            <a:r>
              <a:rPr lang="en-US" sz="1100" dirty="0">
                <a:solidFill>
                  <a:srgbClr val="666666"/>
                </a:solidFill>
              </a:rPr>
              <a:t>Social learning integration</a:t>
            </a:r>
            <a:endParaRPr lang="en-US" sz="1100" dirty="0"/>
          </a:p>
        </p:txBody>
      </p:sp>
      <p:sp>
        <p:nvSpPr>
          <p:cNvPr id="28" name="Text 26"/>
          <p:cNvSpPr/>
          <p:nvPr/>
        </p:nvSpPr>
        <p:spPr>
          <a:xfrm>
            <a:off x="685800" y="3968496"/>
            <a:ext cx="228600" cy="228600"/>
          </a:xfrm>
          <a:prstGeom prst="rect">
            <a:avLst/>
          </a:prstGeom>
          <a:noFill/>
          <a:ln/>
        </p:spPr>
        <p:txBody>
          <a:bodyPr wrap="square" rtlCol="0" anchor="ctr"/>
          <a:lstStyle/>
          <a:p>
            <a:pPr marL="0" indent="0">
              <a:buNone/>
            </a:pPr>
            <a:r>
              <a:rPr lang="en-US" sz="1200" b="1" dirty="0">
                <a:solidFill>
                  <a:srgbClr val="02C39A"/>
                </a:solidFill>
              </a:rPr>
              <a:t>→</a:t>
            </a:r>
            <a:endParaRPr lang="en-US" sz="1200" dirty="0"/>
          </a:p>
        </p:txBody>
      </p:sp>
      <p:sp>
        <p:nvSpPr>
          <p:cNvPr id="29" name="Text 27"/>
          <p:cNvSpPr/>
          <p:nvPr/>
        </p:nvSpPr>
        <p:spPr>
          <a:xfrm>
            <a:off x="960120" y="3968496"/>
            <a:ext cx="3200400" cy="228600"/>
          </a:xfrm>
          <a:prstGeom prst="rect">
            <a:avLst/>
          </a:prstGeom>
          <a:noFill/>
          <a:ln/>
        </p:spPr>
        <p:txBody>
          <a:bodyPr wrap="square" rtlCol="0" anchor="ctr"/>
          <a:lstStyle/>
          <a:p>
            <a:pPr marL="0" indent="0">
              <a:buNone/>
            </a:pPr>
            <a:r>
              <a:rPr lang="en-US" sz="1100" dirty="0">
                <a:solidFill>
                  <a:srgbClr val="666666"/>
                </a:solidFill>
              </a:rPr>
              <a:t>Skill gap analysis</a:t>
            </a:r>
            <a:endParaRPr lang="en-US" sz="1100" dirty="0"/>
          </a:p>
        </p:txBody>
      </p:sp>
      <p:sp>
        <p:nvSpPr>
          <p:cNvPr id="30" name="Shape 28"/>
          <p:cNvSpPr/>
          <p:nvPr/>
        </p:nvSpPr>
        <p:spPr>
          <a:xfrm>
            <a:off x="4754880" y="2834640"/>
            <a:ext cx="3931920" cy="1508760"/>
          </a:xfrm>
          <a:prstGeom prst="rect">
            <a:avLst/>
          </a:prstGeom>
          <a:solidFill>
            <a:srgbClr val="FFFFFF"/>
          </a:solidFill>
          <a:ln/>
          <a:effectLst>
            <a:outerShdw blurRad="76200" dist="25400" dir="8100000" algn="bl" rotWithShape="0">
              <a:srgbClr val="000000">
                <a:alpha val="8000"/>
              </a:srgbClr>
            </a:outerShdw>
          </a:effectLst>
        </p:spPr>
      </p:sp>
      <p:sp>
        <p:nvSpPr>
          <p:cNvPr id="31" name="Shape 29"/>
          <p:cNvSpPr/>
          <p:nvPr/>
        </p:nvSpPr>
        <p:spPr>
          <a:xfrm>
            <a:off x="4754880" y="2834640"/>
            <a:ext cx="3931920" cy="411480"/>
          </a:xfrm>
          <a:prstGeom prst="rect">
            <a:avLst/>
          </a:prstGeom>
          <a:solidFill>
            <a:srgbClr val="028090">
              <a:alpha val="85000"/>
            </a:srgbClr>
          </a:solidFill>
          <a:ln/>
        </p:spPr>
      </p:sp>
      <p:sp>
        <p:nvSpPr>
          <p:cNvPr id="32" name="Text 30"/>
          <p:cNvSpPr/>
          <p:nvPr/>
        </p:nvSpPr>
        <p:spPr>
          <a:xfrm>
            <a:off x="4937760" y="2926080"/>
            <a:ext cx="3566160" cy="228600"/>
          </a:xfrm>
          <a:prstGeom prst="rect">
            <a:avLst/>
          </a:prstGeom>
          <a:noFill/>
          <a:ln/>
        </p:spPr>
        <p:txBody>
          <a:bodyPr wrap="square" rtlCol="0" anchor="ctr"/>
          <a:lstStyle/>
          <a:p>
            <a:pPr marL="0" indent="0">
              <a:buNone/>
            </a:pPr>
            <a:r>
              <a:rPr lang="en-US" sz="1400" b="1" dirty="0">
                <a:solidFill>
                  <a:srgbClr val="2F3C7E"/>
                </a:solidFill>
              </a:rPr>
              <a:t>System Improvements</a:t>
            </a:r>
            <a:endParaRPr lang="en-US" sz="1400" dirty="0"/>
          </a:p>
        </p:txBody>
      </p:sp>
      <p:sp>
        <p:nvSpPr>
          <p:cNvPr id="33" name="Text 31"/>
          <p:cNvSpPr/>
          <p:nvPr/>
        </p:nvSpPr>
        <p:spPr>
          <a:xfrm>
            <a:off x="4983480" y="3383280"/>
            <a:ext cx="228600" cy="228600"/>
          </a:xfrm>
          <a:prstGeom prst="rect">
            <a:avLst/>
          </a:prstGeom>
          <a:noFill/>
          <a:ln/>
        </p:spPr>
        <p:txBody>
          <a:bodyPr wrap="square" rtlCol="0" anchor="ctr"/>
          <a:lstStyle/>
          <a:p>
            <a:pPr marL="0" indent="0">
              <a:buNone/>
            </a:pPr>
            <a:r>
              <a:rPr lang="en-US" sz="1200" b="1" dirty="0">
                <a:solidFill>
                  <a:srgbClr val="028090"/>
                </a:solidFill>
              </a:rPr>
              <a:t>→</a:t>
            </a:r>
            <a:endParaRPr lang="en-US" sz="1200" dirty="0"/>
          </a:p>
        </p:txBody>
      </p:sp>
      <p:sp>
        <p:nvSpPr>
          <p:cNvPr id="34" name="Text 32"/>
          <p:cNvSpPr/>
          <p:nvPr/>
        </p:nvSpPr>
        <p:spPr>
          <a:xfrm>
            <a:off x="5257800" y="3383280"/>
            <a:ext cx="3200400" cy="228600"/>
          </a:xfrm>
          <a:prstGeom prst="rect">
            <a:avLst/>
          </a:prstGeom>
          <a:noFill/>
          <a:ln/>
        </p:spPr>
        <p:txBody>
          <a:bodyPr wrap="square" rtlCol="0" anchor="ctr"/>
          <a:lstStyle/>
          <a:p>
            <a:pPr marL="0" indent="0">
              <a:buNone/>
            </a:pPr>
            <a:r>
              <a:rPr lang="en-US" sz="1100" dirty="0">
                <a:solidFill>
                  <a:srgbClr val="666666"/>
                </a:solidFill>
              </a:rPr>
              <a:t>Distributed computing for scale</a:t>
            </a:r>
            <a:endParaRPr lang="en-US" sz="1100" dirty="0"/>
          </a:p>
        </p:txBody>
      </p:sp>
      <p:sp>
        <p:nvSpPr>
          <p:cNvPr id="35" name="Text 33"/>
          <p:cNvSpPr/>
          <p:nvPr/>
        </p:nvSpPr>
        <p:spPr>
          <a:xfrm>
            <a:off x="4983480" y="3675888"/>
            <a:ext cx="228600" cy="228600"/>
          </a:xfrm>
          <a:prstGeom prst="rect">
            <a:avLst/>
          </a:prstGeom>
          <a:noFill/>
          <a:ln/>
        </p:spPr>
        <p:txBody>
          <a:bodyPr wrap="square" rtlCol="0" anchor="ctr"/>
          <a:lstStyle/>
          <a:p>
            <a:pPr marL="0" indent="0">
              <a:buNone/>
            </a:pPr>
            <a:r>
              <a:rPr lang="en-US" sz="1200" b="1" dirty="0">
                <a:solidFill>
                  <a:srgbClr val="028090"/>
                </a:solidFill>
              </a:rPr>
              <a:t>→</a:t>
            </a:r>
            <a:endParaRPr lang="en-US" sz="1200" dirty="0"/>
          </a:p>
        </p:txBody>
      </p:sp>
      <p:sp>
        <p:nvSpPr>
          <p:cNvPr id="36" name="Text 34"/>
          <p:cNvSpPr/>
          <p:nvPr/>
        </p:nvSpPr>
        <p:spPr>
          <a:xfrm>
            <a:off x="5257800" y="3675888"/>
            <a:ext cx="3200400" cy="228600"/>
          </a:xfrm>
          <a:prstGeom prst="rect">
            <a:avLst/>
          </a:prstGeom>
          <a:noFill/>
          <a:ln/>
        </p:spPr>
        <p:txBody>
          <a:bodyPr wrap="square" rtlCol="0" anchor="ctr"/>
          <a:lstStyle/>
          <a:p>
            <a:pPr marL="0" indent="0">
              <a:buNone/>
            </a:pPr>
            <a:r>
              <a:rPr lang="en-US" sz="1100" dirty="0">
                <a:solidFill>
                  <a:srgbClr val="666666"/>
                </a:solidFill>
              </a:rPr>
              <a:t>Automated hyperparameter tuning</a:t>
            </a:r>
            <a:endParaRPr lang="en-US" sz="1100" dirty="0"/>
          </a:p>
        </p:txBody>
      </p:sp>
      <p:sp>
        <p:nvSpPr>
          <p:cNvPr id="37" name="Text 35"/>
          <p:cNvSpPr/>
          <p:nvPr/>
        </p:nvSpPr>
        <p:spPr>
          <a:xfrm>
            <a:off x="4983480" y="3968496"/>
            <a:ext cx="228600" cy="228600"/>
          </a:xfrm>
          <a:prstGeom prst="rect">
            <a:avLst/>
          </a:prstGeom>
          <a:noFill/>
          <a:ln/>
        </p:spPr>
        <p:txBody>
          <a:bodyPr wrap="square" rtlCol="0" anchor="ctr"/>
          <a:lstStyle/>
          <a:p>
            <a:pPr marL="0" indent="0">
              <a:buNone/>
            </a:pPr>
            <a:r>
              <a:rPr lang="en-US" sz="1200" b="1" dirty="0">
                <a:solidFill>
                  <a:srgbClr val="028090"/>
                </a:solidFill>
              </a:rPr>
              <a:t>→</a:t>
            </a:r>
            <a:endParaRPr lang="en-US" sz="1200" dirty="0"/>
          </a:p>
        </p:txBody>
      </p:sp>
      <p:sp>
        <p:nvSpPr>
          <p:cNvPr id="38" name="Text 36"/>
          <p:cNvSpPr/>
          <p:nvPr/>
        </p:nvSpPr>
        <p:spPr>
          <a:xfrm>
            <a:off x="5257800" y="3968496"/>
            <a:ext cx="3200400" cy="228600"/>
          </a:xfrm>
          <a:prstGeom prst="rect">
            <a:avLst/>
          </a:prstGeom>
          <a:noFill/>
          <a:ln/>
        </p:spPr>
        <p:txBody>
          <a:bodyPr wrap="square" rtlCol="0" anchor="ctr"/>
          <a:lstStyle/>
          <a:p>
            <a:pPr marL="0" indent="0">
              <a:buNone/>
            </a:pPr>
            <a:r>
              <a:rPr lang="en-US" sz="1100" dirty="0">
                <a:solidFill>
                  <a:srgbClr val="666666"/>
                </a:solidFill>
              </a:rPr>
              <a:t>Explainable AI for transparency</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3600" b="1" dirty="0">
                <a:solidFill>
                  <a:srgbClr val="2F3C7E"/>
                </a:solidFill>
              </a:rPr>
              <a:t>CONCLUSION</a:t>
            </a:r>
            <a:endParaRPr lang="en-US" sz="3600" dirty="0"/>
          </a:p>
        </p:txBody>
      </p:sp>
      <p:sp>
        <p:nvSpPr>
          <p:cNvPr id="3" name="Shape 1"/>
          <p:cNvSpPr/>
          <p:nvPr/>
        </p:nvSpPr>
        <p:spPr>
          <a:xfrm>
            <a:off x="1371600" y="1005839"/>
            <a:ext cx="6400800" cy="3735978"/>
          </a:xfrm>
          <a:prstGeom prst="rect">
            <a:avLst/>
          </a:prstGeom>
          <a:solidFill>
            <a:srgbClr val="FFFFFF"/>
          </a:solidFill>
          <a:ln/>
          <a:effectLst>
            <a:outerShdw blurRad="101600" dist="38100" dir="8100000" algn="bl" rotWithShape="0">
              <a:srgbClr val="000000">
                <a:alpha val="10000"/>
              </a:srgbClr>
            </a:outerShdw>
          </a:effectLst>
        </p:spPr>
      </p:sp>
      <p:pic>
        <p:nvPicPr>
          <p:cNvPr id="4" name="Image 0" descr="preencoded.png"/>
          <p:cNvPicPr>
            <a:picLocks noChangeAspect="1"/>
          </p:cNvPicPr>
          <p:nvPr/>
        </p:nvPicPr>
        <p:blipFill>
          <a:blip r:embed="rId3"/>
          <a:stretch>
            <a:fillRect/>
          </a:stretch>
        </p:blipFill>
        <p:spPr>
          <a:xfrm>
            <a:off x="1645920" y="1154111"/>
            <a:ext cx="425844" cy="425844"/>
          </a:xfrm>
          <a:prstGeom prst="rect">
            <a:avLst/>
          </a:prstGeom>
        </p:spPr>
      </p:pic>
      <p:sp>
        <p:nvSpPr>
          <p:cNvPr id="5" name="Text 2"/>
          <p:cNvSpPr/>
          <p:nvPr/>
        </p:nvSpPr>
        <p:spPr>
          <a:xfrm>
            <a:off x="2103120" y="1181538"/>
            <a:ext cx="5212080" cy="365760"/>
          </a:xfrm>
          <a:prstGeom prst="rect">
            <a:avLst/>
          </a:prstGeom>
          <a:noFill/>
          <a:ln/>
        </p:spPr>
        <p:txBody>
          <a:bodyPr wrap="square" rtlCol="0" anchor="ctr"/>
          <a:lstStyle/>
          <a:p>
            <a:pPr marL="0" indent="0">
              <a:buNone/>
            </a:pPr>
            <a:r>
              <a:rPr lang="en-US" sz="2000" b="1" dirty="0">
                <a:solidFill>
                  <a:srgbClr val="028090"/>
                </a:solidFill>
              </a:rPr>
              <a:t>Project Success</a:t>
            </a:r>
            <a:endParaRPr lang="en-US" sz="2000" dirty="0"/>
          </a:p>
        </p:txBody>
      </p:sp>
      <p:sp>
        <p:nvSpPr>
          <p:cNvPr id="6" name="Text 3"/>
          <p:cNvSpPr/>
          <p:nvPr/>
        </p:nvSpPr>
        <p:spPr>
          <a:xfrm>
            <a:off x="1587137" y="1795817"/>
            <a:ext cx="5910943" cy="731520"/>
          </a:xfrm>
          <a:prstGeom prst="rect">
            <a:avLst/>
          </a:prstGeom>
          <a:noFill/>
          <a:ln/>
        </p:spPr>
        <p:txBody>
          <a:bodyPr wrap="square" rtlCol="0" anchor="ctr"/>
          <a:lstStyle/>
          <a:p>
            <a:pPr marL="0" indent="0" algn="just">
              <a:lnSpc>
                <a:spcPts val="1800"/>
              </a:lnSpc>
              <a:buNone/>
            </a:pPr>
            <a:r>
              <a:rPr lang="en-US" sz="1300" dirty="0">
                <a:solidFill>
                  <a:srgbClr val="666666"/>
                </a:solidFill>
              </a:rPr>
              <a:t>Successfully developed a comprehensive online course recommendation system using multiple machine learning approaches and finalized one best model with the high accuracy . The system demonstrates strong performance in matching learners with relevant courses, significantly improving user experience and platform engagement.</a:t>
            </a:r>
            <a:endParaRPr lang="en-US" sz="1300" dirty="0"/>
          </a:p>
        </p:txBody>
      </p:sp>
      <p:sp>
        <p:nvSpPr>
          <p:cNvPr id="7" name="Shape 4"/>
          <p:cNvSpPr/>
          <p:nvPr/>
        </p:nvSpPr>
        <p:spPr>
          <a:xfrm>
            <a:off x="1645920" y="2841166"/>
            <a:ext cx="5852160" cy="27432"/>
          </a:xfrm>
          <a:prstGeom prst="rect">
            <a:avLst/>
          </a:prstGeom>
          <a:solidFill>
            <a:srgbClr val="02C39A"/>
          </a:solidFill>
          <a:ln/>
        </p:spPr>
      </p:sp>
      <p:sp>
        <p:nvSpPr>
          <p:cNvPr id="8" name="Shape 5"/>
          <p:cNvSpPr/>
          <p:nvPr/>
        </p:nvSpPr>
        <p:spPr>
          <a:xfrm>
            <a:off x="1737360" y="3044956"/>
            <a:ext cx="201168" cy="201168"/>
          </a:xfrm>
          <a:prstGeom prst="ellipse">
            <a:avLst/>
          </a:prstGeom>
          <a:solidFill>
            <a:srgbClr val="028090"/>
          </a:solidFill>
          <a:ln/>
        </p:spPr>
      </p:sp>
      <p:sp>
        <p:nvSpPr>
          <p:cNvPr id="9" name="Text 6"/>
          <p:cNvSpPr/>
          <p:nvPr/>
        </p:nvSpPr>
        <p:spPr>
          <a:xfrm>
            <a:off x="2011680" y="2999236"/>
            <a:ext cx="5394960" cy="292608"/>
          </a:xfrm>
          <a:prstGeom prst="rect">
            <a:avLst/>
          </a:prstGeom>
          <a:noFill/>
          <a:ln/>
        </p:spPr>
        <p:txBody>
          <a:bodyPr wrap="square" rtlCol="0" anchor="ctr"/>
          <a:lstStyle/>
          <a:p>
            <a:pPr marL="0" indent="0">
              <a:lnSpc>
                <a:spcPts val="1400"/>
              </a:lnSpc>
              <a:buNone/>
            </a:pPr>
            <a:r>
              <a:rPr lang="en-US" sz="1100" dirty="0">
                <a:solidFill>
                  <a:srgbClr val="2F3C7E"/>
                </a:solidFill>
              </a:rPr>
              <a:t>Multi-algorithm approach provides robust recommendations</a:t>
            </a:r>
            <a:endParaRPr lang="en-US" sz="1100" dirty="0"/>
          </a:p>
        </p:txBody>
      </p:sp>
      <p:sp>
        <p:nvSpPr>
          <p:cNvPr id="10" name="Shape 7"/>
          <p:cNvSpPr/>
          <p:nvPr/>
        </p:nvSpPr>
        <p:spPr>
          <a:xfrm>
            <a:off x="1737360" y="3364996"/>
            <a:ext cx="201168" cy="201168"/>
          </a:xfrm>
          <a:prstGeom prst="ellipse">
            <a:avLst/>
          </a:prstGeom>
          <a:solidFill>
            <a:srgbClr val="028090"/>
          </a:solidFill>
          <a:ln/>
        </p:spPr>
      </p:sp>
      <p:sp>
        <p:nvSpPr>
          <p:cNvPr id="11" name="Text 8"/>
          <p:cNvSpPr/>
          <p:nvPr/>
        </p:nvSpPr>
        <p:spPr>
          <a:xfrm>
            <a:off x="2011680" y="3319276"/>
            <a:ext cx="5394960" cy="292608"/>
          </a:xfrm>
          <a:prstGeom prst="rect">
            <a:avLst/>
          </a:prstGeom>
          <a:noFill/>
          <a:ln/>
        </p:spPr>
        <p:txBody>
          <a:bodyPr wrap="square" rtlCol="0" anchor="ctr"/>
          <a:lstStyle/>
          <a:p>
            <a:pPr marL="0" indent="0">
              <a:lnSpc>
                <a:spcPts val="1400"/>
              </a:lnSpc>
              <a:buNone/>
            </a:pPr>
            <a:r>
              <a:rPr lang="en-US" sz="1100" dirty="0">
                <a:solidFill>
                  <a:srgbClr val="2F3C7E"/>
                </a:solidFill>
              </a:rPr>
              <a:t>Data quality and feature engineering are critical success factors</a:t>
            </a:r>
            <a:endParaRPr lang="en-US" sz="1100" dirty="0"/>
          </a:p>
        </p:txBody>
      </p:sp>
      <p:sp>
        <p:nvSpPr>
          <p:cNvPr id="12" name="Shape 9"/>
          <p:cNvSpPr/>
          <p:nvPr/>
        </p:nvSpPr>
        <p:spPr>
          <a:xfrm>
            <a:off x="1737360" y="3685036"/>
            <a:ext cx="201168" cy="201168"/>
          </a:xfrm>
          <a:prstGeom prst="ellipse">
            <a:avLst/>
          </a:prstGeom>
          <a:solidFill>
            <a:srgbClr val="00A896"/>
          </a:solidFill>
          <a:ln/>
        </p:spPr>
      </p:sp>
      <p:sp>
        <p:nvSpPr>
          <p:cNvPr id="13" name="Text 10"/>
          <p:cNvSpPr/>
          <p:nvPr/>
        </p:nvSpPr>
        <p:spPr>
          <a:xfrm>
            <a:off x="2011680" y="3639316"/>
            <a:ext cx="5394960" cy="292608"/>
          </a:xfrm>
          <a:prstGeom prst="rect">
            <a:avLst/>
          </a:prstGeom>
          <a:noFill/>
          <a:ln/>
        </p:spPr>
        <p:txBody>
          <a:bodyPr wrap="square" rtlCol="0" anchor="ctr"/>
          <a:lstStyle/>
          <a:p>
            <a:pPr marL="0" indent="0">
              <a:lnSpc>
                <a:spcPts val="1400"/>
              </a:lnSpc>
              <a:buNone/>
            </a:pPr>
            <a:r>
              <a:rPr lang="en-US" sz="1100" dirty="0">
                <a:solidFill>
                  <a:srgbClr val="2F3C7E"/>
                </a:solidFill>
              </a:rPr>
              <a:t>Hybrid models outperform individual approaches</a:t>
            </a:r>
            <a:endParaRPr lang="en-US" sz="1100" dirty="0"/>
          </a:p>
        </p:txBody>
      </p:sp>
      <p:sp>
        <p:nvSpPr>
          <p:cNvPr id="14" name="Shape 11"/>
          <p:cNvSpPr/>
          <p:nvPr/>
        </p:nvSpPr>
        <p:spPr>
          <a:xfrm>
            <a:off x="1737360" y="4005076"/>
            <a:ext cx="201168" cy="201168"/>
          </a:xfrm>
          <a:prstGeom prst="ellipse">
            <a:avLst/>
          </a:prstGeom>
          <a:solidFill>
            <a:srgbClr val="00A896"/>
          </a:solidFill>
          <a:ln/>
        </p:spPr>
      </p:sp>
      <p:sp>
        <p:nvSpPr>
          <p:cNvPr id="15" name="Text 12"/>
          <p:cNvSpPr/>
          <p:nvPr/>
        </p:nvSpPr>
        <p:spPr>
          <a:xfrm>
            <a:off x="2011680" y="3959356"/>
            <a:ext cx="5394960" cy="292608"/>
          </a:xfrm>
          <a:prstGeom prst="rect">
            <a:avLst/>
          </a:prstGeom>
          <a:noFill/>
          <a:ln/>
        </p:spPr>
        <p:txBody>
          <a:bodyPr wrap="square" rtlCol="0" anchor="ctr"/>
          <a:lstStyle/>
          <a:p>
            <a:pPr marL="0" indent="0">
              <a:lnSpc>
                <a:spcPts val="1400"/>
              </a:lnSpc>
              <a:buNone/>
            </a:pPr>
            <a:r>
              <a:rPr lang="en-US" sz="1100" dirty="0">
                <a:solidFill>
                  <a:srgbClr val="2F3C7E"/>
                </a:solidFill>
              </a:rPr>
              <a:t>System is scalable and ready for production deployment</a:t>
            </a:r>
            <a:endParaRPr lang="en-US" sz="1100" dirty="0"/>
          </a:p>
        </p:txBody>
      </p:sp>
      <p:sp>
        <p:nvSpPr>
          <p:cNvPr id="16" name="Shape 13"/>
          <p:cNvSpPr/>
          <p:nvPr/>
        </p:nvSpPr>
        <p:spPr>
          <a:xfrm>
            <a:off x="1737360" y="4325116"/>
            <a:ext cx="201168" cy="201168"/>
          </a:xfrm>
          <a:prstGeom prst="ellipse">
            <a:avLst/>
          </a:prstGeom>
          <a:solidFill>
            <a:srgbClr val="02C39A"/>
          </a:solidFill>
          <a:ln/>
        </p:spPr>
      </p:sp>
      <p:sp>
        <p:nvSpPr>
          <p:cNvPr id="17" name="Text 14"/>
          <p:cNvSpPr/>
          <p:nvPr/>
        </p:nvSpPr>
        <p:spPr>
          <a:xfrm>
            <a:off x="2011680" y="4279396"/>
            <a:ext cx="5394960" cy="292608"/>
          </a:xfrm>
          <a:prstGeom prst="rect">
            <a:avLst/>
          </a:prstGeom>
          <a:noFill/>
          <a:ln/>
        </p:spPr>
        <p:txBody>
          <a:bodyPr wrap="square" rtlCol="0" anchor="ctr"/>
          <a:lstStyle/>
          <a:p>
            <a:pPr marL="0" indent="0">
              <a:lnSpc>
                <a:spcPts val="1400"/>
              </a:lnSpc>
              <a:buNone/>
            </a:pPr>
            <a:r>
              <a:rPr lang="en-US" sz="1100" dirty="0">
                <a:solidFill>
                  <a:srgbClr val="2F3C7E"/>
                </a:solidFill>
              </a:rPr>
              <a:t>Continuous improvement through user feedback is essential</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57200" y="1828800"/>
            <a:ext cx="8229600" cy="640080"/>
          </a:xfrm>
          <a:prstGeom prst="rect">
            <a:avLst/>
          </a:prstGeom>
          <a:noFill/>
          <a:ln/>
        </p:spPr>
        <p:txBody>
          <a:bodyPr wrap="square" rtlCol="0" anchor="ctr"/>
          <a:lstStyle/>
          <a:p>
            <a:pPr marL="0" indent="0" algn="ctr">
              <a:buNone/>
            </a:pPr>
            <a:r>
              <a:rPr lang="en-US" sz="8000" b="1" kern="0" spc="500" dirty="0">
                <a:solidFill>
                  <a:srgbClr val="FFFFFF"/>
                </a:solidFill>
              </a:rPr>
              <a:t>THANK YOU</a:t>
            </a:r>
            <a:endParaRPr lang="en-US" sz="8000" dirty="0"/>
          </a:p>
        </p:txBody>
      </p:sp>
      <p:sp>
        <p:nvSpPr>
          <p:cNvPr id="3" name="Shape 1"/>
          <p:cNvSpPr/>
          <p:nvPr/>
        </p:nvSpPr>
        <p:spPr>
          <a:xfrm>
            <a:off x="1750423" y="2810147"/>
            <a:ext cx="5538651" cy="271053"/>
          </a:xfrm>
          <a:custGeom>
            <a:avLst/>
            <a:gdLst>
              <a:gd name="csX0" fmla="*/ 0 w 5538651"/>
              <a:gd name="csY0" fmla="*/ 0 h 271053"/>
              <a:gd name="csX1" fmla="*/ 5538651 w 5538651"/>
              <a:gd name="csY1" fmla="*/ 0 h 271053"/>
              <a:gd name="csX2" fmla="*/ 5538651 w 5538651"/>
              <a:gd name="csY2" fmla="*/ 271053 h 271053"/>
              <a:gd name="csX3" fmla="*/ 0 w 5538651"/>
              <a:gd name="csY3" fmla="*/ 271053 h 271053"/>
              <a:gd name="csX4" fmla="*/ 0 w 5538651"/>
              <a:gd name="csY4" fmla="*/ 0 h 271053"/>
              <a:gd name="csX0" fmla="*/ 0 w 5538651"/>
              <a:gd name="csY0" fmla="*/ 0 h 271053"/>
              <a:gd name="csX1" fmla="*/ 5538651 w 5538651"/>
              <a:gd name="csY1" fmla="*/ 0 h 271053"/>
              <a:gd name="csX2" fmla="*/ 5538651 w 5538651"/>
              <a:gd name="csY2" fmla="*/ 271053 h 271053"/>
              <a:gd name="csX3" fmla="*/ 0 w 5538651"/>
              <a:gd name="csY3" fmla="*/ 271053 h 271053"/>
              <a:gd name="csX4" fmla="*/ 0 w 5538651"/>
              <a:gd name="csY4" fmla="*/ 0 h 271053"/>
            </a:gdLst>
            <a:ahLst/>
            <a:cxnLst>
              <a:cxn ang="0">
                <a:pos x="csX0" y="csY0"/>
              </a:cxn>
              <a:cxn ang="0">
                <a:pos x="csX1" y="csY1"/>
              </a:cxn>
              <a:cxn ang="0">
                <a:pos x="csX2" y="csY2"/>
              </a:cxn>
              <a:cxn ang="0">
                <a:pos x="csX3" y="csY3"/>
              </a:cxn>
              <a:cxn ang="0">
                <a:pos x="csX4" y="csY4"/>
              </a:cxn>
            </a:cxnLst>
            <a:rect l="l" t="t" r="r" b="b"/>
            <a:pathLst>
              <a:path w="5538651" h="271053">
                <a:moveTo>
                  <a:pt x="0" y="0"/>
                </a:moveTo>
                <a:lnTo>
                  <a:pt x="5538651" y="0"/>
                </a:lnTo>
                <a:lnTo>
                  <a:pt x="5538651" y="271053"/>
                </a:lnTo>
                <a:lnTo>
                  <a:pt x="0" y="271053"/>
                </a:lnTo>
                <a:lnTo>
                  <a:pt x="0" y="0"/>
                </a:lnTo>
                <a:close/>
              </a:path>
            </a:pathLst>
          </a:custGeom>
          <a:solidFill>
            <a:srgbClr val="02C39A"/>
          </a:solidFill>
          <a:ln/>
          <a:effectLst>
            <a:innerShdw blurRad="114300">
              <a:prstClr val="black"/>
            </a:innerShdw>
          </a:effectLst>
        </p:spPr>
        <p:txBody>
          <a:bodyPr/>
          <a:lstStyle/>
          <a:p>
            <a:pPr algn="ctr"/>
            <a:r>
              <a:rPr lang="en-IN" sz="1200" dirty="0">
                <a:latin typeface="Avenir Next LT Pro" panose="020B0504020202020204" pitchFamily="34" charset="0"/>
              </a:rPr>
              <a:t>https://recommednation-system-tpsknk3juvsm6apdkaknox.streamlit.app/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1101</TotalTime>
  <Words>1606</Words>
  <Application>Microsoft Office PowerPoint</Application>
  <PresentationFormat>On-screen Show (16:9)</PresentationFormat>
  <Paragraphs>301</Paragraphs>
  <Slides>25</Slides>
  <Notes>22</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25</vt:i4>
      </vt:variant>
    </vt:vector>
  </HeadingPairs>
  <TitlesOfParts>
    <vt:vector size="29" baseType="lpstr">
      <vt:lpstr>Arial</vt:lpstr>
      <vt:lpstr>Avenir Next LT Pro</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Course Recommendation System</dc:title>
  <dc:subject>PptxGenJS Presentation</dc:subject>
  <dc:creator>Course Recommendation Team</dc:creator>
  <cp:lastModifiedBy>Koushik Arnuri</cp:lastModifiedBy>
  <cp:revision>16</cp:revision>
  <dcterms:created xsi:type="dcterms:W3CDTF">2026-02-15T13:33:49Z</dcterms:created>
  <dcterms:modified xsi:type="dcterms:W3CDTF">2026-02-18T08:20:19Z</dcterms:modified>
</cp:coreProperties>
</file>